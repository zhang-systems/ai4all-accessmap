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71" r:id="rId11"/>
    <p:sldId id="265" r:id="rId12"/>
    <p:sldId id="272"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3"/>
                </a:solidFill>
                <a:latin typeface="Arial"/>
              </a:defRPr>
            </a:pPr>
            <a:r>
              <a:rPr lang="en-US" sz="1400" b="0" i="0" u="none" strike="noStrike">
                <a:solidFill>
                  <a:srgbClr val="1F2933"/>
                </a:solidFill>
                <a:latin typeface="Arial"/>
              </a:rPr>
              <a:t>Feature importance before the fix (%)</a:t>
            </a:r>
          </a:p>
        </c:rich>
      </c:tx>
      <c:overlay val="0"/>
    </c:title>
    <c:autoTitleDeleted val="0"/>
    <c:plotArea>
      <c:layout/>
      <c:barChart>
        <c:barDir val="bar"/>
        <c:grouping val="clustered"/>
        <c:varyColors val="0"/>
        <c:ser>
          <c:idx val="0"/>
          <c:order val="0"/>
          <c:tx>
            <c:strRef>
              <c:f>Sheet1!$B$1</c:f>
              <c:strCache>
                <c:ptCount val="1"/>
                <c:pt idx="0">
                  <c:v>Feature importance</c:v>
                </c:pt>
              </c:strCache>
            </c:strRef>
          </c:tx>
          <c:spPr>
            <a:solidFill>
              <a:srgbClr val="028090"/>
            </a:solidFill>
            <a:effectLst/>
          </c:spPr>
          <c:invertIfNegative val="0"/>
          <c:dLbls>
            <c:numFmt formatCode="0.0" sourceLinked="0"/>
            <c:spPr>
              <a:noFill/>
              <a:ln>
                <a:noFill/>
              </a:ln>
              <a:effectLst/>
            </c:spPr>
            <c:txPr>
              <a:bodyPr/>
              <a:lstStyle/>
              <a:p>
                <a:pPr>
                  <a:defRPr sz="120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state</c:v>
                </c:pt>
                <c:pt idx="1">
                  <c:v>all other features combined</c:v>
                </c:pt>
              </c:strCache>
            </c:strRef>
          </c:cat>
          <c:val>
            <c:numRef>
              <c:f>Sheet1!$B$2:$B$3</c:f>
              <c:numCache>
                <c:formatCode>General</c:formatCode>
                <c:ptCount val="2"/>
                <c:pt idx="0">
                  <c:v>89.5</c:v>
                </c:pt>
                <c:pt idx="1">
                  <c:v>10.5</c:v>
                </c:pt>
              </c:numCache>
            </c:numRef>
          </c:val>
          <c:extLst>
            <c:ext xmlns:c16="http://schemas.microsoft.com/office/drawing/2014/chart" uri="{C3380CC4-5D6E-409C-BE32-E72D297353CC}">
              <c16:uniqueId val="{00000000-2D44-454B-9538-6BB09815DA5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b"/>
        <c:majorGridlines>
          <c:spPr>
            <a:ln w="12700" cap="flat">
              <a:solidFill>
                <a:srgbClr val="E1E8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3"/>
                </a:solidFill>
                <a:latin typeface="Arial"/>
              </a:defRPr>
            </a:pPr>
            <a:r>
              <a:rPr lang="en-US" sz="1400" b="0" i="0" u="none" strike="noStrike">
                <a:solidFill>
                  <a:srgbClr val="1F2933"/>
                </a:solidFill>
                <a:latin typeface="Arial"/>
              </a:rPr>
              <a:t>Accuracy vs. majority-class baseline (%)</a:t>
            </a:r>
          </a:p>
        </c:rich>
      </c:tx>
      <c:overlay val="0"/>
    </c:title>
    <c:autoTitleDeleted val="0"/>
    <c:plotArea>
      <c:layout/>
      <c:barChart>
        <c:barDir val="col"/>
        <c:grouping val="clustered"/>
        <c:varyColors val="0"/>
        <c:ser>
          <c:idx val="0"/>
          <c:order val="0"/>
          <c:tx>
            <c:strRef>
              <c:f>Sheet1!$B$1</c:f>
              <c:strCache>
                <c:ptCount val="1"/>
                <c:pt idx="0">
                  <c:v>Model accuracy</c:v>
                </c:pt>
              </c:strCache>
            </c:strRef>
          </c:tx>
          <c:spPr>
            <a:solidFill>
              <a:srgbClr val="028090"/>
            </a:solidFill>
            <a:effectLst/>
          </c:spPr>
          <c:invertIfNegative val="0"/>
          <c:dLbls>
            <c:numFmt formatCode="0.0" sourceLinked="0"/>
            <c:spPr>
              <a:noFill/>
              <a:ln>
                <a:noFill/>
              </a:ln>
              <a:effectLst/>
            </c:spPr>
            <c:txPr>
              <a:bodyPr/>
              <a:lstStyle/>
              <a:p>
                <a:pPr>
                  <a:defRPr sz="100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Housing
(with state)</c:v>
                </c:pt>
                <c:pt idx="1">
                  <c:v>Housing
(state removed)</c:v>
                </c:pt>
                <c:pt idx="2">
                  <c:v>PMR
(4 features)</c:v>
                </c:pt>
                <c:pt idx="3">
                  <c:v>PMR
(+ curb height)</c:v>
                </c:pt>
              </c:strCache>
            </c:strRef>
          </c:cat>
          <c:val>
            <c:numRef>
              <c:f>Sheet1!$B$2:$B$5</c:f>
              <c:numCache>
                <c:formatCode>General</c:formatCode>
                <c:ptCount val="4"/>
                <c:pt idx="0">
                  <c:v>67.400000000000006</c:v>
                </c:pt>
                <c:pt idx="1">
                  <c:v>85</c:v>
                </c:pt>
                <c:pt idx="2">
                  <c:v>84.2</c:v>
                </c:pt>
                <c:pt idx="3">
                  <c:v>100</c:v>
                </c:pt>
              </c:numCache>
            </c:numRef>
          </c:val>
          <c:extLst>
            <c:ext xmlns:c16="http://schemas.microsoft.com/office/drawing/2014/chart" uri="{C3380CC4-5D6E-409C-BE32-E72D297353CC}">
              <c16:uniqueId val="{00000000-A965-4DA4-A27B-A662F912083F}"/>
            </c:ext>
          </c:extLst>
        </c:ser>
        <c:ser>
          <c:idx val="1"/>
          <c:order val="1"/>
          <c:tx>
            <c:strRef>
              <c:f>Sheet1!$C$1</c:f>
              <c:strCache>
                <c:ptCount val="1"/>
                <c:pt idx="0">
                  <c:v>Majority baseline</c:v>
                </c:pt>
              </c:strCache>
            </c:strRef>
          </c:tx>
          <c:spPr>
            <a:solidFill>
              <a:srgbClr val="B8C4C2"/>
            </a:solidFill>
            <a:effectLst/>
          </c:spPr>
          <c:invertIfNegative val="0"/>
          <c:dLbls>
            <c:numFmt formatCode="0.0" sourceLinked="0"/>
            <c:spPr>
              <a:noFill/>
              <a:ln>
                <a:noFill/>
              </a:ln>
              <a:effectLst/>
            </c:spPr>
            <c:txPr>
              <a:bodyPr/>
              <a:lstStyle/>
              <a:p>
                <a:pPr>
                  <a:defRPr sz="100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Housing
(with state)</c:v>
                </c:pt>
                <c:pt idx="1">
                  <c:v>Housing
(state removed)</c:v>
                </c:pt>
                <c:pt idx="2">
                  <c:v>PMR
(4 features)</c:v>
                </c:pt>
                <c:pt idx="3">
                  <c:v>PMR
(+ curb height)</c:v>
                </c:pt>
              </c:strCache>
            </c:strRef>
          </c:cat>
          <c:val>
            <c:numRef>
              <c:f>Sheet1!$C$2:$C$5</c:f>
              <c:numCache>
                <c:formatCode>General</c:formatCode>
                <c:ptCount val="4"/>
                <c:pt idx="0">
                  <c:v>85.3</c:v>
                </c:pt>
                <c:pt idx="1">
                  <c:v>85.3</c:v>
                </c:pt>
                <c:pt idx="2">
                  <c:v>80.8</c:v>
                </c:pt>
                <c:pt idx="3">
                  <c:v>80.8</c:v>
                </c:pt>
              </c:numCache>
            </c:numRef>
          </c:val>
          <c:extLst>
            <c:ext xmlns:c16="http://schemas.microsoft.com/office/drawing/2014/chart" uri="{C3380CC4-5D6E-409C-BE32-E72D297353CC}">
              <c16:uniqueId val="{00000001-A965-4DA4-A27B-A662F912083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12700" cap="flat">
              <a:solidFill>
                <a:srgbClr val="E1E8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3"/>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3"/>
                </a:solidFill>
                <a:latin typeface="Arial"/>
              </a:defRPr>
            </a:pPr>
            <a:r>
              <a:rPr lang="en-US" sz="1400" b="0" i="0" u="none" strike="noStrike">
                <a:solidFill>
                  <a:srgbClr val="1F2933"/>
                </a:solidFill>
                <a:latin typeface="Arial"/>
              </a:rPr>
              <a:t>PMR feature importance after the fix (%)</a:t>
            </a:r>
          </a:p>
        </c:rich>
      </c:tx>
      <c:overlay val="0"/>
    </c:title>
    <c:autoTitleDeleted val="0"/>
    <c:plotArea>
      <c:layout/>
      <c:barChart>
        <c:barDir val="bar"/>
        <c:grouping val="clustered"/>
        <c:varyColors val="0"/>
        <c:ser>
          <c:idx val="0"/>
          <c:order val="0"/>
          <c:tx>
            <c:strRef>
              <c:f>Sheet1!$B$1</c:f>
              <c:strCache>
                <c:ptCount val="1"/>
                <c:pt idx="0">
                  <c:v>PMR feature importance</c:v>
                </c:pt>
              </c:strCache>
            </c:strRef>
          </c:tx>
          <c:spPr>
            <a:solidFill>
              <a:srgbClr val="00A896"/>
            </a:solidFill>
            <a:effectLst/>
          </c:spPr>
          <c:invertIfNegative val="0"/>
          <c:dLbls>
            <c:numFmt formatCode="0.0" sourceLinked="0"/>
            <c:spPr>
              <a:noFill/>
              <a:ln>
                <a:noFill/>
              </a:ln>
              <a:effectLst/>
            </c:spPr>
            <c:txPr>
              <a:bodyPr/>
              <a:lstStyle/>
              <a:p>
                <a:pPr>
                  <a:defRPr sz="110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length</c:v>
                </c:pt>
                <c:pt idx="1">
                  <c:v>crossing</c:v>
                </c:pt>
                <c:pt idx="2">
                  <c:v>width_fill</c:v>
                </c:pt>
                <c:pt idx="3">
                  <c:v>curb_missing</c:v>
                </c:pt>
                <c:pt idx="4">
                  <c:v>curb_height_max</c:v>
                </c:pt>
                <c:pt idx="5">
                  <c:v>width</c:v>
                </c:pt>
              </c:strCache>
            </c:strRef>
          </c:cat>
          <c:val>
            <c:numRef>
              <c:f>Sheet1!$B$2:$B$7</c:f>
              <c:numCache>
                <c:formatCode>General</c:formatCode>
                <c:ptCount val="6"/>
                <c:pt idx="0">
                  <c:v>2.6</c:v>
                </c:pt>
                <c:pt idx="1">
                  <c:v>3.5</c:v>
                </c:pt>
                <c:pt idx="2">
                  <c:v>5.3</c:v>
                </c:pt>
                <c:pt idx="3">
                  <c:v>8.6</c:v>
                </c:pt>
                <c:pt idx="4">
                  <c:v>37.6</c:v>
                </c:pt>
                <c:pt idx="5">
                  <c:v>42.4</c:v>
                </c:pt>
              </c:numCache>
            </c:numRef>
          </c:val>
          <c:extLst>
            <c:ext xmlns:c16="http://schemas.microsoft.com/office/drawing/2014/chart" uri="{C3380CC4-5D6E-409C-BE32-E72D297353CC}">
              <c16:uniqueId val="{00000000-5F98-4271-9099-205B41671FD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1E8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6808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30 seconds. Names, one-line pitch: we tested whether data can predict sidewalk accessibility, and we deployed a live 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The pain point, then the research question. Keep it human: a wrong route can end someone's trip.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Two angles on the same question: physical measurements vs what people see in photos. Emphasize: pipelines stay separate.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Hit rubric items exactly: name, type (supervised), inputs, outputs, pros AND cons. Mention feature importance is what exposed the bias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Set up the arc: four versions, each driven by a problem the previous one exposed.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Data viz #1. The chart makes the imbalance obvious: one feature is doing all the work, and it's a geographic proxy.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Data viz #2. Walk the four bars: Housing looks 'fixed' (67 to 85) but it's just the majority rate. State wasn't only bias - it was the only signal.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The failed attempt IS the content: we diagnosed before re-fixing. 14 of 14,455 is the key stat.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Data viz #3. Perfect accuracy should raise questions: the top two bars are the label's own inputs. We say 'the model recovers our rule,' never 'we achieved 100%.'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Switch to the live app here. Test case to run live: width 0.5 -&gt; not accessible. Then one address search. Backup: screenshots if wifi fails.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Rubric wants BOTH sides. The negative side is concrete because we lived it: our own model was the cautionary tale.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This is the rubric's highest-weight answer. Key line: the same process that created the bias gave us the tools to catch it - if we chose to look.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Measurable, dated next steps (rubric 5/5). The rule-free experiment is the headline: it's the one place the model could show genuine skill.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15 seconds. Thank the audience, point at the QR/live link, invite them to try the app during Q&amp;A.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Invite them to open the live app on their own device during Q&amp;A.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A42"/>
        </a:solidFill>
        <a:effectLst/>
      </p:bgPr>
    </p:bg>
    <p:spTree>
      <p:nvGrpSpPr>
        <p:cNvPr id="1" name=""/>
        <p:cNvGrpSpPr/>
        <p:nvPr/>
      </p:nvGrpSpPr>
      <p:grpSpPr>
        <a:xfrm>
          <a:off x="0" y="0"/>
          <a:ext cx="0" cy="0"/>
          <a:chOff x="0" y="0"/>
          <a:chExt cx="0" cy="0"/>
        </a:xfrm>
      </p:grpSpPr>
      <p:sp>
        <p:nvSpPr>
          <p:cNvPr id="2" name="Shape 0"/>
          <p:cNvSpPr/>
          <p:nvPr/>
        </p:nvSpPr>
        <p:spPr>
          <a:xfrm>
            <a:off x="640080" y="640080"/>
            <a:ext cx="914400" cy="914400"/>
          </a:xfrm>
          <a:prstGeom prst="ellipse">
            <a:avLst/>
          </a:prstGeom>
          <a:solidFill>
            <a:srgbClr val="028090"/>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859536" y="859536"/>
            <a:ext cx="475488" cy="475488"/>
          </a:xfrm>
          <a:prstGeom prst="rect">
            <a:avLst/>
          </a:prstGeom>
        </p:spPr>
      </p:pic>
      <p:sp>
        <p:nvSpPr>
          <p:cNvPr id="4" name="Text 1"/>
          <p:cNvSpPr/>
          <p:nvPr/>
        </p:nvSpPr>
        <p:spPr>
          <a:xfrm>
            <a:off x="640080" y="1828800"/>
            <a:ext cx="10881360" cy="109728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AccessMap</a:t>
            </a:r>
            <a:endParaRPr lang="en-US" sz="5400" dirty="0"/>
          </a:p>
        </p:txBody>
      </p:sp>
      <p:sp>
        <p:nvSpPr>
          <p:cNvPr id="5" name="Text 2"/>
          <p:cNvSpPr/>
          <p:nvPr/>
        </p:nvSpPr>
        <p:spPr>
          <a:xfrm>
            <a:off x="640080" y="2880360"/>
            <a:ext cx="10881360" cy="640080"/>
          </a:xfrm>
          <a:prstGeom prst="rect">
            <a:avLst/>
          </a:prstGeom>
          <a:noFill/>
          <a:ln/>
        </p:spPr>
        <p:txBody>
          <a:bodyPr wrap="square" rtlCol="0" anchor="ctr"/>
          <a:lstStyle/>
          <a:p>
            <a:pPr marL="0" indent="0">
              <a:buNone/>
            </a:pPr>
            <a:r>
              <a:rPr lang="en-US" sz="2400" i="1" dirty="0">
                <a:solidFill>
                  <a:srgbClr val="02C39A"/>
                </a:solidFill>
                <a:latin typeface="Calibri" pitchFamily="34" charset="0"/>
                <a:ea typeface="Calibri" pitchFamily="34" charset="-122"/>
                <a:cs typeface="Calibri" pitchFamily="34" charset="-120"/>
              </a:rPr>
              <a:t>Can data predict which sidewalks </a:t>
            </a:r>
          </a:p>
          <a:p>
            <a:pPr marL="0" indent="0">
              <a:buNone/>
            </a:pPr>
            <a:r>
              <a:rPr lang="en-US" sz="2400" i="1" dirty="0">
                <a:solidFill>
                  <a:srgbClr val="02C39A"/>
                </a:solidFill>
                <a:latin typeface="Calibri" pitchFamily="34" charset="0"/>
                <a:ea typeface="Calibri" pitchFamily="34" charset="-122"/>
                <a:cs typeface="Calibri" pitchFamily="34" charset="-120"/>
              </a:rPr>
              <a:t>are accessible?</a:t>
            </a:r>
            <a:endParaRPr lang="en-US" sz="2400" dirty="0"/>
          </a:p>
        </p:txBody>
      </p:sp>
      <p:sp>
        <p:nvSpPr>
          <p:cNvPr id="6" name="Text 3"/>
          <p:cNvSpPr/>
          <p:nvPr/>
        </p:nvSpPr>
        <p:spPr>
          <a:xfrm>
            <a:off x="640080" y="3977640"/>
            <a:ext cx="4330505" cy="457200"/>
          </a:xfrm>
          <a:prstGeom prst="rect">
            <a:avLst/>
          </a:prstGeom>
          <a:noFill/>
          <a:ln/>
        </p:spPr>
        <p:txBody>
          <a:bodyPr wrap="square" rtlCol="0" anchor="ctr"/>
          <a:lstStyle/>
          <a:p>
            <a:pPr marL="0" indent="0">
              <a:buNone/>
            </a:pPr>
            <a:r>
              <a:rPr lang="en-US" sz="1800" dirty="0">
                <a:solidFill>
                  <a:srgbClr val="CADCDC"/>
                </a:solidFill>
                <a:latin typeface="Calibri" pitchFamily="34" charset="0"/>
                <a:ea typeface="Calibri" pitchFamily="34" charset="-122"/>
                <a:cs typeface="Calibri" pitchFamily="34" charset="-120"/>
              </a:rPr>
              <a:t>Group 13A  ·  AI4ALL Ignite Summer 2026</a:t>
            </a:r>
            <a:endParaRPr lang="en-US" sz="1800" dirty="0"/>
          </a:p>
        </p:txBody>
      </p:sp>
      <p:sp>
        <p:nvSpPr>
          <p:cNvPr id="7" name="Text 4"/>
          <p:cNvSpPr/>
          <p:nvPr/>
        </p:nvSpPr>
        <p:spPr>
          <a:xfrm>
            <a:off x="593188" y="4768947"/>
            <a:ext cx="4647027" cy="858130"/>
          </a:xfrm>
          <a:prstGeom prst="rect">
            <a:avLst/>
          </a:prstGeom>
          <a:noFill/>
          <a:ln/>
        </p:spPr>
        <p:txBody>
          <a:bodyPr wrap="square" rtlCol="0" anchor="ctr"/>
          <a:lstStyle/>
          <a:p>
            <a:r>
              <a:rPr lang="en-US" sz="1500" dirty="0">
                <a:solidFill>
                  <a:srgbClr val="9FB8B6"/>
                </a:solidFill>
                <a:latin typeface="Calibri" pitchFamily="34" charset="0"/>
                <a:ea typeface="Calibri" pitchFamily="34" charset="-122"/>
                <a:cs typeface="Calibri" pitchFamily="34" charset="-120"/>
              </a:rPr>
              <a:t>· Zheng Zhang · Zaina Nadeem </a:t>
            </a:r>
          </a:p>
          <a:p>
            <a:pPr marL="0" indent="0">
              <a:buNone/>
            </a:pPr>
            <a:r>
              <a:rPr lang="en-US" sz="1500" dirty="0">
                <a:solidFill>
                  <a:srgbClr val="9FB8B6"/>
                </a:solidFill>
                <a:latin typeface="Calibri" pitchFamily="34" charset="0"/>
                <a:ea typeface="Calibri" pitchFamily="34" charset="-122"/>
                <a:cs typeface="Calibri" pitchFamily="34" charset="-120"/>
              </a:rPr>
              <a:t>· Laxmi Pesara · Gavino Vargas </a:t>
            </a:r>
          </a:p>
          <a:p>
            <a:pPr marL="0" indent="0">
              <a:buNone/>
            </a:pPr>
            <a:r>
              <a:rPr lang="en-US" sz="1500" dirty="0">
                <a:solidFill>
                  <a:srgbClr val="9FB8B6"/>
                </a:solidFill>
                <a:latin typeface="Calibri" pitchFamily="34" charset="0"/>
                <a:ea typeface="Calibri" pitchFamily="34" charset="-122"/>
                <a:cs typeface="Calibri" pitchFamily="34" charset="-120"/>
              </a:rPr>
              <a:t>· Ashton Moraes · Amen Bush</a:t>
            </a:r>
            <a:endParaRPr lang="en-US" sz="1500" dirty="0"/>
          </a:p>
        </p:txBody>
      </p:sp>
      <p:sp>
        <p:nvSpPr>
          <p:cNvPr id="8" name="Text 5"/>
          <p:cNvSpPr/>
          <p:nvPr/>
        </p:nvSpPr>
        <p:spPr>
          <a:xfrm>
            <a:off x="640080" y="5760720"/>
            <a:ext cx="10972800" cy="457200"/>
          </a:xfrm>
          <a:prstGeom prst="rect">
            <a:avLst/>
          </a:prstGeom>
          <a:noFill/>
          <a:ln/>
        </p:spPr>
        <p:txBody>
          <a:bodyPr wrap="square" rtlCol="0" anchor="ctr"/>
          <a:lstStyle/>
          <a:p>
            <a:pPr marL="0" indent="0">
              <a:buNone/>
            </a:pPr>
            <a:r>
              <a:rPr lang="en-US" sz="1500" dirty="0">
                <a:solidFill>
                  <a:srgbClr val="9FB8B6"/>
                </a:solidFill>
                <a:latin typeface="Calibri" pitchFamily="34" charset="0"/>
                <a:ea typeface="Calibri" pitchFamily="34" charset="-122"/>
                <a:cs typeface="Calibri" pitchFamily="34" charset="-120"/>
              </a:rPr>
              <a:t>Live demo:  </a:t>
            </a:r>
            <a:r>
              <a:rPr lang="en-US" sz="1500" b="1" dirty="0">
                <a:solidFill>
                  <a:srgbClr val="02C39A"/>
                </a:solidFill>
                <a:latin typeface="Calibri" pitchFamily="34" charset="0"/>
                <a:ea typeface="Calibri" pitchFamily="34" charset="-122"/>
                <a:cs typeface="Calibri" pitchFamily="34" charset="-120"/>
              </a:rPr>
              <a:t>accessmap-13a.streamlit.app</a:t>
            </a:r>
            <a:endParaRPr lang="en-US" sz="1500" dirty="0"/>
          </a:p>
        </p:txBody>
      </p:sp>
      <p:pic>
        <p:nvPicPr>
          <p:cNvPr id="12" name="Picture 11">
            <a:extLst>
              <a:ext uri="{FF2B5EF4-FFF2-40B4-BE49-F238E27FC236}">
                <a16:creationId xmlns:a16="http://schemas.microsoft.com/office/drawing/2014/main" id="{94B9FFEE-A18A-C0B7-39ED-AD347BD759F4}"/>
              </a:ext>
            </a:extLst>
          </p:cNvPr>
          <p:cNvPicPr>
            <a:picLocks noChangeAspect="1"/>
          </p:cNvPicPr>
          <p:nvPr/>
        </p:nvPicPr>
        <p:blipFill>
          <a:blip r:embed="rId4"/>
          <a:stretch>
            <a:fillRect/>
          </a:stretch>
        </p:blipFill>
        <p:spPr>
          <a:xfrm>
            <a:off x="5785338" y="0"/>
            <a:ext cx="6353908"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731520"/>
          </a:xfrm>
          <a:prstGeom prst="rect">
            <a:avLst/>
          </a:prstGeom>
          <a:noFill/>
          <a:ln/>
        </p:spPr>
        <p:txBody>
          <a:bodyPr wrap="square"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The Problem</a:t>
            </a:r>
            <a:endParaRPr lang="en-US" sz="4000" dirty="0"/>
          </a:p>
        </p:txBody>
      </p:sp>
      <p:sp>
        <p:nvSpPr>
          <p:cNvPr id="3" name="Text 1"/>
          <p:cNvSpPr/>
          <p:nvPr/>
        </p:nvSpPr>
        <p:spPr>
          <a:xfrm>
            <a:off x="640080" y="1463040"/>
            <a:ext cx="5852160" cy="3291840"/>
          </a:xfrm>
          <a:prstGeom prst="rect">
            <a:avLst/>
          </a:prstGeom>
          <a:noFill/>
          <a:ln/>
        </p:spPr>
        <p:txBody>
          <a:bodyPr wrap="square" rtlCol="0" anchor="ctr"/>
          <a:lstStyle/>
          <a:p>
            <a:pPr marL="0" indent="0">
              <a:lnSpc>
                <a:spcPct val="115000"/>
              </a:lnSpc>
              <a:buNone/>
            </a:pPr>
            <a:r>
              <a:rPr lang="en-US" sz="1700" dirty="0">
                <a:solidFill>
                  <a:srgbClr val="1F2933"/>
                </a:solidFill>
                <a:latin typeface="Calibri" pitchFamily="34" charset="0"/>
                <a:ea typeface="Calibri" pitchFamily="34" charset="-122"/>
                <a:cs typeface="Calibri" pitchFamily="34" charset="-120"/>
              </a:rPr>
              <a:t>Wheelchair users can't tell if a sidewalk is passable before they get there.</a:t>
            </a:r>
            <a:endParaRPr lang="en-US" sz="1700" dirty="0"/>
          </a:p>
          <a:p>
            <a:pPr marL="0" indent="0">
              <a:lnSpc>
                <a:spcPct val="115000"/>
              </a:lnSpc>
              <a:buNone/>
            </a:pPr>
            <a:endParaRPr lang="en-US" sz="1700" dirty="0"/>
          </a:p>
          <a:p>
            <a:pPr marL="0" indent="0">
              <a:lnSpc>
                <a:spcPct val="115000"/>
              </a:lnSpc>
              <a:buNone/>
            </a:pPr>
            <a:r>
              <a:rPr lang="en-US" sz="1700" dirty="0">
                <a:solidFill>
                  <a:srgbClr val="1F2933"/>
                </a:solidFill>
                <a:latin typeface="Calibri" pitchFamily="34" charset="0"/>
                <a:ea typeface="Calibri" pitchFamily="34" charset="-122"/>
                <a:cs typeface="Calibri" pitchFamily="34" charset="-120"/>
              </a:rPr>
              <a:t>Too narrow, curb too high — they find out on the spot. A wrong route isn't an inconvenience; it can end a trip.</a:t>
            </a:r>
            <a:endParaRPr lang="en-US" sz="1700" dirty="0"/>
          </a:p>
          <a:p>
            <a:pPr marL="0" indent="0">
              <a:lnSpc>
                <a:spcPct val="115000"/>
              </a:lnSpc>
              <a:buNone/>
            </a:pPr>
            <a:endParaRPr lang="en-US" sz="1700" dirty="0"/>
          </a:p>
          <a:p>
            <a:pPr marL="0" indent="0">
              <a:lnSpc>
                <a:spcPct val="115000"/>
              </a:lnSpc>
              <a:buNone/>
            </a:pPr>
            <a:r>
              <a:rPr lang="en-US" sz="1700" dirty="0">
                <a:solidFill>
                  <a:srgbClr val="1F2933"/>
                </a:solidFill>
                <a:latin typeface="Calibri" pitchFamily="34" charset="0"/>
                <a:ea typeface="Calibri" pitchFamily="34" charset="-122"/>
                <a:cs typeface="Calibri" pitchFamily="34" charset="-120"/>
              </a:rPr>
              <a:t>Maps show that a road exists. They don't show whether a wheelchair can use it.</a:t>
            </a:r>
            <a:endParaRPr lang="en-US" sz="1700" dirty="0"/>
          </a:p>
        </p:txBody>
      </p:sp>
      <p:sp>
        <p:nvSpPr>
          <p:cNvPr id="4" name="Shape 2"/>
          <p:cNvSpPr/>
          <p:nvPr/>
        </p:nvSpPr>
        <p:spPr>
          <a:xfrm>
            <a:off x="640080" y="4937760"/>
            <a:ext cx="5852160" cy="1371600"/>
          </a:xfrm>
          <a:prstGeom prst="roundRect">
            <a:avLst>
              <a:gd name="adj" fmla="val 8000"/>
            </a:avLst>
          </a:prstGeom>
          <a:solidFill>
            <a:srgbClr val="F4FAF9"/>
          </a:solidFill>
          <a:ln/>
        </p:spPr>
        <p:txBody>
          <a:bodyPr/>
          <a:lstStyle/>
          <a:p>
            <a:endParaRPr lang="en-US"/>
          </a:p>
        </p:txBody>
      </p:sp>
      <p:sp>
        <p:nvSpPr>
          <p:cNvPr id="5" name="Text 3"/>
          <p:cNvSpPr/>
          <p:nvPr/>
        </p:nvSpPr>
        <p:spPr>
          <a:xfrm>
            <a:off x="914400" y="5074920"/>
            <a:ext cx="5394960" cy="1097280"/>
          </a:xfrm>
          <a:prstGeom prst="rect">
            <a:avLst/>
          </a:prstGeom>
          <a:noFill/>
          <a:ln/>
        </p:spPr>
        <p:txBody>
          <a:bodyPr wrap="square" rtlCol="0" anchor="ctr"/>
          <a:lstStyle/>
          <a:p>
            <a:pPr marL="0" indent="0">
              <a:buNone/>
            </a:pPr>
            <a:r>
              <a:rPr lang="en-US" sz="1700" b="1" dirty="0">
                <a:solidFill>
                  <a:srgbClr val="028090"/>
                </a:solidFill>
                <a:latin typeface="Calibri" pitchFamily="34" charset="0"/>
                <a:ea typeface="Calibri" pitchFamily="34" charset="-122"/>
                <a:cs typeface="Calibri" pitchFamily="34" charset="-120"/>
              </a:rPr>
              <a:t>Research question:  </a:t>
            </a:r>
            <a:r>
              <a:rPr lang="en-US" sz="1700" dirty="0">
                <a:solidFill>
                  <a:srgbClr val="1F2933"/>
                </a:solidFill>
                <a:latin typeface="Calibri" pitchFamily="34" charset="0"/>
                <a:ea typeface="Calibri" pitchFamily="34" charset="-122"/>
                <a:cs typeface="Calibri" pitchFamily="34" charset="-120"/>
              </a:rPr>
              <a:t>Can data predict which sidewalks are accessible for wheelchair users?</a:t>
            </a:r>
            <a:endParaRPr lang="en-US" sz="1700" dirty="0"/>
          </a:p>
        </p:txBody>
      </p:sp>
      <p:sp>
        <p:nvSpPr>
          <p:cNvPr id="6" name="Shape 4"/>
          <p:cNvSpPr/>
          <p:nvPr/>
        </p:nvSpPr>
        <p:spPr>
          <a:xfrm>
            <a:off x="7040880" y="1463040"/>
            <a:ext cx="4572000" cy="4846320"/>
          </a:xfrm>
          <a:prstGeom prst="roundRect">
            <a:avLst>
              <a:gd name="adj" fmla="val 2400"/>
            </a:avLst>
          </a:prstGeom>
          <a:solidFill>
            <a:srgbClr val="0A3A42"/>
          </a:solidFill>
          <a:ln/>
        </p:spPr>
        <p:txBody>
          <a:bodyPr/>
          <a:lstStyle/>
          <a:p>
            <a:endParaRPr lang="en-US"/>
          </a:p>
        </p:txBody>
      </p:sp>
      <p:sp>
        <p:nvSpPr>
          <p:cNvPr id="7" name="Text 5"/>
          <p:cNvSpPr/>
          <p:nvPr/>
        </p:nvSpPr>
        <p:spPr>
          <a:xfrm>
            <a:off x="7406640" y="1737360"/>
            <a:ext cx="3840480" cy="4572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Why it matters</a:t>
            </a:r>
            <a:endParaRPr lang="en-US" sz="2000" dirty="0"/>
          </a:p>
        </p:txBody>
      </p:sp>
      <p:sp>
        <p:nvSpPr>
          <p:cNvPr id="8" name="Shape 6"/>
          <p:cNvSpPr/>
          <p:nvPr/>
        </p:nvSpPr>
        <p:spPr>
          <a:xfrm>
            <a:off x="7406640" y="2377440"/>
            <a:ext cx="566928" cy="566928"/>
          </a:xfrm>
          <a:prstGeom prst="ellipse">
            <a:avLst/>
          </a:prstGeom>
          <a:solidFill>
            <a:srgbClr val="028090"/>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7542703" y="2513503"/>
            <a:ext cx="294803" cy="294803"/>
          </a:xfrm>
          <a:prstGeom prst="rect">
            <a:avLst/>
          </a:prstGeom>
        </p:spPr>
      </p:pic>
      <p:sp>
        <p:nvSpPr>
          <p:cNvPr id="10" name="Text 7"/>
          <p:cNvSpPr/>
          <p:nvPr/>
        </p:nvSpPr>
        <p:spPr>
          <a:xfrm>
            <a:off x="8183880" y="2267712"/>
            <a:ext cx="3246120" cy="1097280"/>
          </a:xfrm>
          <a:prstGeom prst="rect">
            <a:avLst/>
          </a:prstGeom>
          <a:noFill/>
          <a:ln/>
        </p:spPr>
        <p:txBody>
          <a:bodyPr wrap="square" rtlCol="0" anchor="t"/>
          <a:lstStyle/>
          <a:p>
            <a:pPr marL="0" indent="0">
              <a:buNone/>
            </a:pPr>
            <a:r>
              <a:rPr lang="en-US" sz="1450" dirty="0">
                <a:solidFill>
                  <a:srgbClr val="E6F2F1"/>
                </a:solidFill>
                <a:latin typeface="Calibri" pitchFamily="34" charset="0"/>
                <a:ea typeface="Calibri" pitchFamily="34" charset="-122"/>
                <a:cs typeface="Calibri" pitchFamily="34" charset="-120"/>
              </a:rPr>
              <a:t>Wheelchair users, caregivers, seniors plan routes with confidence</a:t>
            </a:r>
            <a:endParaRPr lang="en-US" sz="1450" dirty="0"/>
          </a:p>
        </p:txBody>
      </p:sp>
      <p:sp>
        <p:nvSpPr>
          <p:cNvPr id="11" name="Shape 8"/>
          <p:cNvSpPr/>
          <p:nvPr/>
        </p:nvSpPr>
        <p:spPr>
          <a:xfrm>
            <a:off x="7406640" y="3703320"/>
            <a:ext cx="566928" cy="566928"/>
          </a:xfrm>
          <a:prstGeom prst="ellipse">
            <a:avLst/>
          </a:prstGeom>
          <a:solidFill>
            <a:srgbClr val="028090"/>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7542703" y="3839383"/>
            <a:ext cx="294803" cy="294803"/>
          </a:xfrm>
          <a:prstGeom prst="rect">
            <a:avLst/>
          </a:prstGeom>
        </p:spPr>
      </p:pic>
      <p:sp>
        <p:nvSpPr>
          <p:cNvPr id="13" name="Text 9"/>
          <p:cNvSpPr/>
          <p:nvPr/>
        </p:nvSpPr>
        <p:spPr>
          <a:xfrm>
            <a:off x="8183880" y="3593592"/>
            <a:ext cx="3246120" cy="1097280"/>
          </a:xfrm>
          <a:prstGeom prst="rect">
            <a:avLst/>
          </a:prstGeom>
          <a:noFill/>
          <a:ln/>
        </p:spPr>
        <p:txBody>
          <a:bodyPr wrap="square" rtlCol="0" anchor="t"/>
          <a:lstStyle/>
          <a:p>
            <a:pPr marL="0" indent="0">
              <a:buNone/>
            </a:pPr>
            <a:r>
              <a:rPr lang="en-US" sz="1450" dirty="0">
                <a:solidFill>
                  <a:srgbClr val="E6F2F1"/>
                </a:solidFill>
                <a:latin typeface="Calibri" pitchFamily="34" charset="0"/>
                <a:ea typeface="Calibri" pitchFamily="34" charset="-122"/>
                <a:cs typeface="Calibri" pitchFamily="34" charset="-120"/>
              </a:rPr>
              <a:t>Cities collect sidewalk data but rarely turn it into anything usable</a:t>
            </a:r>
            <a:endParaRPr lang="en-US" sz="1450" dirty="0"/>
          </a:p>
        </p:txBody>
      </p:sp>
      <p:sp>
        <p:nvSpPr>
          <p:cNvPr id="14" name="Shape 10"/>
          <p:cNvSpPr/>
          <p:nvPr/>
        </p:nvSpPr>
        <p:spPr>
          <a:xfrm>
            <a:off x="7406640" y="5029200"/>
            <a:ext cx="566928" cy="566928"/>
          </a:xfrm>
          <a:prstGeom prst="ellipse">
            <a:avLst/>
          </a:prstGeom>
          <a:solidFill>
            <a:srgbClr val="028090"/>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542703" y="5165263"/>
            <a:ext cx="294803" cy="294803"/>
          </a:xfrm>
          <a:prstGeom prst="rect">
            <a:avLst/>
          </a:prstGeom>
        </p:spPr>
      </p:pic>
      <p:sp>
        <p:nvSpPr>
          <p:cNvPr id="16" name="Text 11"/>
          <p:cNvSpPr/>
          <p:nvPr/>
        </p:nvSpPr>
        <p:spPr>
          <a:xfrm>
            <a:off x="8183880" y="4919472"/>
            <a:ext cx="3246120" cy="1097280"/>
          </a:xfrm>
          <a:prstGeom prst="rect">
            <a:avLst/>
          </a:prstGeom>
          <a:noFill/>
          <a:ln/>
        </p:spPr>
        <p:txBody>
          <a:bodyPr wrap="square" rtlCol="0" anchor="t"/>
          <a:lstStyle/>
          <a:p>
            <a:pPr marL="0" indent="0">
              <a:buNone/>
            </a:pPr>
            <a:r>
              <a:rPr lang="en-US" sz="1450" dirty="0">
                <a:solidFill>
                  <a:srgbClr val="E6F2F1"/>
                </a:solidFill>
                <a:latin typeface="Calibri" pitchFamily="34" charset="0"/>
                <a:ea typeface="Calibri" pitchFamily="34" charset="-122"/>
                <a:cs typeface="Calibri" pitchFamily="34" charset="-120"/>
              </a:rPr>
              <a:t>A working model plugs into any routing app as a scoring layer</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731520"/>
          </a:xfrm>
          <a:prstGeom prst="rect">
            <a:avLst/>
          </a:prstGeom>
          <a:noFill/>
          <a:ln/>
        </p:spPr>
        <p:txBody>
          <a:bodyPr wrap="square"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Two Datasets, One Question</a:t>
            </a:r>
            <a:endParaRPr lang="en-US" sz="4000" dirty="0"/>
          </a:p>
        </p:txBody>
      </p:sp>
      <p:sp>
        <p:nvSpPr>
          <p:cNvPr id="3" name="Shape 1"/>
          <p:cNvSpPr/>
          <p:nvPr/>
        </p:nvSpPr>
        <p:spPr>
          <a:xfrm>
            <a:off x="640080" y="1554480"/>
            <a:ext cx="5394960" cy="3017520"/>
          </a:xfrm>
          <a:prstGeom prst="roundRect">
            <a:avLst>
              <a:gd name="adj" fmla="val 3636"/>
            </a:avLst>
          </a:prstGeom>
          <a:solidFill>
            <a:srgbClr val="F4FAF9"/>
          </a:solidFill>
          <a:ln/>
        </p:spPr>
        <p:txBody>
          <a:bodyPr/>
          <a:lstStyle/>
          <a:p>
            <a:endParaRPr lang="en-US"/>
          </a:p>
        </p:txBody>
      </p:sp>
      <p:sp>
        <p:nvSpPr>
          <p:cNvPr id="4" name="Shape 2"/>
          <p:cNvSpPr/>
          <p:nvPr/>
        </p:nvSpPr>
        <p:spPr>
          <a:xfrm>
            <a:off x="914400" y="1828800"/>
            <a:ext cx="640080" cy="640080"/>
          </a:xfrm>
          <a:prstGeom prst="ellipse">
            <a:avLst/>
          </a:prstGeom>
          <a:solidFill>
            <a:srgbClr val="FFFFF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68019" y="1982419"/>
            <a:ext cx="332842" cy="332842"/>
          </a:xfrm>
          <a:prstGeom prst="rect">
            <a:avLst/>
          </a:prstGeom>
        </p:spPr>
      </p:pic>
      <p:sp>
        <p:nvSpPr>
          <p:cNvPr id="6" name="Text 3"/>
          <p:cNvSpPr/>
          <p:nvPr/>
        </p:nvSpPr>
        <p:spPr>
          <a:xfrm>
            <a:off x="1737360" y="1874520"/>
            <a:ext cx="4114800" cy="548640"/>
          </a:xfrm>
          <a:prstGeom prst="rect">
            <a:avLst/>
          </a:prstGeom>
          <a:noFill/>
          <a:ln/>
        </p:spPr>
        <p:txBody>
          <a:bodyPr wrap="square" rtlCol="0" anchor="ctr"/>
          <a:lstStyle/>
          <a:p>
            <a:pPr marL="0" indent="0">
              <a:buNone/>
            </a:pPr>
            <a:r>
              <a:rPr lang="en-US" sz="1800" b="1" dirty="0">
                <a:solidFill>
                  <a:srgbClr val="028090"/>
                </a:solidFill>
                <a:latin typeface="Calibri" pitchFamily="34" charset="0"/>
                <a:ea typeface="Calibri" pitchFamily="34" charset="-122"/>
                <a:cs typeface="Calibri" pitchFamily="34" charset="-120"/>
              </a:rPr>
              <a:t>PMR — Amsterdam sidewalks</a:t>
            </a:r>
            <a:endParaRPr lang="en-US" sz="1800" dirty="0"/>
          </a:p>
        </p:txBody>
      </p:sp>
      <p:sp>
        <p:nvSpPr>
          <p:cNvPr id="7" name="Text 4"/>
          <p:cNvSpPr/>
          <p:nvPr/>
        </p:nvSpPr>
        <p:spPr>
          <a:xfrm>
            <a:off x="914400" y="2560320"/>
            <a:ext cx="2377440" cy="822960"/>
          </a:xfrm>
          <a:prstGeom prst="rect">
            <a:avLst/>
          </a:prstGeom>
          <a:noFill/>
          <a:ln/>
        </p:spPr>
        <p:txBody>
          <a:bodyPr wrap="square" rtlCol="0" anchor="ctr"/>
          <a:lstStyle/>
          <a:p>
            <a:pPr marL="0" indent="0">
              <a:buNone/>
            </a:pPr>
            <a:r>
              <a:rPr lang="en-US" sz="4400" b="1" dirty="0">
                <a:solidFill>
                  <a:srgbClr val="1F2933"/>
                </a:solidFill>
                <a:latin typeface="Cambria" pitchFamily="34" charset="0"/>
                <a:ea typeface="Cambria" pitchFamily="34" charset="-122"/>
                <a:cs typeface="Cambria" pitchFamily="34" charset="-120"/>
              </a:rPr>
              <a:t>72,274</a:t>
            </a:r>
            <a:endParaRPr lang="en-US" sz="4400" dirty="0"/>
          </a:p>
        </p:txBody>
      </p:sp>
      <p:sp>
        <p:nvSpPr>
          <p:cNvPr id="8" name="Text 5"/>
          <p:cNvSpPr/>
          <p:nvPr/>
        </p:nvSpPr>
        <p:spPr>
          <a:xfrm>
            <a:off x="914400" y="3337560"/>
            <a:ext cx="2560320" cy="365760"/>
          </a:xfrm>
          <a:prstGeom prst="rect">
            <a:avLst/>
          </a:prstGeom>
          <a:noFill/>
          <a:ln/>
        </p:spPr>
        <p:txBody>
          <a:bodyPr wrap="square" rtlCol="0" anchor="ctr"/>
          <a:lstStyle/>
          <a:p>
            <a:pPr marL="0" indent="0">
              <a:buNone/>
            </a:pPr>
            <a:r>
              <a:rPr lang="en-US" sz="1200" dirty="0">
                <a:solidFill>
                  <a:srgbClr val="5B6770"/>
                </a:solidFill>
                <a:latin typeface="Calibri" pitchFamily="34" charset="0"/>
                <a:ea typeface="Calibri" pitchFamily="34" charset="-122"/>
                <a:cs typeface="Calibri" pitchFamily="34" charset="-120"/>
              </a:rPr>
              <a:t>measured segments</a:t>
            </a:r>
            <a:endParaRPr lang="en-US" sz="1200" dirty="0"/>
          </a:p>
        </p:txBody>
      </p:sp>
      <p:sp>
        <p:nvSpPr>
          <p:cNvPr id="9" name="Text 6"/>
          <p:cNvSpPr/>
          <p:nvPr/>
        </p:nvSpPr>
        <p:spPr>
          <a:xfrm>
            <a:off x="3383280" y="2606040"/>
            <a:ext cx="2468880" cy="1737360"/>
          </a:xfrm>
          <a:prstGeom prst="rect">
            <a:avLst/>
          </a:prstGeom>
          <a:noFill/>
          <a:ln/>
        </p:spPr>
        <p:txBody>
          <a:bodyPr wrap="square" rtlCol="0" anchor="ctr"/>
          <a:lstStyle/>
          <a:p>
            <a:pPr marL="0" indent="0">
              <a:buNone/>
            </a:pPr>
            <a:r>
              <a:rPr lang="en-US" sz="1350" dirty="0">
                <a:solidFill>
                  <a:srgbClr val="1F2933"/>
                </a:solidFill>
                <a:latin typeface="Calibri" pitchFamily="34" charset="0"/>
                <a:ea typeface="Calibri" pitchFamily="34" charset="-122"/>
                <a:cs typeface="Calibri" pitchFamily="34" charset="-120"/>
              </a:rPr>
              <a:t>Physical measurements: width, curb height, crossings. Measures the physical world.</a:t>
            </a:r>
            <a:endParaRPr lang="en-US" sz="1350" dirty="0"/>
          </a:p>
        </p:txBody>
      </p:sp>
      <p:sp>
        <p:nvSpPr>
          <p:cNvPr id="10" name="Shape 7"/>
          <p:cNvSpPr/>
          <p:nvPr/>
        </p:nvSpPr>
        <p:spPr>
          <a:xfrm>
            <a:off x="6309360" y="1554480"/>
            <a:ext cx="5394960" cy="3017520"/>
          </a:xfrm>
          <a:prstGeom prst="roundRect">
            <a:avLst>
              <a:gd name="adj" fmla="val 3636"/>
            </a:avLst>
          </a:prstGeom>
          <a:solidFill>
            <a:srgbClr val="F4FAF9"/>
          </a:solidFill>
          <a:ln/>
        </p:spPr>
        <p:txBody>
          <a:bodyPr/>
          <a:lstStyle/>
          <a:p>
            <a:endParaRPr lang="en-US"/>
          </a:p>
        </p:txBody>
      </p:sp>
      <p:sp>
        <p:nvSpPr>
          <p:cNvPr id="11" name="Shape 8"/>
          <p:cNvSpPr/>
          <p:nvPr/>
        </p:nvSpPr>
        <p:spPr>
          <a:xfrm>
            <a:off x="6583680" y="1828800"/>
            <a:ext cx="640080" cy="640080"/>
          </a:xfrm>
          <a:prstGeom prst="ellipse">
            <a:avLst/>
          </a:prstGeom>
          <a:solidFill>
            <a:srgbClr val="FFFFF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737299" y="1982419"/>
            <a:ext cx="332842" cy="332842"/>
          </a:xfrm>
          <a:prstGeom prst="rect">
            <a:avLst/>
          </a:prstGeom>
        </p:spPr>
      </p:pic>
      <p:sp>
        <p:nvSpPr>
          <p:cNvPr id="13" name="Text 9"/>
          <p:cNvSpPr/>
          <p:nvPr/>
        </p:nvSpPr>
        <p:spPr>
          <a:xfrm>
            <a:off x="7406640" y="1874520"/>
            <a:ext cx="4114800" cy="548640"/>
          </a:xfrm>
          <a:prstGeom prst="rect">
            <a:avLst/>
          </a:prstGeom>
          <a:noFill/>
          <a:ln/>
        </p:spPr>
        <p:txBody>
          <a:bodyPr wrap="square" rtlCol="0" anchor="ctr"/>
          <a:lstStyle/>
          <a:p>
            <a:pPr marL="0" indent="0">
              <a:buNone/>
            </a:pPr>
            <a:r>
              <a:rPr lang="en-US" sz="1800" b="1" dirty="0">
                <a:solidFill>
                  <a:srgbClr val="028090"/>
                </a:solidFill>
                <a:latin typeface="Calibri" pitchFamily="34" charset="0"/>
                <a:ea typeface="Calibri" pitchFamily="34" charset="-122"/>
                <a:cs typeface="Calibri" pitchFamily="34" charset="-120"/>
              </a:rPr>
              <a:t>Housing — US addresses</a:t>
            </a:r>
            <a:endParaRPr lang="en-US" sz="1800" dirty="0"/>
          </a:p>
        </p:txBody>
      </p:sp>
      <p:sp>
        <p:nvSpPr>
          <p:cNvPr id="14" name="Text 10"/>
          <p:cNvSpPr/>
          <p:nvPr/>
        </p:nvSpPr>
        <p:spPr>
          <a:xfrm>
            <a:off x="6583680" y="2560320"/>
            <a:ext cx="2377440" cy="822960"/>
          </a:xfrm>
          <a:prstGeom prst="rect">
            <a:avLst/>
          </a:prstGeom>
          <a:noFill/>
          <a:ln/>
        </p:spPr>
        <p:txBody>
          <a:bodyPr wrap="square" rtlCol="0" anchor="ctr"/>
          <a:lstStyle/>
          <a:p>
            <a:pPr marL="0" indent="0">
              <a:buNone/>
            </a:pPr>
            <a:r>
              <a:rPr lang="en-US" sz="4400" b="1" dirty="0">
                <a:solidFill>
                  <a:srgbClr val="1F2933"/>
                </a:solidFill>
                <a:latin typeface="Cambria" pitchFamily="34" charset="0"/>
                <a:ea typeface="Cambria" pitchFamily="34" charset="-122"/>
                <a:cs typeface="Cambria" pitchFamily="34" charset="-120"/>
              </a:rPr>
              <a:t>10,104</a:t>
            </a:r>
            <a:endParaRPr lang="en-US" sz="4400" dirty="0"/>
          </a:p>
        </p:txBody>
      </p:sp>
      <p:sp>
        <p:nvSpPr>
          <p:cNvPr id="15" name="Text 11"/>
          <p:cNvSpPr/>
          <p:nvPr/>
        </p:nvSpPr>
        <p:spPr>
          <a:xfrm>
            <a:off x="6583680" y="3337560"/>
            <a:ext cx="2560320" cy="365760"/>
          </a:xfrm>
          <a:prstGeom prst="rect">
            <a:avLst/>
          </a:prstGeom>
          <a:noFill/>
          <a:ln/>
        </p:spPr>
        <p:txBody>
          <a:bodyPr wrap="square" rtlCol="0" anchor="ctr"/>
          <a:lstStyle/>
          <a:p>
            <a:pPr marL="0" indent="0">
              <a:buNone/>
            </a:pPr>
            <a:r>
              <a:rPr lang="en-US" sz="1200" dirty="0">
                <a:solidFill>
                  <a:srgbClr val="5B6770"/>
                </a:solidFill>
                <a:latin typeface="Calibri" pitchFamily="34" charset="0"/>
                <a:ea typeface="Calibri" pitchFamily="34" charset="-122"/>
                <a:cs typeface="Calibri" pitchFamily="34" charset="-120"/>
              </a:rPr>
              <a:t>crowd-labeled rows</a:t>
            </a:r>
            <a:endParaRPr lang="en-US" sz="1200" dirty="0"/>
          </a:p>
        </p:txBody>
      </p:sp>
      <p:sp>
        <p:nvSpPr>
          <p:cNvPr id="16" name="Text 12"/>
          <p:cNvSpPr/>
          <p:nvPr/>
        </p:nvSpPr>
        <p:spPr>
          <a:xfrm>
            <a:off x="9052560" y="2606040"/>
            <a:ext cx="2468880" cy="1737360"/>
          </a:xfrm>
          <a:prstGeom prst="rect">
            <a:avLst/>
          </a:prstGeom>
          <a:noFill/>
          <a:ln/>
        </p:spPr>
        <p:txBody>
          <a:bodyPr wrap="square" rtlCol="0" anchor="ctr"/>
          <a:lstStyle/>
          <a:p>
            <a:pPr marL="0" indent="0">
              <a:buNone/>
            </a:pPr>
            <a:r>
              <a:rPr lang="en-US" sz="1350" dirty="0">
                <a:solidFill>
                  <a:srgbClr val="1F2933"/>
                </a:solidFill>
                <a:latin typeface="Calibri" pitchFamily="34" charset="0"/>
                <a:ea typeface="Calibri" pitchFamily="34" charset="-122"/>
                <a:cs typeface="Calibri" pitchFamily="34" charset="-120"/>
              </a:rPr>
              <a:t>Crowd-sourced “sidewalk ok?” labels judged from Google Maps street images.</a:t>
            </a:r>
            <a:endParaRPr lang="en-US" sz="1350" dirty="0"/>
          </a:p>
        </p:txBody>
      </p:sp>
      <p:sp>
        <p:nvSpPr>
          <p:cNvPr id="17" name="Text 13"/>
          <p:cNvSpPr/>
          <p:nvPr/>
        </p:nvSpPr>
        <p:spPr>
          <a:xfrm>
            <a:off x="640080" y="4937760"/>
            <a:ext cx="11064240" cy="1097280"/>
          </a:xfrm>
          <a:prstGeom prst="rect">
            <a:avLst/>
          </a:prstGeom>
          <a:noFill/>
          <a:ln/>
        </p:spPr>
        <p:txBody>
          <a:bodyPr wrap="square"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No geographic overlap. </a:t>
            </a:r>
            <a:r>
              <a:rPr lang="en-US" sz="1600" dirty="0">
                <a:solidFill>
                  <a:srgbClr val="1F2933"/>
                </a:solidFill>
                <a:latin typeface="Calibri" pitchFamily="34" charset="0"/>
                <a:ea typeface="Calibri" pitchFamily="34" charset="-122"/>
                <a:cs typeface="Calibri" pitchFamily="34" charset="-120"/>
              </a:rPr>
              <a:t>One is meters in Amsterdam, the other spans a continent in degrees. Same pipeline runs on each; results are compared at the model level. Rows are never merged.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731520"/>
          </a:xfrm>
          <a:prstGeom prst="rect">
            <a:avLst/>
          </a:prstGeom>
          <a:noFill/>
          <a:ln/>
        </p:spPr>
        <p:txBody>
          <a:bodyPr wrap="square"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The Algorithms</a:t>
            </a:r>
            <a:endParaRPr lang="en-US" sz="4000" dirty="0"/>
          </a:p>
        </p:txBody>
      </p:sp>
      <p:sp>
        <p:nvSpPr>
          <p:cNvPr id="3" name="Shape 1"/>
          <p:cNvSpPr/>
          <p:nvPr/>
        </p:nvSpPr>
        <p:spPr>
          <a:xfrm>
            <a:off x="640080" y="1371600"/>
            <a:ext cx="6766560" cy="4937760"/>
          </a:xfrm>
          <a:prstGeom prst="roundRect">
            <a:avLst>
              <a:gd name="adj" fmla="val 2222"/>
            </a:avLst>
          </a:prstGeom>
          <a:solidFill>
            <a:srgbClr val="F4FAF9"/>
          </a:solidFill>
          <a:ln/>
        </p:spPr>
        <p:txBody>
          <a:bodyPr/>
          <a:lstStyle/>
          <a:p>
            <a:endParaRPr lang="en-US"/>
          </a:p>
        </p:txBody>
      </p:sp>
      <p:sp>
        <p:nvSpPr>
          <p:cNvPr id="4" name="Text 2"/>
          <p:cNvSpPr/>
          <p:nvPr/>
        </p:nvSpPr>
        <p:spPr>
          <a:xfrm>
            <a:off x="914400" y="1572768"/>
            <a:ext cx="6217920" cy="457200"/>
          </a:xfrm>
          <a:prstGeom prst="rect">
            <a:avLst/>
          </a:prstGeom>
          <a:noFill/>
          <a:ln/>
        </p:spPr>
        <p:txBody>
          <a:bodyPr wrap="square" rtlCol="0" anchor="ctr"/>
          <a:lstStyle/>
          <a:p>
            <a:pPr marL="0" indent="0">
              <a:buNone/>
            </a:pPr>
            <a:r>
              <a:rPr lang="en-US" sz="2100" b="1" dirty="0">
                <a:solidFill>
                  <a:srgbClr val="028090"/>
                </a:solidFill>
                <a:latin typeface="Calibri" pitchFamily="34" charset="0"/>
                <a:ea typeface="Calibri" pitchFamily="34" charset="-122"/>
                <a:cs typeface="Calibri" pitchFamily="34" charset="-120"/>
              </a:rPr>
              <a:t>Random Forest  (main model)</a:t>
            </a:r>
            <a:endParaRPr lang="en-US" sz="2100" dirty="0"/>
          </a:p>
        </p:txBody>
      </p:sp>
      <p:sp>
        <p:nvSpPr>
          <p:cNvPr id="5" name="Text 3"/>
          <p:cNvSpPr/>
          <p:nvPr/>
        </p:nvSpPr>
        <p:spPr>
          <a:xfrm>
            <a:off x="914400" y="2103120"/>
            <a:ext cx="6217920" cy="1737360"/>
          </a:xfrm>
          <a:prstGeom prst="rect">
            <a:avLst/>
          </a:prstGeom>
          <a:noFill/>
          <a:ln/>
        </p:spPr>
        <p:txBody>
          <a:bodyPr wrap="square" rtlCol="0" anchor="ctr"/>
          <a:lstStyle/>
          <a:p>
            <a:pPr marL="0" indent="0">
              <a:lnSpc>
                <a:spcPct val="112000"/>
              </a:lnSpc>
              <a:buNone/>
            </a:pPr>
            <a:r>
              <a:rPr lang="en-US" sz="1500" b="1" dirty="0">
                <a:solidFill>
                  <a:srgbClr val="1F2933"/>
                </a:solidFill>
                <a:latin typeface="Calibri" pitchFamily="34" charset="0"/>
                <a:ea typeface="Calibri" pitchFamily="34" charset="-122"/>
                <a:cs typeface="Calibri" pitchFamily="34" charset="-120"/>
              </a:rPr>
              <a:t>Type: </a:t>
            </a:r>
            <a:r>
              <a:rPr lang="en-US" sz="1500" dirty="0">
                <a:solidFill>
                  <a:srgbClr val="1F2933"/>
                </a:solidFill>
                <a:latin typeface="Calibri" pitchFamily="34" charset="0"/>
                <a:ea typeface="Calibri" pitchFamily="34" charset="-122"/>
                <a:cs typeface="Calibri" pitchFamily="34" charset="-120"/>
              </a:rPr>
              <a:t>Supervised classification — many decision trees vote
</a:t>
            </a:r>
            <a:r>
              <a:rPr lang="en-US" sz="1500" b="1" dirty="0">
                <a:solidFill>
                  <a:srgbClr val="1F2933"/>
                </a:solidFill>
                <a:latin typeface="Calibri" pitchFamily="34" charset="0"/>
                <a:ea typeface="Calibri" pitchFamily="34" charset="-122"/>
                <a:cs typeface="Calibri" pitchFamily="34" charset="-120"/>
              </a:rPr>
              <a:t>Inputs: </a:t>
            </a:r>
            <a:r>
              <a:rPr lang="en-US" sz="1500" dirty="0">
                <a:solidFill>
                  <a:srgbClr val="1F2933"/>
                </a:solidFill>
                <a:latin typeface="Calibri" pitchFamily="34" charset="0"/>
                <a:ea typeface="Calibri" pitchFamily="34" charset="-122"/>
                <a:cs typeface="Calibri" pitchFamily="34" charset="-120"/>
              </a:rPr>
              <a:t>PMR: width, curb height, crossing, length. Housing: house type + crowd-confidence scores
</a:t>
            </a:r>
            <a:r>
              <a:rPr lang="en-US" sz="1500" b="1" dirty="0">
                <a:solidFill>
                  <a:srgbClr val="1F2933"/>
                </a:solidFill>
                <a:latin typeface="Calibri" pitchFamily="34" charset="0"/>
                <a:ea typeface="Calibri" pitchFamily="34" charset="-122"/>
                <a:cs typeface="Calibri" pitchFamily="34" charset="-120"/>
              </a:rPr>
              <a:t>Output: </a:t>
            </a:r>
            <a:r>
              <a:rPr lang="en-US" sz="1500" dirty="0">
                <a:solidFill>
                  <a:srgbClr val="1F2933"/>
                </a:solidFill>
                <a:latin typeface="Calibri" pitchFamily="34" charset="0"/>
                <a:ea typeface="Calibri" pitchFamily="34" charset="-122"/>
                <a:cs typeface="Calibri" pitchFamily="34" charset="-120"/>
              </a:rPr>
              <a:t>accessible / not accessible, with a probability</a:t>
            </a:r>
            <a:endParaRPr lang="en-US" sz="1500" dirty="0"/>
          </a:p>
        </p:txBody>
      </p:sp>
      <p:sp>
        <p:nvSpPr>
          <p:cNvPr id="6" name="Text 4"/>
          <p:cNvSpPr/>
          <p:nvPr/>
        </p:nvSpPr>
        <p:spPr>
          <a:xfrm>
            <a:off x="914400" y="3794760"/>
            <a:ext cx="3108960" cy="365760"/>
          </a:xfrm>
          <a:prstGeom prst="rect">
            <a:avLst/>
          </a:prstGeom>
          <a:noFill/>
          <a:ln/>
        </p:spPr>
        <p:txBody>
          <a:bodyPr wrap="square" rtlCol="0" anchor="ctr"/>
          <a:lstStyle/>
          <a:p>
            <a:pPr marL="0" indent="0">
              <a:buNone/>
            </a:pPr>
            <a:r>
              <a:rPr lang="en-US" sz="1450" b="1" dirty="0">
                <a:solidFill>
                  <a:srgbClr val="028090"/>
                </a:solidFill>
                <a:latin typeface="Calibri" pitchFamily="34" charset="0"/>
                <a:ea typeface="Calibri" pitchFamily="34" charset="-122"/>
                <a:cs typeface="Calibri" pitchFamily="34" charset="-120"/>
              </a:rPr>
              <a:t>Why we chose it (pros)</a:t>
            </a:r>
            <a:endParaRPr lang="en-US" sz="1450" dirty="0"/>
          </a:p>
        </p:txBody>
      </p:sp>
      <p:sp>
        <p:nvSpPr>
          <p:cNvPr id="7" name="Text 5"/>
          <p:cNvSpPr/>
          <p:nvPr/>
        </p:nvSpPr>
        <p:spPr>
          <a:xfrm>
            <a:off x="914400" y="4160520"/>
            <a:ext cx="3108960" cy="1920240"/>
          </a:xfrm>
          <a:prstGeom prst="rect">
            <a:avLst/>
          </a:prstGeom>
          <a:noFill/>
          <a:ln/>
        </p:spPr>
        <p:txBody>
          <a:bodyPr wrap="square" rtlCol="0" anchor="ctr"/>
          <a:lstStyle/>
          <a:p>
            <a:pPr marL="342900" indent="-3429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Handles mixed features well</a:t>
            </a:r>
            <a:endParaRPr lang="en-US" sz="1250" dirty="0"/>
          </a:p>
          <a:p>
            <a:pPr marL="342900" indent="-3429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Feature importance is readable — that's how we caught the bias</a:t>
            </a:r>
            <a:endParaRPr lang="en-US" sz="1250" dirty="0"/>
          </a:p>
          <a:p>
            <a:pPr marL="342900" indent="-3429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Strong baseline without heavy tuning</a:t>
            </a:r>
            <a:endParaRPr lang="en-US" sz="1250" dirty="0"/>
          </a:p>
        </p:txBody>
      </p:sp>
      <p:sp>
        <p:nvSpPr>
          <p:cNvPr id="8" name="Text 6"/>
          <p:cNvSpPr/>
          <p:nvPr/>
        </p:nvSpPr>
        <p:spPr>
          <a:xfrm>
            <a:off x="4297680" y="3794760"/>
            <a:ext cx="2926080" cy="365760"/>
          </a:xfrm>
          <a:prstGeom prst="rect">
            <a:avLst/>
          </a:prstGeom>
          <a:noFill/>
          <a:ln/>
        </p:spPr>
        <p:txBody>
          <a:bodyPr wrap="square" rtlCol="0" anchor="ctr"/>
          <a:lstStyle/>
          <a:p>
            <a:pPr marL="0" indent="0">
              <a:buNone/>
            </a:pPr>
            <a:r>
              <a:rPr lang="en-US" sz="1450" b="1" dirty="0">
                <a:solidFill>
                  <a:srgbClr val="C0392B"/>
                </a:solidFill>
                <a:latin typeface="Calibri" pitchFamily="34" charset="0"/>
                <a:ea typeface="Calibri" pitchFamily="34" charset="-122"/>
                <a:cs typeface="Calibri" pitchFamily="34" charset="-120"/>
              </a:rPr>
              <a:t>Trade-offs (cons)</a:t>
            </a:r>
            <a:endParaRPr lang="en-US" sz="1450" dirty="0"/>
          </a:p>
        </p:txBody>
      </p:sp>
      <p:sp>
        <p:nvSpPr>
          <p:cNvPr id="9" name="Text 7"/>
          <p:cNvSpPr/>
          <p:nvPr/>
        </p:nvSpPr>
        <p:spPr>
          <a:xfrm>
            <a:off x="4297680" y="4160520"/>
            <a:ext cx="2926080" cy="1920240"/>
          </a:xfrm>
          <a:prstGeom prst="rect">
            <a:avLst/>
          </a:prstGeom>
          <a:noFill/>
          <a:ln/>
        </p:spPr>
        <p:txBody>
          <a:bodyPr wrap="square" rtlCol="0" anchor="ctr"/>
          <a:lstStyle/>
          <a:p>
            <a:pPr marL="342900" indent="-3429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Can't invent signal that isn't in the features</a:t>
            </a:r>
            <a:endParaRPr lang="en-US" sz="1250" dirty="0"/>
          </a:p>
          <a:p>
            <a:pPr marL="342900" indent="-3429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Happily rides a biased shortcut feature</a:t>
            </a:r>
            <a:endParaRPr lang="en-US" sz="1250" dirty="0"/>
          </a:p>
          <a:p>
            <a:pPr marL="342900" indent="-3429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Less interpretable than a single tree</a:t>
            </a:r>
            <a:endParaRPr lang="en-US" sz="1250" dirty="0"/>
          </a:p>
        </p:txBody>
      </p:sp>
      <p:sp>
        <p:nvSpPr>
          <p:cNvPr id="10" name="Shape 8"/>
          <p:cNvSpPr/>
          <p:nvPr/>
        </p:nvSpPr>
        <p:spPr>
          <a:xfrm>
            <a:off x="7680960" y="1371600"/>
            <a:ext cx="3931920" cy="4937760"/>
          </a:xfrm>
          <a:prstGeom prst="roundRect">
            <a:avLst>
              <a:gd name="adj" fmla="val 2791"/>
            </a:avLst>
          </a:prstGeom>
          <a:solidFill>
            <a:srgbClr val="0A3A42"/>
          </a:solidFill>
          <a:ln/>
        </p:spPr>
        <p:txBody>
          <a:bodyPr/>
          <a:lstStyle/>
          <a:p>
            <a:endParaRPr lang="en-US"/>
          </a:p>
        </p:txBody>
      </p:sp>
      <p:sp>
        <p:nvSpPr>
          <p:cNvPr id="11" name="Text 9"/>
          <p:cNvSpPr/>
          <p:nvPr/>
        </p:nvSpPr>
        <p:spPr>
          <a:xfrm>
            <a:off x="7955280" y="1572768"/>
            <a:ext cx="3383280" cy="45720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Supporting tools</a:t>
            </a:r>
            <a:endParaRPr lang="en-US" sz="1800" dirty="0"/>
          </a:p>
        </p:txBody>
      </p:sp>
      <p:sp>
        <p:nvSpPr>
          <p:cNvPr id="12" name="Text 10"/>
          <p:cNvSpPr/>
          <p:nvPr/>
        </p:nvSpPr>
        <p:spPr>
          <a:xfrm>
            <a:off x="7955280" y="2148840"/>
            <a:ext cx="3383280" cy="3840480"/>
          </a:xfrm>
          <a:prstGeom prst="rect">
            <a:avLst/>
          </a:prstGeom>
          <a:noFill/>
          <a:ln/>
        </p:spPr>
        <p:txBody>
          <a:bodyPr wrap="square" rtlCol="0" anchor="ctr"/>
          <a:lstStyle/>
          <a:p>
            <a:pPr marL="0" indent="0">
              <a:lnSpc>
                <a:spcPct val="110000"/>
              </a:lnSpc>
              <a:buNone/>
            </a:pPr>
            <a:r>
              <a:rPr lang="en-US" sz="1400" b="1" dirty="0">
                <a:solidFill>
                  <a:srgbClr val="02C39A"/>
                </a:solidFill>
                <a:latin typeface="Calibri" pitchFamily="34" charset="0"/>
                <a:ea typeface="Calibri" pitchFamily="34" charset="-122"/>
                <a:cs typeface="Calibri" pitchFamily="34" charset="-120"/>
              </a:rPr>
              <a:t>ModernBERT</a:t>
            </a:r>
            <a:endParaRPr lang="en-US" sz="1400" dirty="0"/>
          </a:p>
          <a:p>
            <a:pPr marL="0" indent="0">
              <a:lnSpc>
                <a:spcPct val="110000"/>
              </a:lnSpc>
              <a:buNone/>
            </a:pPr>
            <a:r>
              <a:rPr lang="en-US" sz="1400" dirty="0">
                <a:solidFill>
                  <a:srgbClr val="E6F2F1"/>
                </a:solidFill>
                <a:latin typeface="Calibri" pitchFamily="34" charset="0"/>
                <a:ea typeface="Calibri" pitchFamily="34" charset="-122"/>
                <a:cs typeface="Calibri" pitchFamily="34" charset="-120"/>
              </a:rPr>
              <a:t>Embeds each address into a 768-dim vector (6,425 addresses)
</a:t>
            </a:r>
            <a:endParaRPr lang="en-US" sz="1400" dirty="0"/>
          </a:p>
          <a:p>
            <a:pPr marL="0" indent="0">
              <a:lnSpc>
                <a:spcPct val="110000"/>
              </a:lnSpc>
              <a:buNone/>
            </a:pPr>
            <a:r>
              <a:rPr lang="en-US" sz="1400" b="1" dirty="0">
                <a:solidFill>
                  <a:srgbClr val="02C39A"/>
                </a:solidFill>
                <a:latin typeface="Calibri" pitchFamily="34" charset="0"/>
                <a:ea typeface="Calibri" pitchFamily="34" charset="-122"/>
                <a:cs typeface="Calibri" pitchFamily="34" charset="-120"/>
              </a:rPr>
              <a:t>FAISS</a:t>
            </a:r>
            <a:endParaRPr lang="en-US" sz="1400" dirty="0"/>
          </a:p>
          <a:p>
            <a:pPr marL="0" indent="0">
              <a:lnSpc>
                <a:spcPct val="110000"/>
              </a:lnSpc>
              <a:buNone/>
            </a:pPr>
            <a:r>
              <a:rPr lang="en-US" sz="1400" dirty="0">
                <a:solidFill>
                  <a:srgbClr val="E6F2F1"/>
                </a:solidFill>
                <a:latin typeface="Calibri" pitchFamily="34" charset="0"/>
                <a:ea typeface="Calibri" pitchFamily="34" charset="-122"/>
                <a:cs typeface="Calibri" pitchFamily="34" charset="-120"/>
              </a:rPr>
              <a:t>Similarity search over those vectors: “find addresses like this one,” ranked by distance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731520"/>
          </a:xfrm>
          <a:prstGeom prst="rect">
            <a:avLst/>
          </a:prstGeom>
          <a:noFill/>
          <a:ln/>
        </p:spPr>
        <p:txBody>
          <a:bodyPr wrap="square"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How the Project Evolved</a:t>
            </a:r>
            <a:endParaRPr lang="en-US" sz="4000" dirty="0"/>
          </a:p>
        </p:txBody>
      </p:sp>
      <p:sp>
        <p:nvSpPr>
          <p:cNvPr id="3" name="Shape 1"/>
          <p:cNvSpPr/>
          <p:nvPr/>
        </p:nvSpPr>
        <p:spPr>
          <a:xfrm>
            <a:off x="640080" y="1828800"/>
            <a:ext cx="2606040" cy="3566160"/>
          </a:xfrm>
          <a:prstGeom prst="roundRect">
            <a:avLst>
              <a:gd name="adj" fmla="val 4211"/>
            </a:avLst>
          </a:prstGeom>
          <a:solidFill>
            <a:srgbClr val="F4FAF9"/>
          </a:solidFill>
          <a:ln/>
        </p:spPr>
        <p:txBody>
          <a:bodyPr/>
          <a:lstStyle/>
          <a:p>
            <a:endParaRPr lang="en-US"/>
          </a:p>
        </p:txBody>
      </p:sp>
      <p:sp>
        <p:nvSpPr>
          <p:cNvPr id="4" name="Shape 2"/>
          <p:cNvSpPr/>
          <p:nvPr/>
        </p:nvSpPr>
        <p:spPr>
          <a:xfrm>
            <a:off x="1508760" y="1463040"/>
            <a:ext cx="868680" cy="868680"/>
          </a:xfrm>
          <a:prstGeom prst="ellipse">
            <a:avLst/>
          </a:prstGeom>
          <a:solidFill>
            <a:srgbClr val="028090"/>
          </a:solidFill>
          <a:ln/>
        </p:spPr>
        <p:txBody>
          <a:bodyPr/>
          <a:lstStyle/>
          <a:p>
            <a:endParaRPr lang="en-US"/>
          </a:p>
        </p:txBody>
      </p:sp>
      <p:sp>
        <p:nvSpPr>
          <p:cNvPr id="5" name="Text 3"/>
          <p:cNvSpPr/>
          <p:nvPr/>
        </p:nvSpPr>
        <p:spPr>
          <a:xfrm>
            <a:off x="1508760" y="1463040"/>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V1</a:t>
            </a:r>
            <a:endParaRPr lang="en-US" sz="2000" dirty="0"/>
          </a:p>
        </p:txBody>
      </p:sp>
      <p:sp>
        <p:nvSpPr>
          <p:cNvPr id="6" name="Text 4"/>
          <p:cNvSpPr/>
          <p:nvPr/>
        </p:nvSpPr>
        <p:spPr>
          <a:xfrm>
            <a:off x="640080" y="2514600"/>
            <a:ext cx="2606040" cy="457200"/>
          </a:xfrm>
          <a:prstGeom prst="rect">
            <a:avLst/>
          </a:prstGeom>
          <a:noFill/>
          <a:ln/>
        </p:spPr>
        <p:txBody>
          <a:bodyPr wrap="square" rtlCol="0" anchor="ctr"/>
          <a:lstStyle/>
          <a:p>
            <a:pPr marL="0" indent="0" algn="ctr">
              <a:buNone/>
            </a:pPr>
            <a:r>
              <a:rPr lang="en-US" sz="1700" b="1" dirty="0">
                <a:solidFill>
                  <a:srgbClr val="1F2933"/>
                </a:solidFill>
                <a:latin typeface="Calibri" pitchFamily="34" charset="0"/>
                <a:ea typeface="Calibri" pitchFamily="34" charset="-122"/>
                <a:cs typeface="Calibri" pitchFamily="34" charset="-120"/>
              </a:rPr>
              <a:t>Baselines</a:t>
            </a:r>
            <a:endParaRPr lang="en-US" sz="1700" dirty="0"/>
          </a:p>
        </p:txBody>
      </p:sp>
      <p:sp>
        <p:nvSpPr>
          <p:cNvPr id="7" name="Text 5"/>
          <p:cNvSpPr/>
          <p:nvPr/>
        </p:nvSpPr>
        <p:spPr>
          <a:xfrm>
            <a:off x="868680" y="3017520"/>
            <a:ext cx="2148840" cy="2194560"/>
          </a:xfrm>
          <a:prstGeom prst="rect">
            <a:avLst/>
          </a:prstGeom>
          <a:noFill/>
          <a:ln/>
        </p:spPr>
        <p:txBody>
          <a:bodyPr wrap="square" rtlCol="0" anchor="ctr"/>
          <a:lstStyle/>
          <a:p>
            <a:pPr marL="0" indent="0" algn="ctr">
              <a:buNone/>
            </a:pPr>
            <a:r>
              <a:rPr lang="en-US" sz="1250" dirty="0">
                <a:solidFill>
                  <a:srgbClr val="5B6770"/>
                </a:solidFill>
                <a:latin typeface="Calibri" pitchFamily="34" charset="0"/>
                <a:ea typeface="Calibri" pitchFamily="34" charset="-122"/>
                <a:cs typeface="Calibri" pitchFamily="34" charset="-120"/>
              </a:rPr>
              <a:t>Both models trained. Two problems surface: Housing below baseline, PMR over-flags.</a:t>
            </a:r>
            <a:endParaRPr lang="en-US" sz="1250" dirty="0"/>
          </a:p>
        </p:txBody>
      </p:sp>
      <p:sp>
        <p:nvSpPr>
          <p:cNvPr id="8" name="Shape 6"/>
          <p:cNvSpPr/>
          <p:nvPr/>
        </p:nvSpPr>
        <p:spPr>
          <a:xfrm>
            <a:off x="3493008" y="1828800"/>
            <a:ext cx="2606040" cy="3566160"/>
          </a:xfrm>
          <a:prstGeom prst="roundRect">
            <a:avLst>
              <a:gd name="adj" fmla="val 4211"/>
            </a:avLst>
          </a:prstGeom>
          <a:solidFill>
            <a:srgbClr val="F4FAF9"/>
          </a:solidFill>
          <a:ln/>
        </p:spPr>
        <p:txBody>
          <a:bodyPr/>
          <a:lstStyle/>
          <a:p>
            <a:endParaRPr lang="en-US"/>
          </a:p>
        </p:txBody>
      </p:sp>
      <p:sp>
        <p:nvSpPr>
          <p:cNvPr id="9" name="Shape 7"/>
          <p:cNvSpPr/>
          <p:nvPr/>
        </p:nvSpPr>
        <p:spPr>
          <a:xfrm>
            <a:off x="4361688" y="1463040"/>
            <a:ext cx="868680" cy="868680"/>
          </a:xfrm>
          <a:prstGeom prst="ellipse">
            <a:avLst/>
          </a:prstGeom>
          <a:solidFill>
            <a:srgbClr val="00A896"/>
          </a:solidFill>
          <a:ln/>
        </p:spPr>
        <p:txBody>
          <a:bodyPr/>
          <a:lstStyle/>
          <a:p>
            <a:endParaRPr lang="en-US"/>
          </a:p>
        </p:txBody>
      </p:sp>
      <p:sp>
        <p:nvSpPr>
          <p:cNvPr id="10" name="Text 8"/>
          <p:cNvSpPr/>
          <p:nvPr/>
        </p:nvSpPr>
        <p:spPr>
          <a:xfrm>
            <a:off x="4361688" y="1463040"/>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V2</a:t>
            </a:r>
            <a:endParaRPr lang="en-US" sz="2000" dirty="0"/>
          </a:p>
        </p:txBody>
      </p:sp>
      <p:sp>
        <p:nvSpPr>
          <p:cNvPr id="11" name="Text 9"/>
          <p:cNvSpPr/>
          <p:nvPr/>
        </p:nvSpPr>
        <p:spPr>
          <a:xfrm>
            <a:off x="3493008" y="2514600"/>
            <a:ext cx="2606040" cy="457200"/>
          </a:xfrm>
          <a:prstGeom prst="rect">
            <a:avLst/>
          </a:prstGeom>
          <a:noFill/>
          <a:ln/>
        </p:spPr>
        <p:txBody>
          <a:bodyPr wrap="square" rtlCol="0" anchor="ctr"/>
          <a:lstStyle/>
          <a:p>
            <a:pPr marL="0" indent="0" algn="ctr">
              <a:buNone/>
            </a:pPr>
            <a:r>
              <a:rPr lang="en-US" sz="1700" b="1" dirty="0">
                <a:solidFill>
                  <a:srgbClr val="1F2933"/>
                </a:solidFill>
                <a:latin typeface="Calibri" pitchFamily="34" charset="0"/>
                <a:ea typeface="Calibri" pitchFamily="34" charset="-122"/>
                <a:cs typeface="Calibri" pitchFamily="34" charset="-120"/>
              </a:rPr>
              <a:t>Bias fix</a:t>
            </a:r>
            <a:endParaRPr lang="en-US" sz="1700" dirty="0"/>
          </a:p>
        </p:txBody>
      </p:sp>
      <p:sp>
        <p:nvSpPr>
          <p:cNvPr id="12" name="Text 10"/>
          <p:cNvSpPr/>
          <p:nvPr/>
        </p:nvSpPr>
        <p:spPr>
          <a:xfrm>
            <a:off x="3721608" y="3017520"/>
            <a:ext cx="2148840" cy="2194560"/>
          </a:xfrm>
          <a:prstGeom prst="rect">
            <a:avLst/>
          </a:prstGeom>
          <a:noFill/>
          <a:ln/>
        </p:spPr>
        <p:txBody>
          <a:bodyPr wrap="square" rtlCol="0" anchor="ctr"/>
          <a:lstStyle/>
          <a:p>
            <a:pPr marL="0" indent="0" algn="ctr">
              <a:buNone/>
            </a:pPr>
            <a:r>
              <a:rPr lang="en-US" sz="1250" dirty="0">
                <a:solidFill>
                  <a:srgbClr val="5B6770"/>
                </a:solidFill>
                <a:latin typeface="Calibri" pitchFamily="34" charset="0"/>
                <a:ea typeface="Calibri" pitchFamily="34" charset="-122"/>
                <a:cs typeface="Calibri" pitchFamily="34" charset="-120"/>
              </a:rPr>
              <a:t>Drop state from Housing, retrain. Result: a null finding — and an honest one.</a:t>
            </a:r>
            <a:endParaRPr lang="en-US" sz="1250" dirty="0"/>
          </a:p>
        </p:txBody>
      </p:sp>
      <p:sp>
        <p:nvSpPr>
          <p:cNvPr id="13" name="Shape 11"/>
          <p:cNvSpPr/>
          <p:nvPr/>
        </p:nvSpPr>
        <p:spPr>
          <a:xfrm>
            <a:off x="6345936" y="1828800"/>
            <a:ext cx="2606040" cy="3566160"/>
          </a:xfrm>
          <a:prstGeom prst="roundRect">
            <a:avLst>
              <a:gd name="adj" fmla="val 4211"/>
            </a:avLst>
          </a:prstGeom>
          <a:solidFill>
            <a:srgbClr val="F4FAF9"/>
          </a:solidFill>
          <a:ln/>
        </p:spPr>
        <p:txBody>
          <a:bodyPr/>
          <a:lstStyle/>
          <a:p>
            <a:endParaRPr lang="en-US"/>
          </a:p>
        </p:txBody>
      </p:sp>
      <p:sp>
        <p:nvSpPr>
          <p:cNvPr id="14" name="Shape 12"/>
          <p:cNvSpPr/>
          <p:nvPr/>
        </p:nvSpPr>
        <p:spPr>
          <a:xfrm>
            <a:off x="7214616" y="1463040"/>
            <a:ext cx="868680" cy="868680"/>
          </a:xfrm>
          <a:prstGeom prst="ellipse">
            <a:avLst/>
          </a:prstGeom>
          <a:solidFill>
            <a:srgbClr val="02C39A"/>
          </a:solidFill>
          <a:ln/>
        </p:spPr>
        <p:txBody>
          <a:bodyPr/>
          <a:lstStyle/>
          <a:p>
            <a:endParaRPr lang="en-US"/>
          </a:p>
        </p:txBody>
      </p:sp>
      <p:sp>
        <p:nvSpPr>
          <p:cNvPr id="15" name="Text 13"/>
          <p:cNvSpPr/>
          <p:nvPr/>
        </p:nvSpPr>
        <p:spPr>
          <a:xfrm>
            <a:off x="7214616" y="1463040"/>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V3</a:t>
            </a:r>
            <a:endParaRPr lang="en-US" sz="2000" dirty="0"/>
          </a:p>
        </p:txBody>
      </p:sp>
      <p:sp>
        <p:nvSpPr>
          <p:cNvPr id="16" name="Text 14"/>
          <p:cNvSpPr/>
          <p:nvPr/>
        </p:nvSpPr>
        <p:spPr>
          <a:xfrm>
            <a:off x="6345936" y="2514600"/>
            <a:ext cx="2606040" cy="457200"/>
          </a:xfrm>
          <a:prstGeom prst="rect">
            <a:avLst/>
          </a:prstGeom>
          <a:noFill/>
          <a:ln/>
        </p:spPr>
        <p:txBody>
          <a:bodyPr wrap="square" rtlCol="0" anchor="ctr"/>
          <a:lstStyle/>
          <a:p>
            <a:pPr marL="0" indent="0" algn="ctr">
              <a:buNone/>
            </a:pPr>
            <a:r>
              <a:rPr lang="en-US" sz="1700" b="1" dirty="0">
                <a:solidFill>
                  <a:srgbClr val="1F2933"/>
                </a:solidFill>
                <a:latin typeface="Calibri" pitchFamily="34" charset="0"/>
                <a:ea typeface="Calibri" pitchFamily="34" charset="-122"/>
                <a:cs typeface="Calibri" pitchFamily="34" charset="-120"/>
              </a:rPr>
              <a:t>Precision fix</a:t>
            </a:r>
            <a:endParaRPr lang="en-US" sz="1700" dirty="0"/>
          </a:p>
        </p:txBody>
      </p:sp>
      <p:sp>
        <p:nvSpPr>
          <p:cNvPr id="17" name="Text 15"/>
          <p:cNvSpPr/>
          <p:nvPr/>
        </p:nvSpPr>
        <p:spPr>
          <a:xfrm>
            <a:off x="6574536" y="3017520"/>
            <a:ext cx="2148840" cy="2194560"/>
          </a:xfrm>
          <a:prstGeom prst="rect">
            <a:avLst/>
          </a:prstGeom>
          <a:noFill/>
          <a:ln/>
        </p:spPr>
        <p:txBody>
          <a:bodyPr wrap="square" rtlCol="0" anchor="ctr"/>
          <a:lstStyle/>
          <a:p>
            <a:pPr marL="0" indent="0" algn="ctr">
              <a:buNone/>
            </a:pPr>
            <a:r>
              <a:rPr lang="en-US" sz="1250" dirty="0">
                <a:solidFill>
                  <a:srgbClr val="5B6770"/>
                </a:solidFill>
                <a:latin typeface="Calibri" pitchFamily="34" charset="0"/>
                <a:ea typeface="Calibri" pitchFamily="34" charset="-122"/>
                <a:cs typeface="Calibri" pitchFamily="34" charset="-120"/>
              </a:rPr>
              <a:t>PMR threshold tuning fails. Root cause found in features; curb height added.</a:t>
            </a:r>
            <a:endParaRPr lang="en-US" sz="1250" dirty="0"/>
          </a:p>
        </p:txBody>
      </p:sp>
      <p:sp>
        <p:nvSpPr>
          <p:cNvPr id="18" name="Shape 16"/>
          <p:cNvSpPr/>
          <p:nvPr/>
        </p:nvSpPr>
        <p:spPr>
          <a:xfrm>
            <a:off x="9198864" y="1828800"/>
            <a:ext cx="2606040" cy="3566160"/>
          </a:xfrm>
          <a:prstGeom prst="roundRect">
            <a:avLst>
              <a:gd name="adj" fmla="val 4211"/>
            </a:avLst>
          </a:prstGeom>
          <a:solidFill>
            <a:srgbClr val="F4FAF9"/>
          </a:solidFill>
          <a:ln/>
        </p:spPr>
        <p:txBody>
          <a:bodyPr/>
          <a:lstStyle/>
          <a:p>
            <a:endParaRPr lang="en-US"/>
          </a:p>
        </p:txBody>
      </p:sp>
      <p:sp>
        <p:nvSpPr>
          <p:cNvPr id="19" name="Shape 17"/>
          <p:cNvSpPr/>
          <p:nvPr/>
        </p:nvSpPr>
        <p:spPr>
          <a:xfrm>
            <a:off x="10067544" y="1463040"/>
            <a:ext cx="868680" cy="868680"/>
          </a:xfrm>
          <a:prstGeom prst="ellipse">
            <a:avLst/>
          </a:prstGeom>
          <a:solidFill>
            <a:srgbClr val="0A3A42"/>
          </a:solidFill>
          <a:ln/>
        </p:spPr>
        <p:txBody>
          <a:bodyPr/>
          <a:lstStyle/>
          <a:p>
            <a:endParaRPr lang="en-US"/>
          </a:p>
        </p:txBody>
      </p:sp>
      <p:sp>
        <p:nvSpPr>
          <p:cNvPr id="20" name="Text 18"/>
          <p:cNvSpPr/>
          <p:nvPr/>
        </p:nvSpPr>
        <p:spPr>
          <a:xfrm>
            <a:off x="10067544" y="1463040"/>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V4</a:t>
            </a:r>
            <a:endParaRPr lang="en-US" sz="2000" dirty="0"/>
          </a:p>
        </p:txBody>
      </p:sp>
      <p:sp>
        <p:nvSpPr>
          <p:cNvPr id="21" name="Text 19"/>
          <p:cNvSpPr/>
          <p:nvPr/>
        </p:nvSpPr>
        <p:spPr>
          <a:xfrm>
            <a:off x="9198864" y="2514600"/>
            <a:ext cx="2606040" cy="457200"/>
          </a:xfrm>
          <a:prstGeom prst="rect">
            <a:avLst/>
          </a:prstGeom>
          <a:noFill/>
          <a:ln/>
        </p:spPr>
        <p:txBody>
          <a:bodyPr wrap="square" rtlCol="0" anchor="ctr"/>
          <a:lstStyle/>
          <a:p>
            <a:pPr marL="0" indent="0" algn="ctr">
              <a:buNone/>
            </a:pPr>
            <a:r>
              <a:rPr lang="en-US" sz="1700" b="1" dirty="0">
                <a:solidFill>
                  <a:srgbClr val="1F2933"/>
                </a:solidFill>
                <a:latin typeface="Calibri" pitchFamily="34" charset="0"/>
                <a:ea typeface="Calibri" pitchFamily="34" charset="-122"/>
                <a:cs typeface="Calibri" pitchFamily="34" charset="-120"/>
              </a:rPr>
              <a:t>Deployment</a:t>
            </a:r>
            <a:endParaRPr lang="en-US" sz="1700" dirty="0"/>
          </a:p>
        </p:txBody>
      </p:sp>
      <p:sp>
        <p:nvSpPr>
          <p:cNvPr id="22" name="Text 20"/>
          <p:cNvSpPr/>
          <p:nvPr/>
        </p:nvSpPr>
        <p:spPr>
          <a:xfrm>
            <a:off x="9427464" y="3017520"/>
            <a:ext cx="2148840" cy="2194560"/>
          </a:xfrm>
          <a:prstGeom prst="rect">
            <a:avLst/>
          </a:prstGeom>
          <a:noFill/>
          <a:ln/>
        </p:spPr>
        <p:txBody>
          <a:bodyPr wrap="square" rtlCol="0" anchor="ctr"/>
          <a:lstStyle/>
          <a:p>
            <a:pPr marL="0" indent="0" algn="ctr">
              <a:buNone/>
            </a:pPr>
            <a:r>
              <a:rPr lang="en-US" sz="1250" dirty="0">
                <a:solidFill>
                  <a:srgbClr val="5B6770"/>
                </a:solidFill>
                <a:latin typeface="Calibri" pitchFamily="34" charset="0"/>
                <a:ea typeface="Calibri" pitchFamily="34" charset="-122"/>
                <a:cs typeface="Calibri" pitchFamily="34" charset="-120"/>
              </a:rPr>
              <a:t>Streamlit app built, tested locally + on the cloud, live for anyone to use.</a:t>
            </a:r>
            <a:endParaRPr lang="en-US" sz="1250" dirty="0"/>
          </a:p>
        </p:txBody>
      </p:sp>
      <p:sp>
        <p:nvSpPr>
          <p:cNvPr id="23" name="Text 21"/>
          <p:cNvSpPr/>
          <p:nvPr/>
        </p:nvSpPr>
        <p:spPr>
          <a:xfrm>
            <a:off x="640080" y="5760720"/>
            <a:ext cx="10972800" cy="457200"/>
          </a:xfrm>
          <a:prstGeom prst="rect">
            <a:avLst/>
          </a:prstGeom>
          <a:noFill/>
          <a:ln/>
        </p:spPr>
        <p:txBody>
          <a:bodyPr wrap="square" rtlCol="0" anchor="ctr"/>
          <a:lstStyle/>
          <a:p>
            <a:pPr marL="0" indent="0" algn="ctr">
              <a:buNone/>
            </a:pPr>
            <a:r>
              <a:rPr lang="en-US" sz="1600" i="1" dirty="0">
                <a:solidFill>
                  <a:srgbClr val="028090"/>
                </a:solidFill>
                <a:latin typeface="Calibri" pitchFamily="34" charset="0"/>
                <a:ea typeface="Calibri" pitchFamily="34" charset="-122"/>
                <a:cs typeface="Calibri" pitchFamily="34" charset="-120"/>
              </a:rPr>
              <a:t>We didn't get it right the first time — and that's the story worth telling.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buNone/>
            </a:pPr>
            <a:r>
              <a:rPr lang="en-US" sz="3200" b="1" dirty="0">
                <a:solidFill>
                  <a:srgbClr val="1F2933"/>
                </a:solidFill>
                <a:latin typeface="Cambria" pitchFamily="34" charset="0"/>
                <a:ea typeface="Cambria" pitchFamily="34" charset="-122"/>
                <a:cs typeface="Cambria" pitchFamily="34" charset="-120"/>
              </a:rPr>
              <a:t>Challenge 1 — The Housing Model Learned Geography</a:t>
            </a:r>
            <a:endParaRPr lang="en-US" sz="3200" dirty="0"/>
          </a:p>
        </p:txBody>
      </p:sp>
      <p:graphicFrame>
        <p:nvGraphicFramePr>
          <p:cNvPr id="3" name="Chart 0"/>
          <p:cNvGraphicFramePr/>
          <p:nvPr/>
        </p:nvGraphicFramePr>
        <p:xfrm>
          <a:off x="640080" y="1463040"/>
          <a:ext cx="57607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6766560" y="1645920"/>
            <a:ext cx="4846320" cy="4023360"/>
          </a:xfrm>
          <a:prstGeom prst="rect">
            <a:avLst/>
          </a:prstGeom>
          <a:noFill/>
          <a:ln/>
        </p:spPr>
        <p:txBody>
          <a:bodyPr wrap="square" rtlCol="0" anchor="ctr"/>
          <a:lstStyle/>
          <a:p>
            <a:pPr marL="0" indent="0">
              <a:lnSpc>
                <a:spcPct val="112000"/>
              </a:lnSpc>
              <a:buNone/>
            </a:pPr>
            <a:r>
              <a:rPr lang="en-US" sz="1600" dirty="0">
                <a:solidFill>
                  <a:srgbClr val="1F2933"/>
                </a:solidFill>
                <a:latin typeface="Calibri" pitchFamily="34" charset="0"/>
                <a:ea typeface="Calibri" pitchFamily="34" charset="-122"/>
                <a:cs typeface="Calibri" pitchFamily="34" charset="-120"/>
              </a:rPr>
              <a:t>67.4% accuracy vs. an 85.3% baseline — worse than guessing.
One feature, </a:t>
            </a:r>
            <a:r>
              <a:rPr lang="en-US" sz="1600" b="1" dirty="0">
                <a:solidFill>
                  <a:srgbClr val="C0392B"/>
                </a:solidFill>
                <a:latin typeface="Calibri" pitchFamily="34" charset="0"/>
                <a:ea typeface="Calibri" pitchFamily="34" charset="-122"/>
                <a:cs typeface="Calibri" pitchFamily="34" charset="-120"/>
              </a:rPr>
              <a:t>state</a:t>
            </a:r>
            <a:r>
              <a:rPr lang="en-US" sz="1600" dirty="0">
                <a:solidFill>
                  <a:srgbClr val="1F2933"/>
                </a:solidFill>
                <a:latin typeface="Calibri" pitchFamily="34" charset="0"/>
                <a:ea typeface="Calibri" pitchFamily="34" charset="-122"/>
                <a:cs typeface="Calibri" pitchFamily="34" charset="-120"/>
              </a:rPr>
              <a:t>, drove 89% of every decision. The model wasn't judging house condition. It was memorizing which states have more “bad sidewalk” labels.
</a:t>
            </a:r>
            <a:r>
              <a:rPr lang="en-US" sz="1600" b="1" dirty="0">
                <a:solidFill>
                  <a:srgbClr val="028090"/>
                </a:solidFill>
                <a:latin typeface="Calibri" pitchFamily="34" charset="0"/>
                <a:ea typeface="Calibri" pitchFamily="34" charset="-122"/>
                <a:cs typeface="Calibri" pitchFamily="34" charset="-120"/>
              </a:rPr>
              <a:t>This is a bias problem, not a tuning problem.</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buNone/>
            </a:pPr>
            <a:r>
              <a:rPr lang="en-US" sz="3400" b="1" dirty="0">
                <a:solidFill>
                  <a:srgbClr val="1F2933"/>
                </a:solidFill>
                <a:latin typeface="Cambria" pitchFamily="34" charset="0"/>
                <a:ea typeface="Cambria" pitchFamily="34" charset="-122"/>
                <a:cs typeface="Cambria" pitchFamily="34" charset="-120"/>
              </a:rPr>
              <a:t>The Fix Revealed the Real Finding</a:t>
            </a:r>
            <a:endParaRPr lang="en-US" sz="3400" dirty="0"/>
          </a:p>
        </p:txBody>
      </p:sp>
      <p:graphicFrame>
        <p:nvGraphicFramePr>
          <p:cNvPr id="3" name="Chart 0"/>
          <p:cNvGraphicFramePr/>
          <p:nvPr/>
        </p:nvGraphicFramePr>
        <p:xfrm>
          <a:off x="640080" y="1417320"/>
          <a:ext cx="640080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406640" y="1554480"/>
            <a:ext cx="4206240" cy="2011680"/>
          </a:xfrm>
          <a:prstGeom prst="roundRect">
            <a:avLst>
              <a:gd name="adj" fmla="val 5455"/>
            </a:avLst>
          </a:prstGeom>
          <a:solidFill>
            <a:srgbClr val="F4FAF9"/>
          </a:solidFill>
          <a:ln/>
        </p:spPr>
        <p:txBody>
          <a:bodyPr/>
          <a:lstStyle/>
          <a:p>
            <a:endParaRPr lang="en-US"/>
          </a:p>
        </p:txBody>
      </p:sp>
      <p:sp>
        <p:nvSpPr>
          <p:cNvPr id="5" name="Text 2"/>
          <p:cNvSpPr/>
          <p:nvPr/>
        </p:nvSpPr>
        <p:spPr>
          <a:xfrm>
            <a:off x="7635240" y="1691640"/>
            <a:ext cx="3749040" cy="1783080"/>
          </a:xfrm>
          <a:prstGeom prst="rect">
            <a:avLst/>
          </a:prstGeom>
          <a:noFill/>
          <a:ln/>
        </p:spPr>
        <p:txBody>
          <a:bodyPr wrap="square" rtlCol="0" anchor="ctr"/>
          <a:lstStyle/>
          <a:p>
            <a:pPr marL="0" indent="0">
              <a:buNone/>
            </a:pPr>
            <a:r>
              <a:rPr lang="en-US" sz="1350" b="1" dirty="0">
                <a:solidFill>
                  <a:srgbClr val="028090"/>
                </a:solidFill>
                <a:latin typeface="Calibri" pitchFamily="34" charset="0"/>
                <a:ea typeface="Calibri" pitchFamily="34" charset="-122"/>
                <a:cs typeface="Calibri" pitchFamily="34" charset="-120"/>
              </a:rPr>
              <a:t>Housing: </a:t>
            </a:r>
            <a:r>
              <a:rPr lang="en-US" sz="1350" dirty="0">
                <a:solidFill>
                  <a:srgbClr val="1F2933"/>
                </a:solidFill>
                <a:latin typeface="Calibri" pitchFamily="34" charset="0"/>
                <a:ea typeface="Calibri" pitchFamily="34" charset="-122"/>
                <a:cs typeface="Calibri" pitchFamily="34" charset="-120"/>
              </a:rPr>
              <a:t>85.0% ties the 85.3% baseline. Recall on bad sidewalks: 0.01. Without state, no signal is left — and the raw data has no other features to add.</a:t>
            </a:r>
            <a:endParaRPr lang="en-US" sz="1350" dirty="0"/>
          </a:p>
        </p:txBody>
      </p:sp>
      <p:sp>
        <p:nvSpPr>
          <p:cNvPr id="6" name="Shape 3"/>
          <p:cNvSpPr/>
          <p:nvPr/>
        </p:nvSpPr>
        <p:spPr>
          <a:xfrm>
            <a:off x="7406640" y="3794760"/>
            <a:ext cx="4206240" cy="2011680"/>
          </a:xfrm>
          <a:prstGeom prst="roundRect">
            <a:avLst>
              <a:gd name="adj" fmla="val 5455"/>
            </a:avLst>
          </a:prstGeom>
          <a:solidFill>
            <a:srgbClr val="F4FAF9"/>
          </a:solidFill>
          <a:ln/>
        </p:spPr>
        <p:txBody>
          <a:bodyPr/>
          <a:lstStyle/>
          <a:p>
            <a:endParaRPr lang="en-US"/>
          </a:p>
        </p:txBody>
      </p:sp>
      <p:sp>
        <p:nvSpPr>
          <p:cNvPr id="7" name="Text 4"/>
          <p:cNvSpPr/>
          <p:nvPr/>
        </p:nvSpPr>
        <p:spPr>
          <a:xfrm>
            <a:off x="7635240" y="3931920"/>
            <a:ext cx="3749040" cy="1783080"/>
          </a:xfrm>
          <a:prstGeom prst="rect">
            <a:avLst/>
          </a:prstGeom>
          <a:noFill/>
          <a:ln/>
        </p:spPr>
        <p:txBody>
          <a:bodyPr wrap="square" rtlCol="0" anchor="ctr"/>
          <a:lstStyle/>
          <a:p>
            <a:pPr marL="0" indent="0">
              <a:buNone/>
            </a:pPr>
            <a:r>
              <a:rPr lang="en-US" sz="1350" b="1" dirty="0">
                <a:solidFill>
                  <a:srgbClr val="028090"/>
                </a:solidFill>
                <a:latin typeface="Calibri" pitchFamily="34" charset="0"/>
                <a:ea typeface="Calibri" pitchFamily="34" charset="-122"/>
                <a:cs typeface="Calibri" pitchFamily="34" charset="-120"/>
              </a:rPr>
              <a:t>A null result is a result. </a:t>
            </a:r>
            <a:r>
              <a:rPr lang="en-US" sz="1350" dirty="0">
                <a:solidFill>
                  <a:srgbClr val="1F2933"/>
                </a:solidFill>
                <a:latin typeface="Calibri" pitchFamily="34" charset="0"/>
                <a:ea typeface="Calibri" pitchFamily="34" charset="-122"/>
                <a:cs typeface="Calibri" pitchFamily="34" charset="-120"/>
              </a:rPr>
              <a:t>“This dataset can't predict sidewalk condition, and here's why” is our headline bias finding — not a failure to hide.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buNone/>
            </a:pPr>
            <a:r>
              <a:rPr lang="en-US" sz="3400" b="1" dirty="0">
                <a:solidFill>
                  <a:srgbClr val="1F2933"/>
                </a:solidFill>
                <a:latin typeface="Cambria" pitchFamily="34" charset="0"/>
                <a:ea typeface="Cambria" pitchFamily="34" charset="-122"/>
                <a:cs typeface="Cambria" pitchFamily="34" charset="-120"/>
              </a:rPr>
              <a:t>Challenge 2 — Confidently Wrong, Not Unsure</a:t>
            </a:r>
            <a:endParaRPr lang="en-US" sz="3400" dirty="0"/>
          </a:p>
        </p:txBody>
      </p:sp>
      <p:sp>
        <p:nvSpPr>
          <p:cNvPr id="3" name="Shape 1"/>
          <p:cNvSpPr/>
          <p:nvPr/>
        </p:nvSpPr>
        <p:spPr>
          <a:xfrm>
            <a:off x="640080" y="1508760"/>
            <a:ext cx="5440680" cy="4206240"/>
          </a:xfrm>
          <a:prstGeom prst="roundRect">
            <a:avLst>
              <a:gd name="adj" fmla="val 2609"/>
            </a:avLst>
          </a:prstGeom>
          <a:solidFill>
            <a:srgbClr val="F4FAF9"/>
          </a:solidFill>
          <a:ln/>
        </p:spPr>
        <p:txBody>
          <a:bodyPr/>
          <a:lstStyle/>
          <a:p>
            <a:endParaRPr lang="en-US"/>
          </a:p>
        </p:txBody>
      </p:sp>
      <p:sp>
        <p:nvSpPr>
          <p:cNvPr id="4" name="Shape 2"/>
          <p:cNvSpPr/>
          <p:nvPr/>
        </p:nvSpPr>
        <p:spPr>
          <a:xfrm>
            <a:off x="914400" y="1783080"/>
            <a:ext cx="594360" cy="594360"/>
          </a:xfrm>
          <a:prstGeom prst="ellipse">
            <a:avLst/>
          </a:prstGeom>
          <a:solidFill>
            <a:srgbClr val="FFFFF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57046" y="1925726"/>
            <a:ext cx="309067" cy="309067"/>
          </a:xfrm>
          <a:prstGeom prst="rect">
            <a:avLst/>
          </a:prstGeom>
        </p:spPr>
      </p:pic>
      <p:sp>
        <p:nvSpPr>
          <p:cNvPr id="6" name="Text 3"/>
          <p:cNvSpPr/>
          <p:nvPr/>
        </p:nvSpPr>
        <p:spPr>
          <a:xfrm>
            <a:off x="1691640" y="1828800"/>
            <a:ext cx="4206240" cy="54864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Attempt 1: move the threshold — failed</a:t>
            </a:r>
            <a:endParaRPr lang="en-US" sz="1600" dirty="0"/>
          </a:p>
        </p:txBody>
      </p:sp>
      <p:sp>
        <p:nvSpPr>
          <p:cNvPr id="7" name="Text 4"/>
          <p:cNvSpPr/>
          <p:nvPr/>
        </p:nvSpPr>
        <p:spPr>
          <a:xfrm>
            <a:off x="914400" y="2514600"/>
            <a:ext cx="4846320" cy="1005840"/>
          </a:xfrm>
          <a:prstGeom prst="rect">
            <a:avLst/>
          </a:prstGeom>
          <a:noFill/>
          <a:ln/>
        </p:spPr>
        <p:txBody>
          <a:bodyPr wrap="square" rtlCol="0" anchor="ctr"/>
          <a:lstStyle/>
          <a:p>
            <a:pPr marL="0" indent="0">
              <a:buNone/>
            </a:pPr>
            <a:r>
              <a:rPr lang="en-US" sz="1350" dirty="0">
                <a:solidFill>
                  <a:srgbClr val="1F2933"/>
                </a:solidFill>
                <a:latin typeface="Calibri" pitchFamily="34" charset="0"/>
                <a:ea typeface="Calibri" pitchFamily="34" charset="-122"/>
                <a:cs typeface="Calibri" pitchFamily="34" charset="-120"/>
              </a:rPr>
              <a:t>PMR over-flagged “not accessible” (precision 0.55). We raised the cutoff from 0.5 to 0.65. Nothing changed.</a:t>
            </a:r>
            <a:endParaRPr lang="en-US" sz="1350" dirty="0"/>
          </a:p>
        </p:txBody>
      </p:sp>
      <p:sp>
        <p:nvSpPr>
          <p:cNvPr id="8" name="Text 5"/>
          <p:cNvSpPr/>
          <p:nvPr/>
        </p:nvSpPr>
        <p:spPr>
          <a:xfrm>
            <a:off x="914400" y="3566160"/>
            <a:ext cx="4846320" cy="777240"/>
          </a:xfrm>
          <a:prstGeom prst="rect">
            <a:avLst/>
          </a:prstGeom>
          <a:noFill/>
          <a:ln/>
        </p:spPr>
        <p:txBody>
          <a:bodyPr wrap="square" rtlCol="0" anchor="ctr"/>
          <a:lstStyle/>
          <a:p>
            <a:pPr marL="0" indent="0">
              <a:buNone/>
            </a:pPr>
            <a:r>
              <a:rPr lang="en-US" sz="4000" b="1" dirty="0">
                <a:solidFill>
                  <a:srgbClr val="028090"/>
                </a:solidFill>
                <a:latin typeface="Cambria" pitchFamily="34" charset="0"/>
                <a:ea typeface="Cambria" pitchFamily="34" charset="-122"/>
                <a:cs typeface="Cambria" pitchFamily="34" charset="-120"/>
              </a:rPr>
              <a:t>14 / 14,455</a:t>
            </a:r>
            <a:endParaRPr lang="en-US" sz="4000" dirty="0"/>
          </a:p>
        </p:txBody>
      </p:sp>
      <p:sp>
        <p:nvSpPr>
          <p:cNvPr id="9" name="Text 6"/>
          <p:cNvSpPr/>
          <p:nvPr/>
        </p:nvSpPr>
        <p:spPr>
          <a:xfrm>
            <a:off x="914400" y="4343400"/>
            <a:ext cx="4892040" cy="1280160"/>
          </a:xfrm>
          <a:prstGeom prst="rect">
            <a:avLst/>
          </a:prstGeom>
          <a:noFill/>
          <a:ln/>
        </p:spPr>
        <p:txBody>
          <a:bodyPr wrap="square" rtlCol="0" anchor="ctr"/>
          <a:lstStyle/>
          <a:p>
            <a:pPr marL="0" indent="0">
              <a:buNone/>
            </a:pPr>
            <a:r>
              <a:rPr lang="en-US" sz="1250" dirty="0">
                <a:solidFill>
                  <a:srgbClr val="5B6770"/>
                </a:solidFill>
                <a:latin typeface="Calibri" pitchFamily="34" charset="0"/>
                <a:ea typeface="Calibri" pitchFamily="34" charset="-122"/>
                <a:cs typeface="Calibri" pitchFamily="34" charset="-120"/>
              </a:rPr>
              <a:t>test predictions sat anywhere near the cutoff. Probabilities were pinned at 0 or 1 — the model wasn't hesitating, it was confidently wrong. A threshold can't fix confident mistakes.</a:t>
            </a:r>
            <a:endParaRPr lang="en-US" sz="1250" dirty="0"/>
          </a:p>
        </p:txBody>
      </p:sp>
      <p:sp>
        <p:nvSpPr>
          <p:cNvPr id="10" name="Shape 7"/>
          <p:cNvSpPr/>
          <p:nvPr/>
        </p:nvSpPr>
        <p:spPr>
          <a:xfrm>
            <a:off x="6355080" y="1508760"/>
            <a:ext cx="5440680" cy="4206240"/>
          </a:xfrm>
          <a:prstGeom prst="roundRect">
            <a:avLst>
              <a:gd name="adj" fmla="val 2609"/>
            </a:avLst>
          </a:prstGeom>
          <a:solidFill>
            <a:srgbClr val="0A3A42"/>
          </a:solidFill>
          <a:ln/>
        </p:spPr>
        <p:txBody>
          <a:bodyPr/>
          <a:lstStyle/>
          <a:p>
            <a:endParaRPr lang="en-US"/>
          </a:p>
        </p:txBody>
      </p:sp>
      <p:sp>
        <p:nvSpPr>
          <p:cNvPr id="11" name="Shape 8"/>
          <p:cNvSpPr/>
          <p:nvPr/>
        </p:nvSpPr>
        <p:spPr>
          <a:xfrm>
            <a:off x="6629400" y="1783080"/>
            <a:ext cx="594360" cy="594360"/>
          </a:xfrm>
          <a:prstGeom prst="ellipse">
            <a:avLst/>
          </a:prstGeom>
          <a:solidFill>
            <a:srgbClr val="02C39A"/>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772046" y="1925726"/>
            <a:ext cx="309067" cy="309067"/>
          </a:xfrm>
          <a:prstGeom prst="rect">
            <a:avLst/>
          </a:prstGeom>
        </p:spPr>
      </p:pic>
      <p:sp>
        <p:nvSpPr>
          <p:cNvPr id="13" name="Text 9"/>
          <p:cNvSpPr/>
          <p:nvPr/>
        </p:nvSpPr>
        <p:spPr>
          <a:xfrm>
            <a:off x="7406640" y="1828800"/>
            <a:ext cx="4206240" cy="548640"/>
          </a:xfrm>
          <a:prstGeom prst="rect">
            <a:avLst/>
          </a:prstGeom>
          <a:noFill/>
          <a:ln/>
        </p:spPr>
        <p:txBody>
          <a:bodyPr wrap="square" rtlCol="0" anchor="ctr"/>
          <a:lstStyle/>
          <a:p>
            <a:pPr marL="0" indent="0">
              <a:buNone/>
            </a:pPr>
            <a:r>
              <a:rPr lang="en-US" sz="1600" b="1" dirty="0">
                <a:solidFill>
                  <a:srgbClr val="02C39A"/>
                </a:solidFill>
                <a:latin typeface="Calibri" pitchFamily="34" charset="0"/>
                <a:ea typeface="Calibri" pitchFamily="34" charset="-122"/>
                <a:cs typeface="Calibri" pitchFamily="34" charset="-120"/>
              </a:rPr>
              <a:t>Attempt 2: fix the features — worked</a:t>
            </a:r>
            <a:endParaRPr lang="en-US" sz="1600" dirty="0"/>
          </a:p>
        </p:txBody>
      </p:sp>
      <p:sp>
        <p:nvSpPr>
          <p:cNvPr id="14" name="Text 10"/>
          <p:cNvSpPr/>
          <p:nvPr/>
        </p:nvSpPr>
        <p:spPr>
          <a:xfrm>
            <a:off x="6629400" y="2514600"/>
            <a:ext cx="4846320" cy="1005840"/>
          </a:xfrm>
          <a:prstGeom prst="rect">
            <a:avLst/>
          </a:prstGeom>
          <a:noFill/>
          <a:ln/>
        </p:spPr>
        <p:txBody>
          <a:bodyPr wrap="square" rtlCol="0" anchor="ctr"/>
          <a:lstStyle/>
          <a:p>
            <a:pPr marL="0" indent="0">
              <a:buNone/>
            </a:pPr>
            <a:r>
              <a:rPr lang="en-US" sz="1350" dirty="0">
                <a:solidFill>
                  <a:srgbClr val="E6F2F1"/>
                </a:solidFill>
                <a:latin typeface="Calibri" pitchFamily="34" charset="0"/>
                <a:ea typeface="Calibri" pitchFamily="34" charset="-122"/>
                <a:cs typeface="Calibri" pitchFamily="34" charset="-120"/>
              </a:rPr>
              <a:t>Our label rule = width + curb height. But the model only ever saw width — it was guessing the curb half blind.</a:t>
            </a:r>
            <a:endParaRPr lang="en-US" sz="1350" dirty="0"/>
          </a:p>
        </p:txBody>
      </p:sp>
      <p:sp>
        <p:nvSpPr>
          <p:cNvPr id="15" name="Text 11"/>
          <p:cNvSpPr/>
          <p:nvPr/>
        </p:nvSpPr>
        <p:spPr>
          <a:xfrm>
            <a:off x="6629400" y="3611880"/>
            <a:ext cx="4846320" cy="1188720"/>
          </a:xfrm>
          <a:prstGeom prst="rect">
            <a:avLst/>
          </a:prstGeom>
          <a:noFill/>
          <a:ln/>
        </p:spPr>
        <p:txBody>
          <a:bodyPr wrap="square" rtlCol="0" anchor="ctr"/>
          <a:lstStyle/>
          <a:p>
            <a:pPr marL="0" indent="0">
              <a:buNone/>
            </a:pPr>
            <a:r>
              <a:rPr lang="en-US" sz="1350" dirty="0">
                <a:solidFill>
                  <a:srgbClr val="E6F2F1"/>
                </a:solidFill>
                <a:latin typeface="Calibri" pitchFamily="34" charset="0"/>
                <a:ea typeface="Calibri" pitchFamily="34" charset="-122"/>
                <a:cs typeface="Calibri" pitchFamily="34" charset="-120"/>
              </a:rPr>
              <a:t>We added curb_height_max and a missing-value flag (74% of rows have no curb measurement — the missingness itself is information).</a:t>
            </a:r>
            <a:endParaRPr lang="en-US" sz="1350" dirty="0"/>
          </a:p>
        </p:txBody>
      </p:sp>
      <p:sp>
        <p:nvSpPr>
          <p:cNvPr id="16" name="Text 12"/>
          <p:cNvSpPr/>
          <p:nvPr/>
        </p:nvSpPr>
        <p:spPr>
          <a:xfrm>
            <a:off x="6629400" y="4892040"/>
            <a:ext cx="4846320" cy="731520"/>
          </a:xfrm>
          <a:prstGeom prst="rect">
            <a:avLst/>
          </a:prstGeom>
          <a:noFill/>
          <a:ln/>
        </p:spPr>
        <p:txBody>
          <a:bodyPr wrap="square" rtlCol="0" anchor="ctr"/>
          <a:lstStyle/>
          <a:p>
            <a:pPr marL="0" indent="0">
              <a:buNone/>
            </a:pPr>
            <a:r>
              <a:rPr lang="en-US" sz="1300" i="1" dirty="0">
                <a:solidFill>
                  <a:srgbClr val="02C39A"/>
                </a:solidFill>
                <a:latin typeface="Calibri" pitchFamily="34" charset="0"/>
                <a:ea typeface="Calibri" pitchFamily="34" charset="-122"/>
                <a:cs typeface="Calibri" pitchFamily="34" charset="-120"/>
              </a:rPr>
              <a:t>Lesson: check the probability distribution before reaching for a threshold.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buNone/>
            </a:pPr>
            <a:r>
              <a:rPr lang="en-US" sz="3400" b="1" dirty="0">
                <a:solidFill>
                  <a:srgbClr val="1F2933"/>
                </a:solidFill>
                <a:latin typeface="Cambria" pitchFamily="34" charset="0"/>
                <a:ea typeface="Cambria" pitchFamily="34" charset="-122"/>
                <a:cs typeface="Cambria" pitchFamily="34" charset="-120"/>
              </a:rPr>
              <a:t>Evaluation — Read the Numbers Honestly</a:t>
            </a:r>
            <a:endParaRPr lang="en-US" sz="3400" dirty="0"/>
          </a:p>
        </p:txBody>
      </p:sp>
      <p:graphicFrame>
        <p:nvGraphicFramePr>
          <p:cNvPr id="3" name="Chart 0"/>
          <p:cNvGraphicFramePr/>
          <p:nvPr/>
        </p:nvGraphicFramePr>
        <p:xfrm>
          <a:off x="640080" y="1463040"/>
          <a:ext cx="576072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6766560" y="1554480"/>
            <a:ext cx="4846320" cy="4206240"/>
          </a:xfrm>
          <a:prstGeom prst="rect">
            <a:avLst/>
          </a:prstGeom>
          <a:noFill/>
          <a:ln/>
        </p:spPr>
        <p:txBody>
          <a:bodyPr wrap="square" rtlCol="0" anchor="ctr"/>
          <a:lstStyle/>
          <a:p>
            <a:pPr marL="0" indent="0">
              <a:lnSpc>
                <a:spcPct val="110000"/>
              </a:lnSpc>
              <a:buNone/>
            </a:pPr>
            <a:r>
              <a:rPr lang="en-US" sz="1800" b="1" dirty="0">
                <a:solidFill>
                  <a:srgbClr val="028090"/>
                </a:solidFill>
                <a:latin typeface="Calibri" pitchFamily="34" charset="0"/>
                <a:ea typeface="Calibri" pitchFamily="34" charset="-122"/>
                <a:cs typeface="Calibri" pitchFamily="34" charset="-120"/>
              </a:rPr>
              <a:t>PMR: 100% accuracy.
</a:t>
            </a:r>
            <a:r>
              <a:rPr lang="en-US" sz="1450" dirty="0">
                <a:solidFill>
                  <a:srgbClr val="1F2933"/>
                </a:solidFill>
                <a:latin typeface="Calibri" pitchFamily="34" charset="0"/>
                <a:ea typeface="Calibri" pitchFamily="34" charset="-122"/>
                <a:cs typeface="Calibri" pitchFamily="34" charset="-120"/>
              </a:rPr>
              <a:t>Expected, not impressive. The two label inputs (width + curb height) now top the chart — the model recovers the rule we wrote. It proves the pipeline is consistent, nothing more.
</a:t>
            </a:r>
            <a:r>
              <a:rPr lang="en-US" sz="1800" b="1" dirty="0">
                <a:solidFill>
                  <a:srgbClr val="028090"/>
                </a:solidFill>
                <a:latin typeface="Calibri" pitchFamily="34" charset="0"/>
                <a:ea typeface="Calibri" pitchFamily="34" charset="-122"/>
                <a:cs typeface="Calibri" pitchFamily="34" charset="-120"/>
              </a:rPr>
              <a:t>Housing: 85.0%.
</a:t>
            </a:r>
            <a:r>
              <a:rPr lang="en-US" sz="1450" dirty="0">
                <a:solidFill>
                  <a:srgbClr val="1F2933"/>
                </a:solidFill>
                <a:latin typeface="Calibri" pitchFamily="34" charset="0"/>
                <a:ea typeface="Calibri" pitchFamily="34" charset="-122"/>
                <a:cs typeface="Calibri" pitchFamily="34" charset="-120"/>
              </a:rPr>
              <a:t>That's the majority-class rate, not skill. The honest conclusion stands: house-level features alone can't predict sidewalk condition.</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640080" y="457200"/>
            <a:ext cx="10058400" cy="731520"/>
          </a:xfrm>
          <a:prstGeom prst="rect">
            <a:avLst/>
          </a:prstGeom>
          <a:noFill/>
          <a:ln/>
        </p:spPr>
        <p:txBody>
          <a:bodyPr wrap="square"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Results, In Plain Language</a:t>
            </a:r>
            <a:endParaRPr lang="en-US" sz="4000" dirty="0"/>
          </a:p>
        </p:txBody>
      </p:sp>
      <p:sp>
        <p:nvSpPr>
          <p:cNvPr id="3" name="Shape 3"/>
          <p:cNvSpPr/>
          <p:nvPr/>
        </p:nvSpPr>
        <p:spPr>
          <a:xfrm>
            <a:off x="640080" y="1371600"/>
            <a:ext cx="5440680" cy="2263140"/>
          </a:xfrm>
          <a:prstGeom prst="roundRect">
            <a:avLst>
              <a:gd name="adj" fmla="val 2449"/>
            </a:avLst>
          </a:prstGeom>
          <a:solidFill>
            <a:srgbClr val="F4FAF9"/>
          </a:solidFill>
          <a:ln/>
        </p:spPr>
        <p:txBody>
          <a:bodyPr/>
          <a:lstStyle/>
          <a:p>
            <a:endParaRPr lang="en-US"/>
          </a:p>
        </p:txBody>
      </p:sp>
      <p:sp>
        <p:nvSpPr>
          <p:cNvPr id="4" name="Text 4"/>
          <p:cNvSpPr/>
          <p:nvPr/>
        </p:nvSpPr>
        <p:spPr>
          <a:xfrm>
            <a:off x="914400" y="1508760"/>
            <a:ext cx="4892040" cy="411480"/>
          </a:xfrm>
          <a:prstGeom prst="rect">
            <a:avLst/>
          </a:prstGeom>
          <a:noFill/>
          <a:ln/>
        </p:spPr>
        <p:txBody>
          <a:bodyPr wrap="square" rtlCol="0" anchor="ctr"/>
          <a:lstStyle/>
          <a:p>
            <a:pPr marL="0" indent="0">
              <a:buNone/>
            </a:pPr>
            <a:r>
              <a:rPr lang="en-US" sz="1600" b="1" dirty="0">
                <a:solidFill>
                  <a:srgbClr val="00A896"/>
                </a:solidFill>
                <a:latin typeface="Calibri" pitchFamily="34" charset="0"/>
                <a:ea typeface="Calibri" pitchFamily="34" charset="-122"/>
                <a:cs typeface="Calibri" pitchFamily="34" charset="-120"/>
              </a:rPr>
              <a:t>What were the results?</a:t>
            </a:r>
            <a:endParaRPr lang="en-US" sz="1600" dirty="0"/>
          </a:p>
        </p:txBody>
      </p:sp>
      <p:sp>
        <p:nvSpPr>
          <p:cNvPr id="5" name="Text 5"/>
          <p:cNvSpPr/>
          <p:nvPr/>
        </p:nvSpPr>
        <p:spPr>
          <a:xfrm>
            <a:off x="914400" y="1965960"/>
            <a:ext cx="4892040" cy="1531620"/>
          </a:xfrm>
          <a:prstGeom prst="rect">
            <a:avLst/>
          </a:prstGeom>
          <a:noFill/>
          <a:ln/>
        </p:spPr>
        <p:txBody>
          <a:bodyPr wrap="square" rtlCol="0" anchor="t"/>
          <a:lstStyle/>
          <a:p>
            <a:pPr marL="0" indent="0">
              <a:buNone/>
            </a:pPr>
            <a:r>
              <a:rPr lang="en-US" sz="1350" dirty="0">
                <a:solidFill>
                  <a:srgbClr val="1F2933"/>
                </a:solidFill>
                <a:latin typeface="Calibri" pitchFamily="34" charset="0"/>
                <a:ea typeface="Calibri" pitchFamily="34" charset="-122"/>
                <a:cs typeface="Calibri" pitchFamily="34" charset="-120"/>
              </a:rPr>
              <a:t>PMR (Amsterdam): 100% accuracy after adding curb height. Housing (US): 85.0% vs. an 85.3% majority baseline once state was removed — recall on bad sidewalks just 0.01. Address search: FAISS retrieval works and ships in the live app.</a:t>
            </a:r>
            <a:endParaRPr lang="en-US" sz="1350" dirty="0"/>
          </a:p>
        </p:txBody>
      </p:sp>
      <p:sp>
        <p:nvSpPr>
          <p:cNvPr id="6" name="Shape 6"/>
          <p:cNvSpPr/>
          <p:nvPr/>
        </p:nvSpPr>
        <p:spPr>
          <a:xfrm>
            <a:off x="6355080" y="1371600"/>
            <a:ext cx="5440680" cy="2263140"/>
          </a:xfrm>
          <a:prstGeom prst="roundRect">
            <a:avLst>
              <a:gd name="adj" fmla="val 2449"/>
            </a:avLst>
          </a:prstGeom>
          <a:solidFill>
            <a:srgbClr val="F4FAF9"/>
          </a:solidFill>
          <a:ln/>
        </p:spPr>
        <p:txBody>
          <a:bodyPr/>
          <a:lstStyle/>
          <a:p>
            <a:endParaRPr lang="en-US"/>
          </a:p>
        </p:txBody>
      </p:sp>
      <p:sp>
        <p:nvSpPr>
          <p:cNvPr id="7" name="Text 7"/>
          <p:cNvSpPr/>
          <p:nvPr/>
        </p:nvSpPr>
        <p:spPr>
          <a:xfrm>
            <a:off x="6629400" y="1508760"/>
            <a:ext cx="4892040" cy="411480"/>
          </a:xfrm>
          <a:prstGeom prst="rect">
            <a:avLst/>
          </a:prstGeom>
          <a:noFill/>
          <a:ln/>
        </p:spPr>
        <p:txBody>
          <a:bodyPr wrap="square" rtlCol="0" anchor="ctr"/>
          <a:lstStyle/>
          <a:p>
            <a:pPr marL="0" indent="0">
              <a:buNone/>
            </a:pPr>
            <a:r>
              <a:rPr lang="en-US" sz="1600" b="1" dirty="0">
                <a:solidFill>
                  <a:srgbClr val="00A896"/>
                </a:solidFill>
                <a:latin typeface="Calibri" pitchFamily="34" charset="0"/>
                <a:ea typeface="Calibri" pitchFamily="34" charset="-122"/>
                <a:cs typeface="Calibri" pitchFamily="34" charset="-120"/>
              </a:rPr>
              <a:t>What do the results mean?</a:t>
            </a:r>
            <a:endParaRPr lang="en-US" sz="1600" dirty="0"/>
          </a:p>
        </p:txBody>
      </p:sp>
      <p:sp>
        <p:nvSpPr>
          <p:cNvPr id="8" name="Text 8"/>
          <p:cNvSpPr/>
          <p:nvPr/>
        </p:nvSpPr>
        <p:spPr>
          <a:xfrm>
            <a:off x="6629400" y="1965960"/>
            <a:ext cx="4892040" cy="1531620"/>
          </a:xfrm>
          <a:prstGeom prst="rect">
            <a:avLst/>
          </a:prstGeom>
          <a:noFill/>
          <a:ln/>
        </p:spPr>
        <p:txBody>
          <a:bodyPr wrap="square" rtlCol="0" anchor="t"/>
          <a:lstStyle/>
          <a:p>
            <a:pPr marL="0" indent="0">
              <a:buNone/>
            </a:pPr>
            <a:r>
              <a:rPr lang="en-US" sz="1350" dirty="0">
                <a:solidFill>
                  <a:srgbClr val="1F2933"/>
                </a:solidFill>
                <a:latin typeface="Calibri" pitchFamily="34" charset="0"/>
                <a:ea typeface="Calibri" pitchFamily="34" charset="-122"/>
                <a:cs typeface="Calibri" pitchFamily="34" charset="-120"/>
              </a:rPr>
              <a:t>The PMR score means the model consistently recovers the width + curb rule we wrote — proof the pipeline works, not superhuman skill. The Housing tie with the baseline is an honest null result: house-level features alone can’t predict sidewalk condition.</a:t>
            </a:r>
            <a:endParaRPr lang="en-US" sz="1350" dirty="0"/>
          </a:p>
        </p:txBody>
      </p:sp>
      <p:sp>
        <p:nvSpPr>
          <p:cNvPr id="9" name="Shape 9"/>
          <p:cNvSpPr/>
          <p:nvPr/>
        </p:nvSpPr>
        <p:spPr>
          <a:xfrm>
            <a:off x="640080" y="3863340"/>
            <a:ext cx="5440680" cy="2263140"/>
          </a:xfrm>
          <a:prstGeom prst="roundRect">
            <a:avLst>
              <a:gd name="adj" fmla="val 2449"/>
            </a:avLst>
          </a:prstGeom>
          <a:solidFill>
            <a:srgbClr val="F4FAF9"/>
          </a:solidFill>
          <a:ln/>
        </p:spPr>
        <p:txBody>
          <a:bodyPr/>
          <a:lstStyle/>
          <a:p>
            <a:endParaRPr lang="en-US"/>
          </a:p>
        </p:txBody>
      </p:sp>
      <p:sp>
        <p:nvSpPr>
          <p:cNvPr id="10" name="Text 10"/>
          <p:cNvSpPr/>
          <p:nvPr/>
        </p:nvSpPr>
        <p:spPr>
          <a:xfrm>
            <a:off x="914400" y="4000500"/>
            <a:ext cx="4892040" cy="411480"/>
          </a:xfrm>
          <a:prstGeom prst="rect">
            <a:avLst/>
          </a:prstGeom>
          <a:noFill/>
          <a:ln/>
        </p:spPr>
        <p:txBody>
          <a:bodyPr wrap="square" rtlCol="0" anchor="ctr"/>
          <a:lstStyle/>
          <a:p>
            <a:pPr marL="0" indent="0">
              <a:buNone/>
            </a:pPr>
            <a:r>
              <a:rPr lang="en-US" sz="1600" b="1" dirty="0">
                <a:solidFill>
                  <a:srgbClr val="00A896"/>
                </a:solidFill>
                <a:latin typeface="Calibri" pitchFamily="34" charset="0"/>
                <a:ea typeface="Calibri" pitchFamily="34" charset="-122"/>
                <a:cs typeface="Calibri" pitchFamily="34" charset="-120"/>
              </a:rPr>
              <a:t>How did we get them?</a:t>
            </a:r>
            <a:endParaRPr lang="en-US" sz="1600" dirty="0"/>
          </a:p>
        </p:txBody>
      </p:sp>
      <p:sp>
        <p:nvSpPr>
          <p:cNvPr id="11" name="Text 11"/>
          <p:cNvSpPr/>
          <p:nvPr/>
        </p:nvSpPr>
        <p:spPr>
          <a:xfrm>
            <a:off x="914400" y="4457700"/>
            <a:ext cx="4892040" cy="1531620"/>
          </a:xfrm>
          <a:prstGeom prst="rect">
            <a:avLst/>
          </a:prstGeom>
          <a:noFill/>
          <a:ln/>
        </p:spPr>
        <p:txBody>
          <a:bodyPr wrap="square" rtlCol="0" anchor="t"/>
          <a:lstStyle/>
          <a:p>
            <a:pPr marL="0" indent="0">
              <a:buNone/>
            </a:pPr>
            <a:r>
              <a:rPr lang="en-US" sz="1350" dirty="0">
                <a:solidFill>
                  <a:srgbClr val="1F2933"/>
                </a:solidFill>
                <a:latin typeface="Calibri" pitchFamily="34" charset="0"/>
                <a:ea typeface="Calibri" pitchFamily="34" charset="-122"/>
                <a:cs typeface="Calibri" pitchFamily="34" charset="-120"/>
              </a:rPr>
              <a:t>The same recipe on both datasets: clean, encode, train a Random Forest, score on a held-out 20% test set, then audit feature importance. That audit — not the accuracy score — is what exposed the state bias and the missing curb feature.</a:t>
            </a:r>
            <a:endParaRPr lang="en-US" sz="1350" dirty="0"/>
          </a:p>
        </p:txBody>
      </p:sp>
      <p:sp>
        <p:nvSpPr>
          <p:cNvPr id="12" name="Shape 12"/>
          <p:cNvSpPr/>
          <p:nvPr/>
        </p:nvSpPr>
        <p:spPr>
          <a:xfrm>
            <a:off x="6355080" y="3863340"/>
            <a:ext cx="5440680" cy="2263140"/>
          </a:xfrm>
          <a:prstGeom prst="roundRect">
            <a:avLst>
              <a:gd name="adj" fmla="val 2449"/>
            </a:avLst>
          </a:prstGeom>
          <a:solidFill>
            <a:srgbClr val="F4FAF9"/>
          </a:solidFill>
          <a:ln/>
        </p:spPr>
        <p:txBody>
          <a:bodyPr/>
          <a:lstStyle/>
          <a:p>
            <a:endParaRPr lang="en-US"/>
          </a:p>
        </p:txBody>
      </p:sp>
      <p:sp>
        <p:nvSpPr>
          <p:cNvPr id="13" name="Text 13"/>
          <p:cNvSpPr/>
          <p:nvPr/>
        </p:nvSpPr>
        <p:spPr>
          <a:xfrm>
            <a:off x="6629400" y="4000500"/>
            <a:ext cx="4892040" cy="411480"/>
          </a:xfrm>
          <a:prstGeom prst="rect">
            <a:avLst/>
          </a:prstGeom>
          <a:noFill/>
          <a:ln/>
        </p:spPr>
        <p:txBody>
          <a:bodyPr wrap="square" rtlCol="0" anchor="ctr"/>
          <a:lstStyle/>
          <a:p>
            <a:pPr marL="0" indent="0">
              <a:buNone/>
            </a:pPr>
            <a:r>
              <a:rPr lang="en-US" sz="1600" b="1" dirty="0">
                <a:solidFill>
                  <a:srgbClr val="00A896"/>
                </a:solidFill>
                <a:latin typeface="Calibri" pitchFamily="34" charset="0"/>
                <a:ea typeface="Calibri" pitchFamily="34" charset="-122"/>
                <a:cs typeface="Calibri" pitchFamily="34" charset="-120"/>
              </a:rPr>
              <a:t>How accurate are they?</a:t>
            </a:r>
            <a:endParaRPr lang="en-US" sz="1600" dirty="0"/>
          </a:p>
        </p:txBody>
      </p:sp>
      <p:sp>
        <p:nvSpPr>
          <p:cNvPr id="14" name="Text 14"/>
          <p:cNvSpPr/>
          <p:nvPr/>
        </p:nvSpPr>
        <p:spPr>
          <a:xfrm>
            <a:off x="6629400" y="4457700"/>
            <a:ext cx="4892040" cy="1531620"/>
          </a:xfrm>
          <a:prstGeom prst="rect">
            <a:avLst/>
          </a:prstGeom>
          <a:noFill/>
          <a:ln/>
        </p:spPr>
        <p:txBody>
          <a:bodyPr wrap="square" rtlCol="0" anchor="t"/>
          <a:lstStyle/>
          <a:p>
            <a:pPr marL="0" indent="0">
              <a:buNone/>
            </a:pPr>
            <a:r>
              <a:rPr lang="en-US" sz="1350" dirty="0">
                <a:solidFill>
                  <a:srgbClr val="1F2933"/>
                </a:solidFill>
                <a:latin typeface="Calibri" pitchFamily="34" charset="0"/>
                <a:ea typeface="Calibri" pitchFamily="34" charset="-122"/>
                <a:cs typeface="Calibri" pitchFamily="34" charset="-120"/>
              </a:rPr>
              <a:t>PMR: 100% on 14,455 held-out segments — but scored against our own rule-based label; only 50 verified labels exist, too few to test on. Housing: no better than always guessing “ok.” We trust the audited pipeline more than any single number.</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A3A42"/>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73152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Live Demo</a:t>
            </a:r>
            <a:endParaRPr lang="en-US" sz="4000" dirty="0"/>
          </a:p>
        </p:txBody>
      </p:sp>
      <p:sp>
        <p:nvSpPr>
          <p:cNvPr id="3" name="Text 1"/>
          <p:cNvSpPr/>
          <p:nvPr/>
        </p:nvSpPr>
        <p:spPr>
          <a:xfrm>
            <a:off x="640080" y="1234440"/>
            <a:ext cx="10058400" cy="548640"/>
          </a:xfrm>
          <a:prstGeom prst="rect">
            <a:avLst/>
          </a:prstGeom>
          <a:noFill/>
          <a:ln/>
        </p:spPr>
        <p:txBody>
          <a:bodyPr wrap="square" rtlCol="0" anchor="ctr"/>
          <a:lstStyle/>
          <a:p>
            <a:pPr marL="0" indent="0">
              <a:buNone/>
            </a:pPr>
            <a:r>
              <a:rPr lang="en-US" sz="2400" b="1" dirty="0">
                <a:solidFill>
                  <a:srgbClr val="02C39A"/>
                </a:solidFill>
                <a:latin typeface="Calibri" pitchFamily="34" charset="0"/>
                <a:ea typeface="Calibri" pitchFamily="34" charset="-122"/>
                <a:cs typeface="Calibri" pitchFamily="34" charset="-120"/>
              </a:rPr>
              <a:t>accessmap-13a.streamlit.app</a:t>
            </a:r>
            <a:endParaRPr lang="en-US" sz="2400" dirty="0"/>
          </a:p>
        </p:txBody>
      </p:sp>
      <p:sp>
        <p:nvSpPr>
          <p:cNvPr id="4" name="Shape 2"/>
          <p:cNvSpPr/>
          <p:nvPr/>
        </p:nvSpPr>
        <p:spPr>
          <a:xfrm>
            <a:off x="640080" y="2103120"/>
            <a:ext cx="3566160" cy="2651760"/>
          </a:xfrm>
          <a:prstGeom prst="roundRect">
            <a:avLst>
              <a:gd name="adj" fmla="val 4138"/>
            </a:avLst>
          </a:prstGeom>
          <a:solidFill>
            <a:srgbClr val="FFFFFF"/>
          </a:solidFill>
          <a:ln/>
        </p:spPr>
        <p:txBody>
          <a:bodyPr/>
          <a:lstStyle/>
          <a:p>
            <a:endParaRPr lang="en-US"/>
          </a:p>
        </p:txBody>
      </p:sp>
      <p:sp>
        <p:nvSpPr>
          <p:cNvPr id="5" name="Shape 3"/>
          <p:cNvSpPr/>
          <p:nvPr/>
        </p:nvSpPr>
        <p:spPr>
          <a:xfrm>
            <a:off x="914400" y="2377440"/>
            <a:ext cx="640080" cy="640080"/>
          </a:xfrm>
          <a:prstGeom prst="ellipse">
            <a:avLst/>
          </a:prstGeom>
          <a:solidFill>
            <a:srgbClr val="F4FAF9"/>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68019" y="2531059"/>
            <a:ext cx="332842" cy="332842"/>
          </a:xfrm>
          <a:prstGeom prst="rect">
            <a:avLst/>
          </a:prstGeom>
        </p:spPr>
      </p:pic>
      <p:sp>
        <p:nvSpPr>
          <p:cNvPr id="7" name="Text 4"/>
          <p:cNvSpPr/>
          <p:nvPr/>
        </p:nvSpPr>
        <p:spPr>
          <a:xfrm>
            <a:off x="1691640" y="2423160"/>
            <a:ext cx="2468880" cy="548640"/>
          </a:xfrm>
          <a:prstGeom prst="rect">
            <a:avLst/>
          </a:prstGeom>
          <a:noFill/>
          <a:ln/>
        </p:spPr>
        <p:txBody>
          <a:bodyPr wrap="square"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Sidewalk Checker</a:t>
            </a:r>
            <a:endParaRPr lang="en-US" sz="1600" dirty="0"/>
          </a:p>
        </p:txBody>
      </p:sp>
      <p:sp>
        <p:nvSpPr>
          <p:cNvPr id="8" name="Text 5"/>
          <p:cNvSpPr/>
          <p:nvPr/>
        </p:nvSpPr>
        <p:spPr>
          <a:xfrm>
            <a:off x="914400" y="3154680"/>
            <a:ext cx="3017520" cy="1463040"/>
          </a:xfrm>
          <a:prstGeom prst="rect">
            <a:avLst/>
          </a:prstGeom>
          <a:noFill/>
          <a:ln/>
        </p:spPr>
        <p:txBody>
          <a:bodyPr wrap="square" rtlCol="0" anchor="ctr"/>
          <a:lstStyle/>
          <a:p>
            <a:pPr marL="0" indent="0">
              <a:buNone/>
            </a:pPr>
            <a:r>
              <a:rPr lang="en-US" sz="1250" dirty="0">
                <a:solidFill>
                  <a:srgbClr val="1F2933"/>
                </a:solidFill>
                <a:latin typeface="Calibri" pitchFamily="34" charset="0"/>
                <a:ea typeface="Calibri" pitchFamily="34" charset="-122"/>
                <a:cs typeface="Calibri" pitchFamily="34" charset="-120"/>
              </a:rPr>
              <a:t>Enter width, curb height, crossing, length → accessible / not accessible + confidence</a:t>
            </a:r>
            <a:endParaRPr lang="en-US" sz="1250" dirty="0"/>
          </a:p>
        </p:txBody>
      </p:sp>
      <p:sp>
        <p:nvSpPr>
          <p:cNvPr id="9" name="Shape 6"/>
          <p:cNvSpPr/>
          <p:nvPr/>
        </p:nvSpPr>
        <p:spPr>
          <a:xfrm>
            <a:off x="4434840" y="2103120"/>
            <a:ext cx="3566160" cy="2651760"/>
          </a:xfrm>
          <a:prstGeom prst="roundRect">
            <a:avLst>
              <a:gd name="adj" fmla="val 4138"/>
            </a:avLst>
          </a:prstGeom>
          <a:solidFill>
            <a:srgbClr val="FFFFFF"/>
          </a:solidFill>
          <a:ln/>
        </p:spPr>
        <p:txBody>
          <a:bodyPr/>
          <a:lstStyle/>
          <a:p>
            <a:endParaRPr lang="en-US"/>
          </a:p>
        </p:txBody>
      </p:sp>
      <p:sp>
        <p:nvSpPr>
          <p:cNvPr id="10" name="Shape 7"/>
          <p:cNvSpPr/>
          <p:nvPr/>
        </p:nvSpPr>
        <p:spPr>
          <a:xfrm>
            <a:off x="4709160" y="2377440"/>
            <a:ext cx="640080" cy="640080"/>
          </a:xfrm>
          <a:prstGeom prst="ellipse">
            <a:avLst/>
          </a:prstGeom>
          <a:solidFill>
            <a:srgbClr val="F4FAF9"/>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862779" y="2531059"/>
            <a:ext cx="332842" cy="332842"/>
          </a:xfrm>
          <a:prstGeom prst="rect">
            <a:avLst/>
          </a:prstGeom>
        </p:spPr>
      </p:pic>
      <p:sp>
        <p:nvSpPr>
          <p:cNvPr id="12" name="Text 8"/>
          <p:cNvSpPr/>
          <p:nvPr/>
        </p:nvSpPr>
        <p:spPr>
          <a:xfrm>
            <a:off x="5486400" y="2423160"/>
            <a:ext cx="2468880" cy="548640"/>
          </a:xfrm>
          <a:prstGeom prst="rect">
            <a:avLst/>
          </a:prstGeom>
          <a:noFill/>
          <a:ln/>
        </p:spPr>
        <p:txBody>
          <a:bodyPr wrap="square"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Address Search</a:t>
            </a:r>
            <a:endParaRPr lang="en-US" sz="1600" dirty="0"/>
          </a:p>
        </p:txBody>
      </p:sp>
      <p:sp>
        <p:nvSpPr>
          <p:cNvPr id="13" name="Text 9"/>
          <p:cNvSpPr/>
          <p:nvPr/>
        </p:nvSpPr>
        <p:spPr>
          <a:xfrm>
            <a:off x="4709160" y="3154680"/>
            <a:ext cx="3017520" cy="1463040"/>
          </a:xfrm>
          <a:prstGeom prst="rect">
            <a:avLst/>
          </a:prstGeom>
          <a:noFill/>
          <a:ln/>
        </p:spPr>
        <p:txBody>
          <a:bodyPr wrap="square" rtlCol="0" anchor="ctr"/>
          <a:lstStyle/>
          <a:p>
            <a:pPr marL="0" indent="0">
              <a:buNone/>
            </a:pPr>
            <a:r>
              <a:rPr lang="en-US" sz="1250" dirty="0">
                <a:solidFill>
                  <a:srgbClr val="1F2933"/>
                </a:solidFill>
                <a:latin typeface="Calibri" pitchFamily="34" charset="0"/>
                <a:ea typeface="Calibri" pitchFamily="34" charset="-122"/>
                <a:cs typeface="Calibri" pitchFamily="34" charset="-120"/>
              </a:rPr>
              <a:t>Pick an address → FAISS returns similar addresses with sidewalk labels + distances</a:t>
            </a:r>
            <a:endParaRPr lang="en-US" sz="1250" dirty="0"/>
          </a:p>
        </p:txBody>
      </p:sp>
      <p:sp>
        <p:nvSpPr>
          <p:cNvPr id="14" name="Shape 10"/>
          <p:cNvSpPr/>
          <p:nvPr/>
        </p:nvSpPr>
        <p:spPr>
          <a:xfrm>
            <a:off x="8229600" y="2103120"/>
            <a:ext cx="3566160" cy="2651760"/>
          </a:xfrm>
          <a:prstGeom prst="roundRect">
            <a:avLst>
              <a:gd name="adj" fmla="val 4138"/>
            </a:avLst>
          </a:prstGeom>
          <a:solidFill>
            <a:srgbClr val="FFFFFF"/>
          </a:solidFill>
          <a:ln/>
        </p:spPr>
        <p:txBody>
          <a:bodyPr/>
          <a:lstStyle/>
          <a:p>
            <a:endParaRPr lang="en-US"/>
          </a:p>
        </p:txBody>
      </p:sp>
      <p:sp>
        <p:nvSpPr>
          <p:cNvPr id="15" name="Shape 11"/>
          <p:cNvSpPr/>
          <p:nvPr/>
        </p:nvSpPr>
        <p:spPr>
          <a:xfrm>
            <a:off x="8503920" y="2377440"/>
            <a:ext cx="640080" cy="640080"/>
          </a:xfrm>
          <a:prstGeom prst="ellipse">
            <a:avLst/>
          </a:prstGeom>
          <a:solidFill>
            <a:srgbClr val="F4FAF9"/>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657539" y="2531059"/>
            <a:ext cx="332842" cy="332842"/>
          </a:xfrm>
          <a:prstGeom prst="rect">
            <a:avLst/>
          </a:prstGeom>
        </p:spPr>
      </p:pic>
      <p:sp>
        <p:nvSpPr>
          <p:cNvPr id="17" name="Text 12"/>
          <p:cNvSpPr/>
          <p:nvPr/>
        </p:nvSpPr>
        <p:spPr>
          <a:xfrm>
            <a:off x="9281160" y="2423160"/>
            <a:ext cx="2468880" cy="548640"/>
          </a:xfrm>
          <a:prstGeom prst="rect">
            <a:avLst/>
          </a:prstGeom>
          <a:noFill/>
          <a:ln/>
        </p:spPr>
        <p:txBody>
          <a:bodyPr wrap="square"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About &amp; Limits</a:t>
            </a:r>
            <a:endParaRPr lang="en-US" sz="1600" dirty="0"/>
          </a:p>
        </p:txBody>
      </p:sp>
      <p:sp>
        <p:nvSpPr>
          <p:cNvPr id="18" name="Text 13"/>
          <p:cNvSpPr/>
          <p:nvPr/>
        </p:nvSpPr>
        <p:spPr>
          <a:xfrm>
            <a:off x="8503920" y="3154680"/>
            <a:ext cx="3017520" cy="1463040"/>
          </a:xfrm>
          <a:prstGeom prst="rect">
            <a:avLst/>
          </a:prstGeom>
          <a:noFill/>
          <a:ln/>
        </p:spPr>
        <p:txBody>
          <a:bodyPr wrap="square" rtlCol="0" anchor="ctr"/>
          <a:lstStyle/>
          <a:p>
            <a:pPr marL="0" indent="0">
              <a:buNone/>
            </a:pPr>
            <a:r>
              <a:rPr lang="en-US" sz="1250" dirty="0">
                <a:solidFill>
                  <a:srgbClr val="1F2933"/>
                </a:solidFill>
                <a:latin typeface="Calibri" pitchFamily="34" charset="0"/>
                <a:ea typeface="Calibri" pitchFamily="34" charset="-122"/>
                <a:cs typeface="Calibri" pitchFamily="34" charset="-120"/>
              </a:rPr>
              <a:t>What the app does, what it refuses to do, and why — honesty as a feature</a:t>
            </a:r>
            <a:endParaRPr lang="en-US" sz="1250" dirty="0"/>
          </a:p>
        </p:txBody>
      </p:sp>
      <p:sp>
        <p:nvSpPr>
          <p:cNvPr id="19" name="Text 14"/>
          <p:cNvSpPr/>
          <p:nvPr/>
        </p:nvSpPr>
        <p:spPr>
          <a:xfrm>
            <a:off x="640080" y="5074920"/>
            <a:ext cx="11064240" cy="109728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One deployment decision we're proud of: </a:t>
            </a:r>
            <a:r>
              <a:rPr lang="en-US" sz="1500" dirty="0">
                <a:solidFill>
                  <a:srgbClr val="E6F2F1"/>
                </a:solidFill>
                <a:latin typeface="Calibri" pitchFamily="34" charset="0"/>
                <a:ea typeface="Calibri" pitchFamily="34" charset="-122"/>
                <a:cs typeface="Calibri" pitchFamily="34" charset="-120"/>
              </a:rPr>
              <a:t>the app does NOT predict sidewalk condition for US addresses. We tested that model — it has no signal — so the app reports the real crowd label instead of pretending to predict.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0A3A42"/>
        </a:solidFill>
        <a:effectLst/>
      </p:bgPr>
    </p:bg>
    <p:spTree>
      <p:nvGrpSpPr>
        <p:cNvPr id="1" name=""/>
        <p:cNvGrpSpPr/>
        <p:nvPr/>
      </p:nvGrpSpPr>
      <p:grpSpPr>
        <a:xfrm>
          <a:off x="0" y="0"/>
          <a:ext cx="0" cy="0"/>
          <a:chOff x="0" y="0"/>
          <a:chExt cx="0" cy="0"/>
        </a:xfrm>
      </p:grpSpPr>
      <p:sp>
        <p:nvSpPr>
          <p:cNvPr id="2" name="Text 2"/>
          <p:cNvSpPr/>
          <p:nvPr/>
        </p:nvSpPr>
        <p:spPr>
          <a:xfrm>
            <a:off x="640080" y="502920"/>
            <a:ext cx="10058400" cy="548640"/>
          </a:xfrm>
          <a:prstGeom prst="rect">
            <a:avLst/>
          </a:prstGeom>
          <a:noFill/>
          <a:ln/>
        </p:spPr>
        <p:txBody>
          <a:bodyPr wrap="square" rtlCol="0" anchor="ctr"/>
          <a:lstStyle/>
          <a:p>
            <a:pPr marL="0" indent="0">
              <a:buNone/>
            </a:pPr>
            <a:r>
              <a:rPr lang="en-US" sz="2200" b="1" dirty="0">
                <a:solidFill>
                  <a:srgbClr val="02C39A"/>
                </a:solidFill>
                <a:latin typeface="Calibri" pitchFamily="34" charset="0"/>
                <a:ea typeface="Calibri" pitchFamily="34" charset="-122"/>
                <a:cs typeface="Calibri" pitchFamily="34" charset="-120"/>
              </a:rPr>
              <a:t>Deployment</a:t>
            </a:r>
            <a:endParaRPr lang="en-US" sz="2200" dirty="0"/>
          </a:p>
        </p:txBody>
      </p:sp>
      <p:sp>
        <p:nvSpPr>
          <p:cNvPr id="3" name="Text 3"/>
          <p:cNvSpPr/>
          <p:nvPr/>
        </p:nvSpPr>
        <p:spPr>
          <a:xfrm>
            <a:off x="640080" y="1097280"/>
            <a:ext cx="10881360" cy="11887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Why is the app so simple — and how reliable is it?</a:t>
            </a:r>
            <a:endParaRPr lang="en-US" sz="2800" dirty="0"/>
          </a:p>
        </p:txBody>
      </p:sp>
      <p:sp>
        <p:nvSpPr>
          <p:cNvPr id="4" name="Shape 4"/>
          <p:cNvSpPr/>
          <p:nvPr/>
        </p:nvSpPr>
        <p:spPr>
          <a:xfrm>
            <a:off x="640080" y="2560320"/>
            <a:ext cx="5440680" cy="3200400"/>
          </a:xfrm>
          <a:prstGeom prst="roundRect">
            <a:avLst>
              <a:gd name="adj" fmla="val 3429"/>
            </a:avLst>
          </a:prstGeom>
          <a:solidFill>
            <a:srgbClr val="12484F"/>
          </a:solidFill>
          <a:ln/>
        </p:spPr>
        <p:txBody>
          <a:bodyPr/>
          <a:lstStyle/>
          <a:p>
            <a:endParaRPr lang="en-US"/>
          </a:p>
        </p:txBody>
      </p:sp>
      <p:sp>
        <p:nvSpPr>
          <p:cNvPr id="5" name="Text 5"/>
          <p:cNvSpPr/>
          <p:nvPr/>
        </p:nvSpPr>
        <p:spPr>
          <a:xfrm>
            <a:off x="914400" y="2743200"/>
            <a:ext cx="4846320" cy="457200"/>
          </a:xfrm>
          <a:prstGeom prst="rect">
            <a:avLst/>
          </a:prstGeom>
          <a:noFill/>
          <a:ln/>
        </p:spPr>
        <p:txBody>
          <a:bodyPr wrap="square" rtlCol="0" anchor="ctr"/>
          <a:lstStyle/>
          <a:p>
            <a:pPr marL="0" indent="0">
              <a:buNone/>
            </a:pPr>
            <a:r>
              <a:rPr lang="en-US" sz="1700" b="1" dirty="0">
                <a:solidFill>
                  <a:srgbClr val="02C39A"/>
                </a:solidFill>
                <a:latin typeface="Calibri" pitchFamily="34" charset="0"/>
                <a:ea typeface="Calibri" pitchFamily="34" charset="-122"/>
                <a:cs typeface="Calibri" pitchFamily="34" charset="-120"/>
              </a:rPr>
              <a:t>Why we keep the app simple…</a:t>
            </a:r>
            <a:endParaRPr lang="en-US" sz="1700" dirty="0"/>
          </a:p>
        </p:txBody>
      </p:sp>
      <p:sp>
        <p:nvSpPr>
          <p:cNvPr id="6" name="Text 6"/>
          <p:cNvSpPr/>
          <p:nvPr/>
        </p:nvSpPr>
        <p:spPr>
          <a:xfrm>
            <a:off x="914400" y="3291840"/>
            <a:ext cx="4892040" cy="2286000"/>
          </a:xfrm>
          <a:prstGeom prst="rect">
            <a:avLst/>
          </a:prstGeom>
          <a:noFill/>
          <a:ln/>
        </p:spPr>
        <p:txBody>
          <a:bodyPr wrap="square" rtlCol="0" anchor="t"/>
          <a:lstStyle/>
          <a:p>
            <a:pPr marL="0" indent="0">
              <a:buNone/>
            </a:pPr>
            <a:r>
              <a:rPr lang="en-US" sz="1450" dirty="0">
                <a:solidFill>
                  <a:srgbClr val="E6F2F1"/>
                </a:solidFill>
                <a:latin typeface="Calibri" pitchFamily="34" charset="0"/>
                <a:ea typeface="Calibri" pitchFamily="34" charset="-122"/>
                <a:cs typeface="Calibri" pitchFamily="34" charset="-120"/>
              </a:rPr>
              <a:t>Every feature maps to a result we validated. We ship the two things that work — the PMR checker and the address search — and we refuse to ship US sidewalk prediction, because we tested that model and it has no signal. Fewer moving parts also means fewer failure points for the people who rely on the answer.</a:t>
            </a:r>
            <a:endParaRPr lang="en-US" sz="1450" dirty="0"/>
          </a:p>
        </p:txBody>
      </p:sp>
      <p:sp>
        <p:nvSpPr>
          <p:cNvPr id="7" name="Shape 7"/>
          <p:cNvSpPr/>
          <p:nvPr/>
        </p:nvSpPr>
        <p:spPr>
          <a:xfrm>
            <a:off x="6355080" y="2560320"/>
            <a:ext cx="5440680" cy="3200400"/>
          </a:xfrm>
          <a:prstGeom prst="roundRect">
            <a:avLst>
              <a:gd name="adj" fmla="val 3429"/>
            </a:avLst>
          </a:prstGeom>
          <a:solidFill>
            <a:srgbClr val="12484F"/>
          </a:solidFill>
          <a:ln/>
        </p:spPr>
        <p:txBody>
          <a:bodyPr/>
          <a:lstStyle/>
          <a:p>
            <a:endParaRPr lang="en-US"/>
          </a:p>
        </p:txBody>
      </p:sp>
      <p:sp>
        <p:nvSpPr>
          <p:cNvPr id="8" name="Text 8"/>
          <p:cNvSpPr/>
          <p:nvPr/>
        </p:nvSpPr>
        <p:spPr>
          <a:xfrm>
            <a:off x="6629400" y="2743200"/>
            <a:ext cx="4846320" cy="457200"/>
          </a:xfrm>
          <a:prstGeom prst="rect">
            <a:avLst/>
          </a:prstGeom>
          <a:noFill/>
          <a:ln/>
        </p:spPr>
        <p:txBody>
          <a:bodyPr wrap="square" rtlCol="0" anchor="ctr"/>
          <a:lstStyle/>
          <a:p>
            <a:pPr marL="0" indent="0">
              <a:buNone/>
            </a:pPr>
            <a:r>
              <a:rPr lang="en-US" sz="1700" b="1" dirty="0">
                <a:solidFill>
                  <a:srgbClr val="02C39A"/>
                </a:solidFill>
                <a:latin typeface="Calibri" pitchFamily="34" charset="0"/>
                <a:ea typeface="Calibri" pitchFamily="34" charset="-122"/>
                <a:cs typeface="Calibri" pitchFamily="34" charset="-120"/>
              </a:rPr>
              <a:t>How reliable is it…</a:t>
            </a:r>
            <a:endParaRPr lang="en-US" sz="1700" dirty="0"/>
          </a:p>
        </p:txBody>
      </p:sp>
      <p:sp>
        <p:nvSpPr>
          <p:cNvPr id="9" name="Text 9"/>
          <p:cNvSpPr/>
          <p:nvPr/>
        </p:nvSpPr>
        <p:spPr>
          <a:xfrm>
            <a:off x="6629400" y="3291840"/>
            <a:ext cx="4892040" cy="2286000"/>
          </a:xfrm>
          <a:prstGeom prst="rect">
            <a:avLst/>
          </a:prstGeom>
          <a:noFill/>
          <a:ln/>
        </p:spPr>
        <p:txBody>
          <a:bodyPr wrap="square" rtlCol="0" anchor="t"/>
          <a:lstStyle/>
          <a:p>
            <a:pPr marL="0" indent="0">
              <a:buNone/>
            </a:pPr>
            <a:r>
              <a:rPr lang="en-US" sz="1450" dirty="0">
                <a:solidFill>
                  <a:srgbClr val="E6F2F1"/>
                </a:solidFill>
                <a:latin typeface="Calibri" pitchFamily="34" charset="0"/>
                <a:ea typeface="Calibri" pitchFamily="34" charset="-122"/>
                <a:cs typeface="Calibri" pitchFamily="34" charset="-120"/>
              </a:rPr>
              <a:t>Confidence now comes with an explanation: it’s the share of the forest’s trees voting for that label, shown with the factors that drove the call. Inputs are range-checked, missing curb heights use the same fill value as training, and every known limit is stated inside the app itself.</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731520"/>
          </a:xfrm>
          <a:prstGeom prst="rect">
            <a:avLst/>
          </a:prstGeom>
          <a:noFill/>
          <a:ln/>
        </p:spPr>
        <p:txBody>
          <a:bodyPr wrap="square"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Impact — Both Sides</a:t>
            </a:r>
            <a:endParaRPr lang="en-US" sz="4000" dirty="0"/>
          </a:p>
        </p:txBody>
      </p:sp>
      <p:sp>
        <p:nvSpPr>
          <p:cNvPr id="3" name="Shape 1"/>
          <p:cNvSpPr/>
          <p:nvPr/>
        </p:nvSpPr>
        <p:spPr>
          <a:xfrm>
            <a:off x="640080" y="1554480"/>
            <a:ext cx="5440680" cy="4480560"/>
          </a:xfrm>
          <a:prstGeom prst="roundRect">
            <a:avLst>
              <a:gd name="adj" fmla="val 2449"/>
            </a:avLst>
          </a:prstGeom>
          <a:solidFill>
            <a:srgbClr val="F4FAF9"/>
          </a:solidFill>
          <a:ln/>
        </p:spPr>
        <p:txBody>
          <a:bodyPr/>
          <a:lstStyle/>
          <a:p>
            <a:endParaRPr lang="en-US"/>
          </a:p>
        </p:txBody>
      </p:sp>
      <p:sp>
        <p:nvSpPr>
          <p:cNvPr id="4" name="Shape 2"/>
          <p:cNvSpPr/>
          <p:nvPr/>
        </p:nvSpPr>
        <p:spPr>
          <a:xfrm>
            <a:off x="914400" y="1828800"/>
            <a:ext cx="640080" cy="640080"/>
          </a:xfrm>
          <a:prstGeom prst="ellipse">
            <a:avLst/>
          </a:prstGeom>
          <a:solidFill>
            <a:srgbClr val="00A896"/>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68019" y="1982419"/>
            <a:ext cx="332842" cy="332842"/>
          </a:xfrm>
          <a:prstGeom prst="rect">
            <a:avLst/>
          </a:prstGeom>
        </p:spPr>
      </p:pic>
      <p:sp>
        <p:nvSpPr>
          <p:cNvPr id="6" name="Text 3"/>
          <p:cNvSpPr/>
          <p:nvPr/>
        </p:nvSpPr>
        <p:spPr>
          <a:xfrm>
            <a:off x="1737360" y="1901952"/>
            <a:ext cx="3657600" cy="502920"/>
          </a:xfrm>
          <a:prstGeom prst="rect">
            <a:avLst/>
          </a:prstGeom>
          <a:noFill/>
          <a:ln/>
        </p:spPr>
        <p:txBody>
          <a:bodyPr wrap="square" rtlCol="0" anchor="ctr"/>
          <a:lstStyle/>
          <a:p>
            <a:pPr marL="0" indent="0">
              <a:buNone/>
            </a:pPr>
            <a:r>
              <a:rPr lang="en-US" sz="2000" b="1" dirty="0">
                <a:solidFill>
                  <a:srgbClr val="00A896"/>
                </a:solidFill>
                <a:latin typeface="Calibri" pitchFamily="34" charset="0"/>
                <a:ea typeface="Calibri" pitchFamily="34" charset="-122"/>
                <a:cs typeface="Calibri" pitchFamily="34" charset="-120"/>
              </a:rPr>
              <a:t>Positive</a:t>
            </a:r>
            <a:endParaRPr lang="en-US" sz="2000" dirty="0"/>
          </a:p>
        </p:txBody>
      </p:sp>
      <p:sp>
        <p:nvSpPr>
          <p:cNvPr id="7" name="Text 4"/>
          <p:cNvSpPr/>
          <p:nvPr/>
        </p:nvSpPr>
        <p:spPr>
          <a:xfrm>
            <a:off x="914400" y="2606040"/>
            <a:ext cx="4892040" cy="3108960"/>
          </a:xfrm>
          <a:prstGeom prst="rect">
            <a:avLst/>
          </a:prstGeom>
          <a:noFill/>
          <a:ln/>
        </p:spPr>
        <p:txBody>
          <a:bodyPr wrap="square" rtlCol="0" anchor="ctr"/>
          <a:lstStyle/>
          <a:p>
            <a:pPr marL="342900" indent="-342900">
              <a:spcAft>
                <a:spcPts val="1000"/>
              </a:spcAft>
              <a:buSzPct val="100000"/>
              <a:buChar char="•"/>
            </a:pPr>
            <a:r>
              <a:rPr lang="en-US" sz="1450" dirty="0">
                <a:solidFill>
                  <a:srgbClr val="1F2933"/>
                </a:solidFill>
                <a:latin typeface="Calibri" pitchFamily="34" charset="0"/>
                <a:ea typeface="Calibri" pitchFamily="34" charset="-122"/>
                <a:cs typeface="Calibri" pitchFamily="34" charset="-120"/>
              </a:rPr>
              <a:t>Wheelchair users and caregivers plan routes before leaving home</a:t>
            </a:r>
            <a:endParaRPr lang="en-US" sz="1450" dirty="0"/>
          </a:p>
          <a:p>
            <a:pPr marL="342900" indent="-342900">
              <a:spcAft>
                <a:spcPts val="1000"/>
              </a:spcAft>
              <a:buSzPct val="100000"/>
              <a:buChar char="•"/>
            </a:pPr>
            <a:r>
              <a:rPr lang="en-US" sz="1450" dirty="0">
                <a:solidFill>
                  <a:srgbClr val="1F2933"/>
                </a:solidFill>
                <a:latin typeface="Calibri" pitchFamily="34" charset="0"/>
                <a:ea typeface="Calibri" pitchFamily="34" charset="-122"/>
                <a:cs typeface="Calibri" pitchFamily="34" charset="-120"/>
              </a:rPr>
              <a:t>Cities can find clusters of bad segments and prioritize repairs</a:t>
            </a:r>
            <a:endParaRPr lang="en-US" sz="1450" dirty="0"/>
          </a:p>
          <a:p>
            <a:pPr marL="342900" indent="-342900">
              <a:spcAft>
                <a:spcPts val="1000"/>
              </a:spcAft>
              <a:buSzPct val="100000"/>
              <a:buChar char="•"/>
            </a:pPr>
            <a:r>
              <a:rPr lang="en-US" sz="1450" dirty="0">
                <a:solidFill>
                  <a:srgbClr val="1F2933"/>
                </a:solidFill>
                <a:latin typeface="Calibri" pitchFamily="34" charset="0"/>
                <a:ea typeface="Calibri" pitchFamily="34" charset="-122"/>
                <a:cs typeface="Calibri" pitchFamily="34" charset="-120"/>
              </a:rPr>
              <a:t>Accessibility becomes a data layer any routing app can adopt</a:t>
            </a:r>
            <a:endParaRPr lang="en-US" sz="1450" dirty="0"/>
          </a:p>
        </p:txBody>
      </p:sp>
      <p:sp>
        <p:nvSpPr>
          <p:cNvPr id="8" name="Shape 5"/>
          <p:cNvSpPr/>
          <p:nvPr/>
        </p:nvSpPr>
        <p:spPr>
          <a:xfrm>
            <a:off x="6355080" y="1554480"/>
            <a:ext cx="5440680" cy="4480560"/>
          </a:xfrm>
          <a:prstGeom prst="roundRect">
            <a:avLst>
              <a:gd name="adj" fmla="val 2449"/>
            </a:avLst>
          </a:prstGeom>
          <a:solidFill>
            <a:srgbClr val="F4FAF9"/>
          </a:solidFill>
          <a:ln/>
        </p:spPr>
        <p:txBody>
          <a:bodyPr/>
          <a:lstStyle/>
          <a:p>
            <a:endParaRPr lang="en-US"/>
          </a:p>
        </p:txBody>
      </p:sp>
      <p:sp>
        <p:nvSpPr>
          <p:cNvPr id="9" name="Shape 6"/>
          <p:cNvSpPr/>
          <p:nvPr/>
        </p:nvSpPr>
        <p:spPr>
          <a:xfrm>
            <a:off x="6629400" y="1828800"/>
            <a:ext cx="640080" cy="640080"/>
          </a:xfrm>
          <a:prstGeom prst="ellipse">
            <a:avLst/>
          </a:prstGeom>
          <a:solidFill>
            <a:srgbClr val="C03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783019" y="1982419"/>
            <a:ext cx="332842" cy="332842"/>
          </a:xfrm>
          <a:prstGeom prst="rect">
            <a:avLst/>
          </a:prstGeom>
        </p:spPr>
      </p:pic>
      <p:sp>
        <p:nvSpPr>
          <p:cNvPr id="11" name="Text 7"/>
          <p:cNvSpPr/>
          <p:nvPr/>
        </p:nvSpPr>
        <p:spPr>
          <a:xfrm>
            <a:off x="7452360" y="1901952"/>
            <a:ext cx="3657600" cy="502920"/>
          </a:xfrm>
          <a:prstGeom prst="rect">
            <a:avLst/>
          </a:prstGeom>
          <a:noFill/>
          <a:ln/>
        </p:spPr>
        <p:txBody>
          <a:bodyPr wrap="square"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Negative / risks</a:t>
            </a:r>
            <a:endParaRPr lang="en-US" sz="2000" dirty="0"/>
          </a:p>
        </p:txBody>
      </p:sp>
      <p:sp>
        <p:nvSpPr>
          <p:cNvPr id="12" name="Text 8"/>
          <p:cNvSpPr/>
          <p:nvPr/>
        </p:nvSpPr>
        <p:spPr>
          <a:xfrm>
            <a:off x="6629400" y="2606040"/>
            <a:ext cx="4892040" cy="3200400"/>
          </a:xfrm>
          <a:prstGeom prst="rect">
            <a:avLst/>
          </a:prstGeom>
          <a:noFill/>
          <a:ln/>
        </p:spPr>
        <p:txBody>
          <a:bodyPr wrap="square" rtlCol="0" anchor="ctr"/>
          <a:lstStyle/>
          <a:p>
            <a:pPr marL="342900" indent="-342900">
              <a:spcAft>
                <a:spcPts val="1000"/>
              </a:spcAft>
              <a:buSzPct val="100000"/>
              <a:buChar char="•"/>
            </a:pPr>
            <a:r>
              <a:rPr lang="en-US" sz="1450" dirty="0">
                <a:solidFill>
                  <a:srgbClr val="1F2933"/>
                </a:solidFill>
                <a:latin typeface="Calibri" pitchFamily="34" charset="0"/>
                <a:ea typeface="Calibri" pitchFamily="34" charset="-122"/>
                <a:cs typeface="Calibri" pitchFamily="34" charset="-120"/>
              </a:rPr>
              <a:t>A biased model could systematically mislabel whole regions — exactly what our Housing model did before the fix</a:t>
            </a:r>
            <a:endParaRPr lang="en-US" sz="1450" dirty="0"/>
          </a:p>
          <a:p>
            <a:pPr marL="342900" indent="-342900">
              <a:spcAft>
                <a:spcPts val="1000"/>
              </a:spcAft>
              <a:buSzPct val="100000"/>
              <a:buChar char="•"/>
            </a:pPr>
            <a:r>
              <a:rPr lang="en-US" sz="1450" dirty="0">
                <a:solidFill>
                  <a:srgbClr val="1F2933"/>
                </a:solidFill>
                <a:latin typeface="Calibri" pitchFamily="34" charset="0"/>
                <a:ea typeface="Calibri" pitchFamily="34" charset="-122"/>
                <a:cs typeface="Calibri" pitchFamily="34" charset="-120"/>
              </a:rPr>
              <a:t>False “accessible” labels are worse than no label: someone plans a trip they can't finish</a:t>
            </a:r>
            <a:endParaRPr lang="en-US" sz="1450" dirty="0"/>
          </a:p>
          <a:p>
            <a:pPr marL="342900" indent="-342900">
              <a:spcAft>
                <a:spcPts val="1000"/>
              </a:spcAft>
              <a:buSzPct val="100000"/>
              <a:buChar char="•"/>
            </a:pPr>
            <a:r>
              <a:rPr lang="en-US" sz="1450" dirty="0">
                <a:solidFill>
                  <a:srgbClr val="1F2933"/>
                </a:solidFill>
                <a:latin typeface="Calibri" pitchFamily="34" charset="0"/>
                <a:ea typeface="Calibri" pitchFamily="34" charset="-122"/>
                <a:cs typeface="Calibri" pitchFamily="34" charset="-120"/>
              </a:rPr>
              <a:t>Rule-based labels (ours) can encode wrong assumptions if never validated against real users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A3A42"/>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548640"/>
          </a:xfrm>
          <a:prstGeom prst="rect">
            <a:avLst/>
          </a:prstGeom>
          <a:noFill/>
          <a:ln/>
        </p:spPr>
        <p:txBody>
          <a:bodyPr wrap="square" rtlCol="0" anchor="ctr"/>
          <a:lstStyle/>
          <a:p>
            <a:pPr marL="0" indent="0">
              <a:buNone/>
            </a:pPr>
            <a:r>
              <a:rPr lang="en-US" sz="2200" b="1" dirty="0">
                <a:solidFill>
                  <a:srgbClr val="02C39A"/>
                </a:solidFill>
                <a:latin typeface="Calibri" pitchFamily="34" charset="0"/>
                <a:ea typeface="Calibri" pitchFamily="34" charset="-122"/>
                <a:cs typeface="Calibri" pitchFamily="34" charset="-120"/>
              </a:rPr>
              <a:t>Essential Question</a:t>
            </a:r>
            <a:endParaRPr lang="en-US" sz="2200" dirty="0"/>
          </a:p>
        </p:txBody>
      </p:sp>
      <p:sp>
        <p:nvSpPr>
          <p:cNvPr id="3" name="Text 1"/>
          <p:cNvSpPr/>
          <p:nvPr/>
        </p:nvSpPr>
        <p:spPr>
          <a:xfrm>
            <a:off x="640080" y="1097280"/>
            <a:ext cx="10881360" cy="11887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can the process of creating AI/ML solutions amplify or mitigate bias in our case?</a:t>
            </a:r>
            <a:endParaRPr lang="en-US" sz="2800" dirty="0"/>
          </a:p>
        </p:txBody>
      </p:sp>
      <p:sp>
        <p:nvSpPr>
          <p:cNvPr id="4" name="Shape 2"/>
          <p:cNvSpPr/>
          <p:nvPr/>
        </p:nvSpPr>
        <p:spPr>
          <a:xfrm>
            <a:off x="640080" y="2560320"/>
            <a:ext cx="5440680" cy="3200400"/>
          </a:xfrm>
          <a:prstGeom prst="roundRect">
            <a:avLst>
              <a:gd name="adj" fmla="val 3429"/>
            </a:avLst>
          </a:prstGeom>
          <a:solidFill>
            <a:srgbClr val="12484F"/>
          </a:solidFill>
          <a:ln/>
        </p:spPr>
        <p:txBody>
          <a:bodyPr/>
          <a:lstStyle/>
          <a:p>
            <a:endParaRPr lang="en-US"/>
          </a:p>
        </p:txBody>
      </p:sp>
      <p:sp>
        <p:nvSpPr>
          <p:cNvPr id="5" name="Text 3"/>
          <p:cNvSpPr/>
          <p:nvPr/>
        </p:nvSpPr>
        <p:spPr>
          <a:xfrm>
            <a:off x="914400" y="2743200"/>
            <a:ext cx="4846320" cy="457200"/>
          </a:xfrm>
          <a:prstGeom prst="rect">
            <a:avLst/>
          </a:prstGeom>
          <a:noFill/>
          <a:ln/>
        </p:spPr>
        <p:txBody>
          <a:bodyPr wrap="square" rtlCol="0" anchor="ctr"/>
          <a:lstStyle/>
          <a:p>
            <a:pPr marL="0" indent="0">
              <a:buNone/>
            </a:pPr>
            <a:r>
              <a:rPr lang="en-US" sz="1700" b="1" dirty="0">
                <a:solidFill>
                  <a:srgbClr val="FFB4A8"/>
                </a:solidFill>
                <a:latin typeface="Calibri" pitchFamily="34" charset="0"/>
                <a:ea typeface="Calibri" pitchFamily="34" charset="-122"/>
                <a:cs typeface="Calibri" pitchFamily="34" charset="-120"/>
              </a:rPr>
              <a:t>It amplified bias when…</a:t>
            </a:r>
            <a:endParaRPr lang="en-US" sz="1700" dirty="0"/>
          </a:p>
        </p:txBody>
      </p:sp>
      <p:sp>
        <p:nvSpPr>
          <p:cNvPr id="6" name="Text 4"/>
          <p:cNvSpPr/>
          <p:nvPr/>
        </p:nvSpPr>
        <p:spPr>
          <a:xfrm>
            <a:off x="914400" y="3291840"/>
            <a:ext cx="4892040" cy="2286000"/>
          </a:xfrm>
          <a:prstGeom prst="rect">
            <a:avLst/>
          </a:prstGeom>
          <a:noFill/>
          <a:ln/>
        </p:spPr>
        <p:txBody>
          <a:bodyPr wrap="square" rtlCol="0" anchor="ctr"/>
          <a:lstStyle/>
          <a:p>
            <a:pPr marL="0" indent="0">
              <a:buNone/>
            </a:pPr>
            <a:r>
              <a:rPr lang="en-US" sz="1450" dirty="0">
                <a:solidFill>
                  <a:srgbClr val="E6F2F1"/>
                </a:solidFill>
                <a:latin typeface="Calibri" pitchFamily="34" charset="0"/>
                <a:ea typeface="Calibri" pitchFamily="34" charset="-122"/>
                <a:cs typeface="Calibri" pitchFamily="34" charset="-120"/>
              </a:rPr>
              <a:t>we let a geographic proxy (state) dominate training. The model looked like it was scoring house condition; it was really scoring ZIP codes. High feature importance made an unfair shortcut look like intelligence.</a:t>
            </a:r>
            <a:endParaRPr lang="en-US" sz="1450" dirty="0"/>
          </a:p>
        </p:txBody>
      </p:sp>
      <p:sp>
        <p:nvSpPr>
          <p:cNvPr id="7" name="Shape 5"/>
          <p:cNvSpPr/>
          <p:nvPr/>
        </p:nvSpPr>
        <p:spPr>
          <a:xfrm>
            <a:off x="6355080" y="2560320"/>
            <a:ext cx="5440680" cy="3200400"/>
          </a:xfrm>
          <a:prstGeom prst="roundRect">
            <a:avLst>
              <a:gd name="adj" fmla="val 3429"/>
            </a:avLst>
          </a:prstGeom>
          <a:solidFill>
            <a:srgbClr val="12484F"/>
          </a:solidFill>
          <a:ln/>
        </p:spPr>
        <p:txBody>
          <a:bodyPr/>
          <a:lstStyle/>
          <a:p>
            <a:endParaRPr lang="en-US"/>
          </a:p>
        </p:txBody>
      </p:sp>
      <p:sp>
        <p:nvSpPr>
          <p:cNvPr id="8" name="Text 6"/>
          <p:cNvSpPr/>
          <p:nvPr/>
        </p:nvSpPr>
        <p:spPr>
          <a:xfrm>
            <a:off x="6629400" y="2743200"/>
            <a:ext cx="4846320" cy="457200"/>
          </a:xfrm>
          <a:prstGeom prst="rect">
            <a:avLst/>
          </a:prstGeom>
          <a:noFill/>
          <a:ln/>
        </p:spPr>
        <p:txBody>
          <a:bodyPr wrap="square" rtlCol="0" anchor="ctr"/>
          <a:lstStyle/>
          <a:p>
            <a:pPr marL="0" indent="0">
              <a:buNone/>
            </a:pPr>
            <a:r>
              <a:rPr lang="en-US" sz="1700" b="1" dirty="0">
                <a:solidFill>
                  <a:srgbClr val="02C39A"/>
                </a:solidFill>
                <a:latin typeface="Calibri" pitchFamily="34" charset="0"/>
                <a:ea typeface="Calibri" pitchFamily="34" charset="-122"/>
                <a:cs typeface="Calibri" pitchFamily="34" charset="-120"/>
              </a:rPr>
              <a:t>It mitigated bias when…</a:t>
            </a:r>
            <a:endParaRPr lang="en-US" sz="1700" dirty="0"/>
          </a:p>
        </p:txBody>
      </p:sp>
      <p:sp>
        <p:nvSpPr>
          <p:cNvPr id="9" name="Text 7"/>
          <p:cNvSpPr/>
          <p:nvPr/>
        </p:nvSpPr>
        <p:spPr>
          <a:xfrm>
            <a:off x="6629400" y="3291840"/>
            <a:ext cx="4892040" cy="2286000"/>
          </a:xfrm>
          <a:prstGeom prst="rect">
            <a:avLst/>
          </a:prstGeom>
          <a:noFill/>
          <a:ln/>
        </p:spPr>
        <p:txBody>
          <a:bodyPr wrap="square" rtlCol="0" anchor="ctr"/>
          <a:lstStyle/>
          <a:p>
            <a:pPr marL="0" indent="0">
              <a:buNone/>
            </a:pPr>
            <a:r>
              <a:rPr lang="en-US" sz="1450" dirty="0">
                <a:solidFill>
                  <a:srgbClr val="E6F2F1"/>
                </a:solidFill>
                <a:latin typeface="Calibri" pitchFamily="34" charset="0"/>
                <a:ea typeface="Calibri" pitchFamily="34" charset="-122"/>
                <a:cs typeface="Calibri" pitchFamily="34" charset="-120"/>
              </a:rPr>
              <a:t>we audited feature importance, removed the proxy, retested, and reported the honest null result instead of a prettier number. The same ML process that created the bias also gave us the tools to catch it — if we chose to look.</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731520"/>
          </a:xfrm>
          <a:prstGeom prst="rect">
            <a:avLst/>
          </a:prstGeom>
          <a:noFill/>
          <a:ln/>
        </p:spPr>
        <p:txBody>
          <a:bodyPr wrap="square"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Next Steps</a:t>
            </a:r>
            <a:endParaRPr lang="en-US" sz="4000" dirty="0"/>
          </a:p>
        </p:txBody>
      </p:sp>
      <p:sp>
        <p:nvSpPr>
          <p:cNvPr id="3" name="Shape 1"/>
          <p:cNvSpPr/>
          <p:nvPr/>
        </p:nvSpPr>
        <p:spPr>
          <a:xfrm>
            <a:off x="640080" y="1554480"/>
            <a:ext cx="658368" cy="658368"/>
          </a:xfrm>
          <a:prstGeom prst="ellipse">
            <a:avLst/>
          </a:prstGeom>
          <a:solidFill>
            <a:srgbClr val="F4FAF9"/>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98088" y="1712488"/>
            <a:ext cx="342351" cy="342351"/>
          </a:xfrm>
          <a:prstGeom prst="rect">
            <a:avLst/>
          </a:prstGeom>
        </p:spPr>
      </p:pic>
      <p:sp>
        <p:nvSpPr>
          <p:cNvPr id="5" name="Text 2"/>
          <p:cNvSpPr/>
          <p:nvPr/>
        </p:nvSpPr>
        <p:spPr>
          <a:xfrm>
            <a:off x="1554480" y="1508760"/>
            <a:ext cx="5852160" cy="411480"/>
          </a:xfrm>
          <a:prstGeom prst="rect">
            <a:avLst/>
          </a:prstGeom>
          <a:noFill/>
          <a:ln/>
        </p:spPr>
        <p:txBody>
          <a:bodyPr wrap="square" rtlCol="0" anchor="ctr"/>
          <a:lstStyle/>
          <a:p>
            <a:pPr marL="0" indent="0">
              <a:buNone/>
            </a:pPr>
            <a:r>
              <a:rPr lang="en-US" sz="1650" b="1" dirty="0">
                <a:solidFill>
                  <a:srgbClr val="1F2933"/>
                </a:solidFill>
                <a:latin typeface="Calibri" pitchFamily="34" charset="0"/>
                <a:ea typeface="Calibri" pitchFamily="34" charset="-122"/>
                <a:cs typeface="Calibri" pitchFamily="34" charset="-120"/>
              </a:rPr>
              <a:t>Rule-free PMR experiment</a:t>
            </a:r>
            <a:endParaRPr lang="en-US" sz="1650" dirty="0"/>
          </a:p>
        </p:txBody>
      </p:sp>
      <p:sp>
        <p:nvSpPr>
          <p:cNvPr id="6" name="Text 3"/>
          <p:cNvSpPr/>
          <p:nvPr/>
        </p:nvSpPr>
        <p:spPr>
          <a:xfrm>
            <a:off x="1554480" y="1901952"/>
            <a:ext cx="8595360" cy="777240"/>
          </a:xfrm>
          <a:prstGeom prst="rect">
            <a:avLst/>
          </a:prstGeom>
          <a:noFill/>
          <a:ln/>
        </p:spPr>
        <p:txBody>
          <a:bodyPr wrap="square" rtlCol="0" anchor="ctr"/>
          <a:lstStyle/>
          <a:p>
            <a:pPr marL="0" indent="0">
              <a:buNone/>
            </a:pPr>
            <a:r>
              <a:rPr lang="en-US" sz="1250" dirty="0">
                <a:solidFill>
                  <a:srgbClr val="5B6770"/>
                </a:solidFill>
                <a:latin typeface="Calibri" pitchFamily="34" charset="0"/>
                <a:ea typeface="Calibri" pitchFamily="34" charset="-122"/>
                <a:cs typeface="Calibri" pitchFamily="34" charset="-120"/>
              </a:rPr>
              <a:t>Retrain on only features outside the label rule (crossing, length, width_fill): can accessibility be guessed without measuring? The one test where the model can show real skill.</a:t>
            </a:r>
            <a:endParaRPr lang="en-US" sz="1250" dirty="0"/>
          </a:p>
        </p:txBody>
      </p:sp>
      <p:sp>
        <p:nvSpPr>
          <p:cNvPr id="7" name="Shape 4"/>
          <p:cNvSpPr/>
          <p:nvPr/>
        </p:nvSpPr>
        <p:spPr>
          <a:xfrm>
            <a:off x="10378440" y="1572768"/>
            <a:ext cx="1234440" cy="457200"/>
          </a:xfrm>
          <a:prstGeom prst="roundRect">
            <a:avLst>
              <a:gd name="adj" fmla="val 20000"/>
            </a:avLst>
          </a:prstGeom>
          <a:solidFill>
            <a:srgbClr val="028090"/>
          </a:solidFill>
          <a:ln/>
        </p:spPr>
        <p:txBody>
          <a:bodyPr/>
          <a:lstStyle/>
          <a:p>
            <a:endParaRPr lang="en-US"/>
          </a:p>
        </p:txBody>
      </p:sp>
      <p:sp>
        <p:nvSpPr>
          <p:cNvPr id="8" name="Text 5"/>
          <p:cNvSpPr/>
          <p:nvPr/>
        </p:nvSpPr>
        <p:spPr>
          <a:xfrm>
            <a:off x="10378440" y="1572768"/>
            <a:ext cx="12344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Week 13</a:t>
            </a:r>
            <a:endParaRPr lang="en-US" sz="1200" dirty="0"/>
          </a:p>
        </p:txBody>
      </p:sp>
      <p:sp>
        <p:nvSpPr>
          <p:cNvPr id="9" name="Shape 6"/>
          <p:cNvSpPr/>
          <p:nvPr/>
        </p:nvSpPr>
        <p:spPr>
          <a:xfrm>
            <a:off x="640080" y="2761488"/>
            <a:ext cx="658368" cy="658368"/>
          </a:xfrm>
          <a:prstGeom prst="ellipse">
            <a:avLst/>
          </a:prstGeom>
          <a:solidFill>
            <a:srgbClr val="F4FAF9"/>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98088" y="2919496"/>
            <a:ext cx="342351" cy="342351"/>
          </a:xfrm>
          <a:prstGeom prst="rect">
            <a:avLst/>
          </a:prstGeom>
        </p:spPr>
      </p:pic>
      <p:sp>
        <p:nvSpPr>
          <p:cNvPr id="11" name="Text 7"/>
          <p:cNvSpPr/>
          <p:nvPr/>
        </p:nvSpPr>
        <p:spPr>
          <a:xfrm>
            <a:off x="1554480" y="2715768"/>
            <a:ext cx="5852160" cy="411480"/>
          </a:xfrm>
          <a:prstGeom prst="rect">
            <a:avLst/>
          </a:prstGeom>
          <a:noFill/>
          <a:ln/>
        </p:spPr>
        <p:txBody>
          <a:bodyPr wrap="square" rtlCol="0" anchor="ctr"/>
          <a:lstStyle/>
          <a:p>
            <a:pPr marL="0" indent="0">
              <a:buNone/>
            </a:pPr>
            <a:r>
              <a:rPr lang="en-US" sz="1650" b="1" dirty="0">
                <a:solidFill>
                  <a:srgbClr val="1F2933"/>
                </a:solidFill>
                <a:latin typeface="Calibri" pitchFamily="34" charset="0"/>
                <a:ea typeface="Calibri" pitchFamily="34" charset="-122"/>
                <a:cs typeface="Calibri" pitchFamily="34" charset="-120"/>
              </a:rPr>
              <a:t>Validate the label</a:t>
            </a:r>
            <a:endParaRPr lang="en-US" sz="1650" dirty="0"/>
          </a:p>
        </p:txBody>
      </p:sp>
      <p:sp>
        <p:nvSpPr>
          <p:cNvPr id="12" name="Text 8"/>
          <p:cNvSpPr/>
          <p:nvPr/>
        </p:nvSpPr>
        <p:spPr>
          <a:xfrm>
            <a:off x="1554480" y="3108960"/>
            <a:ext cx="8595360" cy="777240"/>
          </a:xfrm>
          <a:prstGeom prst="rect">
            <a:avLst/>
          </a:prstGeom>
          <a:noFill/>
          <a:ln/>
        </p:spPr>
        <p:txBody>
          <a:bodyPr wrap="square" rtlCol="0" anchor="ctr"/>
          <a:lstStyle/>
          <a:p>
            <a:pPr marL="0" indent="0">
              <a:buNone/>
            </a:pPr>
            <a:r>
              <a:rPr lang="en-US" sz="1250" dirty="0">
                <a:solidFill>
                  <a:srgbClr val="5B6770"/>
                </a:solidFill>
                <a:latin typeface="Calibri" pitchFamily="34" charset="0"/>
                <a:ea typeface="Calibri" pitchFamily="34" charset="-122"/>
                <a:cs typeface="Calibri" pitchFamily="34" charset="-120"/>
              </a:rPr>
              <a:t>Compare our width/curb rule against the 50 verified accessibility labels; report agreement.</a:t>
            </a:r>
            <a:endParaRPr lang="en-US" sz="1250" dirty="0"/>
          </a:p>
        </p:txBody>
      </p:sp>
      <p:sp>
        <p:nvSpPr>
          <p:cNvPr id="13" name="Shape 9"/>
          <p:cNvSpPr/>
          <p:nvPr/>
        </p:nvSpPr>
        <p:spPr>
          <a:xfrm>
            <a:off x="10378440" y="2779776"/>
            <a:ext cx="1234440" cy="457200"/>
          </a:xfrm>
          <a:prstGeom prst="roundRect">
            <a:avLst>
              <a:gd name="adj" fmla="val 20000"/>
            </a:avLst>
          </a:prstGeom>
          <a:solidFill>
            <a:srgbClr val="028090"/>
          </a:solidFill>
          <a:ln/>
        </p:spPr>
        <p:txBody>
          <a:bodyPr/>
          <a:lstStyle/>
          <a:p>
            <a:endParaRPr lang="en-US"/>
          </a:p>
        </p:txBody>
      </p:sp>
      <p:sp>
        <p:nvSpPr>
          <p:cNvPr id="14" name="Text 10"/>
          <p:cNvSpPr/>
          <p:nvPr/>
        </p:nvSpPr>
        <p:spPr>
          <a:xfrm>
            <a:off x="10378440" y="2779776"/>
            <a:ext cx="12344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Week 13</a:t>
            </a:r>
            <a:endParaRPr lang="en-US" sz="1200" dirty="0"/>
          </a:p>
        </p:txBody>
      </p:sp>
      <p:sp>
        <p:nvSpPr>
          <p:cNvPr id="15" name="Shape 11"/>
          <p:cNvSpPr/>
          <p:nvPr/>
        </p:nvSpPr>
        <p:spPr>
          <a:xfrm>
            <a:off x="640080" y="3968496"/>
            <a:ext cx="658368" cy="658368"/>
          </a:xfrm>
          <a:prstGeom prst="ellipse">
            <a:avLst/>
          </a:prstGeom>
          <a:solidFill>
            <a:srgbClr val="F4FAF9"/>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798088" y="4126504"/>
            <a:ext cx="342351" cy="342351"/>
          </a:xfrm>
          <a:prstGeom prst="rect">
            <a:avLst/>
          </a:prstGeom>
        </p:spPr>
      </p:pic>
      <p:sp>
        <p:nvSpPr>
          <p:cNvPr id="17" name="Text 12"/>
          <p:cNvSpPr/>
          <p:nvPr/>
        </p:nvSpPr>
        <p:spPr>
          <a:xfrm>
            <a:off x="1554480" y="3922776"/>
            <a:ext cx="5852160" cy="411480"/>
          </a:xfrm>
          <a:prstGeom prst="rect">
            <a:avLst/>
          </a:prstGeom>
          <a:noFill/>
          <a:ln/>
        </p:spPr>
        <p:txBody>
          <a:bodyPr wrap="square" rtlCol="0" anchor="ctr"/>
          <a:lstStyle/>
          <a:p>
            <a:pPr marL="0" indent="0">
              <a:buNone/>
            </a:pPr>
            <a:r>
              <a:rPr lang="en-US" sz="1650" b="1" dirty="0">
                <a:solidFill>
                  <a:srgbClr val="1F2933"/>
                </a:solidFill>
                <a:latin typeface="Calibri" pitchFamily="34" charset="0"/>
                <a:ea typeface="Calibri" pitchFamily="34" charset="-122"/>
                <a:cs typeface="Calibri" pitchFamily="34" charset="-120"/>
              </a:rPr>
              <a:t>Location-aware retrieval</a:t>
            </a:r>
            <a:endParaRPr lang="en-US" sz="1650" dirty="0"/>
          </a:p>
        </p:txBody>
      </p:sp>
      <p:sp>
        <p:nvSpPr>
          <p:cNvPr id="18" name="Text 13"/>
          <p:cNvSpPr/>
          <p:nvPr/>
        </p:nvSpPr>
        <p:spPr>
          <a:xfrm>
            <a:off x="1554480" y="4315968"/>
            <a:ext cx="8595360" cy="777240"/>
          </a:xfrm>
          <a:prstGeom prst="rect">
            <a:avLst/>
          </a:prstGeom>
          <a:noFill/>
          <a:ln/>
        </p:spPr>
        <p:txBody>
          <a:bodyPr wrap="square" rtlCol="0" anchor="ctr"/>
          <a:lstStyle/>
          <a:p>
            <a:pPr marL="0" indent="0">
              <a:buNone/>
            </a:pPr>
            <a:r>
              <a:rPr lang="en-US" sz="1250" dirty="0">
                <a:solidFill>
                  <a:srgbClr val="5B6770"/>
                </a:solidFill>
                <a:latin typeface="Calibri" pitchFamily="34" charset="0"/>
                <a:ea typeface="Calibri" pitchFamily="34" charset="-122"/>
                <a:cs typeface="Calibri" pitchFamily="34" charset="-120"/>
              </a:rPr>
              <a:t>Add coordinates to the PMR index so retrieval ranks within tied groups instead of returning exact ties.</a:t>
            </a:r>
            <a:endParaRPr lang="en-US" sz="1250" dirty="0"/>
          </a:p>
        </p:txBody>
      </p:sp>
      <p:sp>
        <p:nvSpPr>
          <p:cNvPr id="19" name="Shape 14"/>
          <p:cNvSpPr/>
          <p:nvPr/>
        </p:nvSpPr>
        <p:spPr>
          <a:xfrm>
            <a:off x="10378440" y="3986784"/>
            <a:ext cx="1234440" cy="457200"/>
          </a:xfrm>
          <a:prstGeom prst="roundRect">
            <a:avLst>
              <a:gd name="adj" fmla="val 20000"/>
            </a:avLst>
          </a:prstGeom>
          <a:solidFill>
            <a:srgbClr val="028090"/>
          </a:solidFill>
          <a:ln/>
        </p:spPr>
        <p:txBody>
          <a:bodyPr/>
          <a:lstStyle/>
          <a:p>
            <a:endParaRPr lang="en-US"/>
          </a:p>
        </p:txBody>
      </p:sp>
      <p:sp>
        <p:nvSpPr>
          <p:cNvPr id="20" name="Text 15"/>
          <p:cNvSpPr/>
          <p:nvPr/>
        </p:nvSpPr>
        <p:spPr>
          <a:xfrm>
            <a:off x="10378440" y="3986784"/>
            <a:ext cx="12344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Week 14</a:t>
            </a:r>
            <a:endParaRPr lang="en-US" sz="1200" dirty="0"/>
          </a:p>
        </p:txBody>
      </p:sp>
      <p:sp>
        <p:nvSpPr>
          <p:cNvPr id="21" name="Shape 16"/>
          <p:cNvSpPr/>
          <p:nvPr/>
        </p:nvSpPr>
        <p:spPr>
          <a:xfrm>
            <a:off x="640080" y="5175504"/>
            <a:ext cx="658368" cy="658368"/>
          </a:xfrm>
          <a:prstGeom prst="ellipse">
            <a:avLst/>
          </a:prstGeom>
          <a:solidFill>
            <a:srgbClr val="F4FAF9"/>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798088" y="5333512"/>
            <a:ext cx="342351" cy="342351"/>
          </a:xfrm>
          <a:prstGeom prst="rect">
            <a:avLst/>
          </a:prstGeom>
        </p:spPr>
      </p:pic>
      <p:sp>
        <p:nvSpPr>
          <p:cNvPr id="23" name="Text 17"/>
          <p:cNvSpPr/>
          <p:nvPr/>
        </p:nvSpPr>
        <p:spPr>
          <a:xfrm>
            <a:off x="1554480" y="5129784"/>
            <a:ext cx="5852160" cy="411480"/>
          </a:xfrm>
          <a:prstGeom prst="rect">
            <a:avLst/>
          </a:prstGeom>
          <a:noFill/>
          <a:ln/>
        </p:spPr>
        <p:txBody>
          <a:bodyPr wrap="square" rtlCol="0" anchor="ctr"/>
          <a:lstStyle/>
          <a:p>
            <a:pPr marL="0" indent="0">
              <a:buNone/>
            </a:pPr>
            <a:r>
              <a:rPr lang="en-US" sz="1650" b="1" dirty="0">
                <a:solidFill>
                  <a:srgbClr val="1F2933"/>
                </a:solidFill>
                <a:latin typeface="Calibri" pitchFamily="34" charset="0"/>
                <a:ea typeface="Calibri" pitchFamily="34" charset="-122"/>
                <a:cs typeface="Calibri" pitchFamily="34" charset="-120"/>
              </a:rPr>
              <a:t>Individual roadmaps</a:t>
            </a:r>
            <a:endParaRPr lang="en-US" sz="1650" dirty="0"/>
          </a:p>
        </p:txBody>
      </p:sp>
      <p:sp>
        <p:nvSpPr>
          <p:cNvPr id="24" name="Text 18"/>
          <p:cNvSpPr/>
          <p:nvPr/>
        </p:nvSpPr>
        <p:spPr>
          <a:xfrm>
            <a:off x="1554480" y="5522976"/>
            <a:ext cx="8595360" cy="777240"/>
          </a:xfrm>
          <a:prstGeom prst="rect">
            <a:avLst/>
          </a:prstGeom>
          <a:noFill/>
          <a:ln/>
        </p:spPr>
        <p:txBody>
          <a:bodyPr wrap="square" rtlCol="0" anchor="ctr"/>
          <a:lstStyle/>
          <a:p>
            <a:pPr marL="0" indent="0">
              <a:buNone/>
            </a:pPr>
            <a:r>
              <a:rPr lang="en-US" sz="1250" dirty="0">
                <a:solidFill>
                  <a:srgbClr val="5B6770"/>
                </a:solidFill>
                <a:latin typeface="Calibri" pitchFamily="34" charset="0"/>
                <a:ea typeface="Calibri" pitchFamily="34" charset="-122"/>
                <a:cs typeface="Calibri" pitchFamily="34" charset="-120"/>
              </a:rPr>
              <a:t>Each member continues per their My AI Roadmap; repo stays public as a portfolio piece.</a:t>
            </a:r>
            <a:endParaRPr lang="en-US" sz="1250" dirty="0"/>
          </a:p>
        </p:txBody>
      </p:sp>
      <p:sp>
        <p:nvSpPr>
          <p:cNvPr id="25" name="Shape 19"/>
          <p:cNvSpPr/>
          <p:nvPr/>
        </p:nvSpPr>
        <p:spPr>
          <a:xfrm>
            <a:off x="10378440" y="5193792"/>
            <a:ext cx="1234440" cy="457200"/>
          </a:xfrm>
          <a:prstGeom prst="roundRect">
            <a:avLst>
              <a:gd name="adj" fmla="val 20000"/>
            </a:avLst>
          </a:prstGeom>
          <a:solidFill>
            <a:srgbClr val="028090"/>
          </a:solidFill>
          <a:ln/>
        </p:spPr>
        <p:txBody>
          <a:bodyPr/>
          <a:lstStyle/>
          <a:p>
            <a:endParaRPr lang="en-US"/>
          </a:p>
        </p:txBody>
      </p:sp>
      <p:sp>
        <p:nvSpPr>
          <p:cNvPr id="26" name="Text 20"/>
          <p:cNvSpPr/>
          <p:nvPr/>
        </p:nvSpPr>
        <p:spPr>
          <a:xfrm>
            <a:off x="10378440" y="5193792"/>
            <a:ext cx="12344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Ongoing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A3A42"/>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73152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Citations &amp; Sources</a:t>
            </a:r>
            <a:endParaRPr lang="en-US" sz="3600" dirty="0"/>
          </a:p>
        </p:txBody>
      </p:sp>
      <p:sp>
        <p:nvSpPr>
          <p:cNvPr id="3" name="Text 1"/>
          <p:cNvSpPr/>
          <p:nvPr/>
        </p:nvSpPr>
        <p:spPr>
          <a:xfrm>
            <a:off x="640080" y="1371600"/>
            <a:ext cx="4572000" cy="457200"/>
          </a:xfrm>
          <a:prstGeom prst="rect">
            <a:avLst/>
          </a:prstGeom>
          <a:noFill/>
          <a:ln/>
        </p:spPr>
        <p:txBody>
          <a:bodyPr wrap="square" rtlCol="0" anchor="ctr"/>
          <a:lstStyle/>
          <a:p>
            <a:pPr marL="0" indent="0">
              <a:buNone/>
            </a:pPr>
            <a:r>
              <a:rPr lang="en-US" sz="1600" b="1" dirty="0">
                <a:solidFill>
                  <a:srgbClr val="02C39A"/>
                </a:solidFill>
                <a:latin typeface="Calibri" pitchFamily="34" charset="0"/>
                <a:ea typeface="Calibri" pitchFamily="34" charset="-122"/>
                <a:cs typeface="Calibri" pitchFamily="34" charset="-120"/>
              </a:rPr>
              <a:t>Data sources</a:t>
            </a:r>
            <a:endParaRPr lang="en-US" sz="1600" dirty="0"/>
          </a:p>
        </p:txBody>
      </p:sp>
      <p:sp>
        <p:nvSpPr>
          <p:cNvPr id="4" name="Text 2"/>
          <p:cNvSpPr/>
          <p:nvPr/>
        </p:nvSpPr>
        <p:spPr>
          <a:xfrm>
            <a:off x="640080" y="1828800"/>
            <a:ext cx="10972800" cy="1097280"/>
          </a:xfrm>
          <a:prstGeom prst="rect">
            <a:avLst/>
          </a:prstGeom>
          <a:noFill/>
          <a:ln/>
        </p:spPr>
        <p:txBody>
          <a:bodyPr wrap="square" rtlCol="0" anchor="ctr"/>
          <a:lstStyle/>
          <a:p>
            <a:pPr marL="342900" indent="-342900">
              <a:spcAft>
                <a:spcPts val="600"/>
              </a:spcAft>
              <a:buSzPct val="100000"/>
              <a:buChar char="•"/>
            </a:pPr>
            <a:r>
              <a:rPr lang="en-US" sz="1300" dirty="0">
                <a:solidFill>
                  <a:srgbClr val="E6F2F1"/>
                </a:solidFill>
                <a:latin typeface="Calibri" pitchFamily="34" charset="0"/>
                <a:ea typeface="Calibri" pitchFamily="34" charset="-122"/>
                <a:cs typeface="Calibri" pitchFamily="34" charset="-120"/>
              </a:rPr>
              <a:t>City of Amsterdam Open Data — PMR sidewalk accessibility dataset (72,274 segments)</a:t>
            </a:r>
            <a:endParaRPr lang="en-US" sz="1300" dirty="0"/>
          </a:p>
          <a:p>
            <a:pPr marL="342900" indent="-342900">
              <a:spcAft>
                <a:spcPts val="600"/>
              </a:spcAft>
              <a:buSzPct val="100000"/>
              <a:buChar char="•"/>
            </a:pPr>
            <a:r>
              <a:rPr lang="en-US" sz="1300" dirty="0">
                <a:solidFill>
                  <a:srgbClr val="E6F2F1"/>
                </a:solidFill>
                <a:latin typeface="Calibri" pitchFamily="34" charset="0"/>
                <a:ea typeface="Calibri" pitchFamily="34" charset="-122"/>
                <a:cs typeface="Calibri" pitchFamily="34" charset="-120"/>
              </a:rPr>
              <a:t>CrowdFlower / Figure Eight “Data for Everyone” — Housing: Wheelchairs dataset (10,104 crowd-labeled US addresses)</a:t>
            </a:r>
            <a:endParaRPr lang="en-US" sz="1300" dirty="0"/>
          </a:p>
        </p:txBody>
      </p:sp>
      <p:sp>
        <p:nvSpPr>
          <p:cNvPr id="5" name="Text 3"/>
          <p:cNvSpPr/>
          <p:nvPr/>
        </p:nvSpPr>
        <p:spPr>
          <a:xfrm>
            <a:off x="640080" y="2971800"/>
            <a:ext cx="5486400" cy="457200"/>
          </a:xfrm>
          <a:prstGeom prst="rect">
            <a:avLst/>
          </a:prstGeom>
          <a:noFill/>
          <a:ln/>
        </p:spPr>
        <p:txBody>
          <a:bodyPr wrap="square" rtlCol="0" anchor="ctr"/>
          <a:lstStyle/>
          <a:p>
            <a:pPr marL="0" indent="0">
              <a:buNone/>
            </a:pPr>
            <a:r>
              <a:rPr lang="en-US" sz="1600" b="1" dirty="0">
                <a:solidFill>
                  <a:srgbClr val="02C39A"/>
                </a:solidFill>
                <a:latin typeface="Calibri" pitchFamily="34" charset="0"/>
                <a:ea typeface="Calibri" pitchFamily="34" charset="-122"/>
                <a:cs typeface="Calibri" pitchFamily="34" charset="-120"/>
              </a:rPr>
              <a:t>Related work &amp; methods</a:t>
            </a:r>
            <a:endParaRPr lang="en-US" sz="1600" dirty="0"/>
          </a:p>
        </p:txBody>
      </p:sp>
      <p:sp>
        <p:nvSpPr>
          <p:cNvPr id="6" name="Text 4"/>
          <p:cNvSpPr/>
          <p:nvPr/>
        </p:nvSpPr>
        <p:spPr>
          <a:xfrm>
            <a:off x="640080" y="3429000"/>
            <a:ext cx="10972800" cy="2103120"/>
          </a:xfrm>
          <a:prstGeom prst="rect">
            <a:avLst/>
          </a:prstGeom>
          <a:noFill/>
          <a:ln/>
        </p:spPr>
        <p:txBody>
          <a:bodyPr wrap="square" rtlCol="0" anchor="ctr"/>
          <a:lstStyle/>
          <a:p>
            <a:pPr marL="342900" indent="-342900">
              <a:spcAft>
                <a:spcPts val="600"/>
              </a:spcAft>
              <a:buSzPct val="100000"/>
              <a:buChar char="•"/>
            </a:pPr>
            <a:r>
              <a:rPr lang="en-US" sz="1300" dirty="0">
                <a:solidFill>
                  <a:srgbClr val="E6F2F1"/>
                </a:solidFill>
                <a:latin typeface="Calibri" pitchFamily="34" charset="0"/>
                <a:ea typeface="Calibri" pitchFamily="34" charset="-122"/>
                <a:cs typeface="Calibri" pitchFamily="34" charset="-120"/>
              </a:rPr>
              <a:t>Breiman, L. (2001). Random Forests. Machine Learning, 45(1).</a:t>
            </a:r>
            <a:endParaRPr lang="en-US" sz="1300" dirty="0"/>
          </a:p>
          <a:p>
            <a:pPr marL="342900" indent="-342900">
              <a:spcAft>
                <a:spcPts val="600"/>
              </a:spcAft>
              <a:buSzPct val="100000"/>
              <a:buChar char="•"/>
            </a:pPr>
            <a:r>
              <a:rPr lang="en-US" sz="1300" dirty="0">
                <a:solidFill>
                  <a:srgbClr val="E6F2F1"/>
                </a:solidFill>
                <a:latin typeface="Calibri" pitchFamily="34" charset="0"/>
                <a:ea typeface="Calibri" pitchFamily="34" charset="-122"/>
                <a:cs typeface="Calibri" pitchFamily="34" charset="-120"/>
              </a:rPr>
              <a:t>Johnson, J., Douze, M., &amp; Jégou, H. (2019). Billion-scale similarity search with GPUs. IEEE Transactions on Big Data. (FAISS)</a:t>
            </a:r>
            <a:endParaRPr lang="en-US" sz="1300" dirty="0"/>
          </a:p>
          <a:p>
            <a:pPr marL="342900" indent="-342900">
              <a:spcAft>
                <a:spcPts val="600"/>
              </a:spcAft>
              <a:buSzPct val="100000"/>
              <a:buChar char="•"/>
            </a:pPr>
            <a:r>
              <a:rPr lang="en-US" sz="1300" dirty="0">
                <a:solidFill>
                  <a:srgbClr val="E6F2F1"/>
                </a:solidFill>
                <a:latin typeface="Calibri" pitchFamily="34" charset="0"/>
                <a:ea typeface="Calibri" pitchFamily="34" charset="-122"/>
                <a:cs typeface="Calibri" pitchFamily="34" charset="-120"/>
              </a:rPr>
              <a:t>Warner, B., et al. (2024). Smarter, Better, Faster, Longer: A Modern Bidirectional Encoder. (ModernBERT)</a:t>
            </a:r>
            <a:endParaRPr lang="en-US" sz="1300" dirty="0"/>
          </a:p>
          <a:p>
            <a:pPr marL="342900" indent="-342900">
              <a:spcAft>
                <a:spcPts val="600"/>
              </a:spcAft>
              <a:buSzPct val="100000"/>
              <a:buChar char="•"/>
            </a:pPr>
            <a:r>
              <a:rPr lang="en-US" sz="1300" dirty="0">
                <a:solidFill>
                  <a:srgbClr val="E6F2F1"/>
                </a:solidFill>
                <a:latin typeface="Calibri" pitchFamily="34" charset="0"/>
                <a:ea typeface="Calibri" pitchFamily="34" charset="-122"/>
                <a:cs typeface="Calibri" pitchFamily="34" charset="-120"/>
              </a:rPr>
              <a:t>Mehrabi, N., et al. (2021). A Survey on Bias and Fairness in Machine Learning. ACM Computing Surveys.</a:t>
            </a:r>
            <a:endParaRPr lang="en-US" sz="1300" dirty="0"/>
          </a:p>
          <a:p>
            <a:pPr marL="342900" indent="-342900">
              <a:spcAft>
                <a:spcPts val="600"/>
              </a:spcAft>
              <a:buSzPct val="100000"/>
              <a:buChar char="•"/>
            </a:pPr>
            <a:r>
              <a:rPr lang="en-US" sz="1300" dirty="0">
                <a:solidFill>
                  <a:srgbClr val="E6F2F1"/>
                </a:solidFill>
                <a:latin typeface="Calibri" pitchFamily="34" charset="0"/>
                <a:ea typeface="Calibri" pitchFamily="34" charset="-122"/>
                <a:cs typeface="Calibri" pitchFamily="34" charset="-120"/>
              </a:rPr>
              <a:t>Saha, M., et al. (2019). Project Sidewalk: A Web-based Crowdsourcing Tool for Collecting Sidewalk Accessibility Data at Scale. ACM CHI.</a:t>
            </a:r>
            <a:endParaRPr lang="en-US" sz="1300" dirty="0"/>
          </a:p>
        </p:txBody>
      </p:sp>
      <p:sp>
        <p:nvSpPr>
          <p:cNvPr id="7" name="Text 5"/>
          <p:cNvSpPr/>
          <p:nvPr/>
        </p:nvSpPr>
        <p:spPr>
          <a:xfrm>
            <a:off x="640080" y="5897880"/>
            <a:ext cx="11064240" cy="457200"/>
          </a:xfrm>
          <a:prstGeom prst="rect">
            <a:avLst/>
          </a:prstGeom>
          <a:noFill/>
          <a:ln/>
        </p:spPr>
        <p:txBody>
          <a:bodyPr wrap="square" rtlCol="0" anchor="ctr"/>
          <a:lstStyle/>
          <a:p>
            <a:pPr marL="0" indent="0">
              <a:buNone/>
            </a:pPr>
            <a:r>
              <a:rPr lang="en-US" sz="1600" dirty="0">
                <a:solidFill>
                  <a:srgbClr val="9FB8B6"/>
                </a:solidFill>
                <a:latin typeface="Calibri" pitchFamily="34" charset="0"/>
                <a:ea typeface="Calibri" pitchFamily="34" charset="-122"/>
                <a:cs typeface="Calibri" pitchFamily="34" charset="-120"/>
              </a:rPr>
              <a:t>Live app:  </a:t>
            </a:r>
            <a:r>
              <a:rPr lang="en-US" sz="1600" b="1" dirty="0">
                <a:solidFill>
                  <a:srgbClr val="02C39A"/>
                </a:solidFill>
                <a:latin typeface="Calibri" pitchFamily="34" charset="0"/>
                <a:ea typeface="Calibri" pitchFamily="34" charset="-122"/>
                <a:cs typeface="Calibri" pitchFamily="34" charset="-120"/>
              </a:rPr>
              <a:t>accessmap-13a.streamlit.app</a:t>
            </a:r>
            <a:r>
              <a:rPr lang="en-US" sz="1600" dirty="0">
                <a:solidFill>
                  <a:srgbClr val="9FB8B6"/>
                </a:solidFill>
                <a:latin typeface="Calibri" pitchFamily="34" charset="0"/>
                <a:ea typeface="Calibri" pitchFamily="34" charset="-122"/>
                <a:cs typeface="Calibri" pitchFamily="34" charset="-120"/>
              </a:rPr>
              <a:t>       Code + docs:  </a:t>
            </a:r>
            <a:r>
              <a:rPr lang="en-US" sz="1600" b="1" dirty="0">
                <a:solidFill>
                  <a:srgbClr val="02C39A"/>
                </a:solidFill>
                <a:latin typeface="Calibri" pitchFamily="34" charset="0"/>
                <a:ea typeface="Calibri" pitchFamily="34" charset="-122"/>
                <a:cs typeface="Calibri" pitchFamily="34" charset="-120"/>
              </a:rPr>
              <a:t>github.com/zhang-systems/ai4all-accessmap</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A3A42"/>
        </a:solidFill>
        <a:effectLst/>
      </p:bgPr>
    </p:bg>
    <p:spTree>
      <p:nvGrpSpPr>
        <p:cNvPr id="1" name=""/>
        <p:cNvGrpSpPr/>
        <p:nvPr/>
      </p:nvGrpSpPr>
      <p:grpSpPr>
        <a:xfrm>
          <a:off x="0" y="0"/>
          <a:ext cx="0" cy="0"/>
          <a:chOff x="0" y="0"/>
          <a:chExt cx="0" cy="0"/>
        </a:xfrm>
      </p:grpSpPr>
      <p:sp>
        <p:nvSpPr>
          <p:cNvPr id="2" name="Shape 0"/>
          <p:cNvSpPr/>
          <p:nvPr/>
        </p:nvSpPr>
        <p:spPr>
          <a:xfrm>
            <a:off x="5394960" y="1371600"/>
            <a:ext cx="1371600" cy="1371600"/>
          </a:xfrm>
          <a:prstGeom prst="ellipse">
            <a:avLst/>
          </a:prstGeom>
          <a:solidFill>
            <a:srgbClr val="028090"/>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5724144" y="1700784"/>
            <a:ext cx="713232" cy="713232"/>
          </a:xfrm>
          <a:prstGeom prst="rect">
            <a:avLst/>
          </a:prstGeom>
        </p:spPr>
      </p:pic>
      <p:sp>
        <p:nvSpPr>
          <p:cNvPr id="4" name="Text 1"/>
          <p:cNvSpPr/>
          <p:nvPr/>
        </p:nvSpPr>
        <p:spPr>
          <a:xfrm>
            <a:off x="640080" y="3017520"/>
            <a:ext cx="10881360" cy="100584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2"/>
          <p:cNvSpPr/>
          <p:nvPr/>
        </p:nvSpPr>
        <p:spPr>
          <a:xfrm>
            <a:off x="640080" y="4114800"/>
            <a:ext cx="10881360" cy="548640"/>
          </a:xfrm>
          <a:prstGeom prst="rect">
            <a:avLst/>
          </a:prstGeom>
          <a:noFill/>
          <a:ln/>
        </p:spPr>
        <p:txBody>
          <a:bodyPr wrap="square" rtlCol="0" anchor="ctr"/>
          <a:lstStyle/>
          <a:p>
            <a:pPr marL="0" indent="0" algn="ctr">
              <a:buNone/>
            </a:pPr>
            <a:r>
              <a:rPr lang="en-US" sz="2000" i="1" dirty="0">
                <a:solidFill>
                  <a:srgbClr val="02C39A"/>
                </a:solidFill>
                <a:latin typeface="Calibri" pitchFamily="34" charset="0"/>
                <a:ea typeface="Calibri" pitchFamily="34" charset="-122"/>
                <a:cs typeface="Calibri" pitchFamily="34" charset="-120"/>
              </a:rPr>
              <a:t>Questions? Try the app yourself while we talk.</a:t>
            </a:r>
            <a:endParaRPr lang="en-US" sz="2000" dirty="0"/>
          </a:p>
        </p:txBody>
      </p:sp>
      <p:sp>
        <p:nvSpPr>
          <p:cNvPr id="6" name="Text 3"/>
          <p:cNvSpPr/>
          <p:nvPr/>
        </p:nvSpPr>
        <p:spPr>
          <a:xfrm>
            <a:off x="640080" y="5029200"/>
            <a:ext cx="10881360" cy="457200"/>
          </a:xfrm>
          <a:prstGeom prst="rect">
            <a:avLst/>
          </a:prstGeom>
          <a:noFill/>
          <a:ln/>
        </p:spPr>
        <p:txBody>
          <a:bodyPr wrap="square" rtlCol="0" anchor="ctr"/>
          <a:lstStyle/>
          <a:p>
            <a:pPr marL="0" indent="0" algn="ctr">
              <a:buNone/>
            </a:pPr>
            <a:r>
              <a:rPr lang="en-US" sz="1600" b="1" dirty="0">
                <a:solidFill>
                  <a:srgbClr val="02C39A"/>
                </a:solidFill>
                <a:latin typeface="Calibri" pitchFamily="34" charset="0"/>
                <a:ea typeface="Calibri" pitchFamily="34" charset="-122"/>
                <a:cs typeface="Calibri" pitchFamily="34" charset="-120"/>
              </a:rPr>
              <a:t>accessmap-13a.streamlit.app</a:t>
            </a:r>
            <a:r>
              <a:rPr lang="en-US" sz="1600" dirty="0">
                <a:solidFill>
                  <a:srgbClr val="9FB8B6"/>
                </a:solidFill>
                <a:latin typeface="Calibri" pitchFamily="34" charset="0"/>
                <a:ea typeface="Calibri" pitchFamily="34" charset="-122"/>
                <a:cs typeface="Calibri" pitchFamily="34" charset="-120"/>
              </a:rPr>
              <a:t>      </a:t>
            </a:r>
            <a:endParaRPr lang="en-US" sz="1600" dirty="0"/>
          </a:p>
        </p:txBody>
      </p:sp>
      <p:sp>
        <p:nvSpPr>
          <p:cNvPr id="7" name="Text 4"/>
          <p:cNvSpPr/>
          <p:nvPr/>
        </p:nvSpPr>
        <p:spPr>
          <a:xfrm>
            <a:off x="640080" y="5623560"/>
            <a:ext cx="10881360" cy="365760"/>
          </a:xfrm>
          <a:prstGeom prst="rect">
            <a:avLst/>
          </a:prstGeom>
          <a:noFill/>
          <a:ln/>
        </p:spPr>
        <p:txBody>
          <a:bodyPr wrap="square" rtlCol="0" anchor="ctr"/>
          <a:lstStyle/>
          <a:p>
            <a:pPr marL="0" indent="0" algn="ctr">
              <a:buNone/>
            </a:pPr>
            <a:r>
              <a:rPr lang="en-US" sz="1300" dirty="0">
                <a:solidFill>
                  <a:srgbClr val="9FB8B6"/>
                </a:solidFill>
                <a:latin typeface="Calibri" pitchFamily="34" charset="0"/>
                <a:ea typeface="Calibri" pitchFamily="34" charset="-122"/>
                <a:cs typeface="Calibri" pitchFamily="34" charset="-120"/>
              </a:rPr>
              <a:t>Group 13A — AI4ALL Ignite Summer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2279</Words>
  <Application>Microsoft Office PowerPoint</Application>
  <PresentationFormat>Widescreen</PresentationFormat>
  <Paragraphs>175</Paragraphs>
  <Slides>17</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Edumar Santos</cp:lastModifiedBy>
  <cp:revision>3</cp:revision>
  <dcterms:created xsi:type="dcterms:W3CDTF">2026-07-20T14:16:05Z</dcterms:created>
  <dcterms:modified xsi:type="dcterms:W3CDTF">2026-07-23T00:51:52Z</dcterms:modified>
</cp:coreProperties>
</file>