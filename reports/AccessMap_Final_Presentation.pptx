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1F2933"/>
                </a:solidFill>
                <a:latin typeface="Arial"/>
              </a:rPr>
              <a:t>Feature importance before the fix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Feature importance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9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state</c:v>
                </c:pt>
                <c:pt idx="1">
                  <c:v>all other features combined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89.5</c:v>
                </c:pt>
                <c:pt idx="1">
                  <c:v>10.5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44-454B-9538-6BB09815DA5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1E8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1F2933"/>
                </a:solidFill>
                <a:latin typeface="Arial"/>
              </a:rPr>
              <a:t>Accuracy vs. majority-class baseline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 accuracy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9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Housing
(with state)</c:v>
                </c:pt>
                <c:pt idx="1">
                  <c:v>Housing
(state removed)</c:v>
                </c:pt>
                <c:pt idx="2">
                  <c:v>PMR
(4 features)</c:v>
                </c:pt>
                <c:pt idx="3">
                  <c:v>PMR
(+ curb height)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67.400000000000006</c:v>
                </c:pt>
                <c:pt idx="1">
                  <c:v>85</c:v>
                </c:pt>
                <c:pt idx="2">
                  <c:v>84.2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65-4DA4-A27B-A662F91208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Majority baseline</c:v>
                </c:pt>
              </c:strCache>
            </c:strRef>
          </c:tx>
          <c:spPr>
            <a:solidFill>
              <a:srgbClr val="B8C4C2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9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Housing
(with state)</c:v>
                </c:pt>
                <c:pt idx="1">
                  <c:v>Housing
(state removed)</c:v>
                </c:pt>
                <c:pt idx="2">
                  <c:v>PMR
(4 features)</c:v>
                </c:pt>
                <c:pt idx="3">
                  <c:v>PMR
(+ curb height)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85.3</c:v>
                </c:pt>
                <c:pt idx="1">
                  <c:v>85.3</c:v>
                </c:pt>
                <c:pt idx="2">
                  <c:v>80.8</c:v>
                </c:pt>
                <c:pt idx="3">
                  <c:v>80.8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65-4DA4-A27B-A662F912083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E1E8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933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1F2933"/>
                </a:solidFill>
                <a:latin typeface="Arial"/>
              </a:rPr>
              <a:t>PMR feature importance after the fix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PMR feature importance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9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length</c:v>
                </c:pt>
                <c:pt idx="1">
                  <c:v>crossing</c:v>
                </c:pt>
                <c:pt idx="2">
                  <c:v>width_fill</c:v>
                </c:pt>
                <c:pt idx="3">
                  <c:v>curb_missing</c:v>
                </c:pt>
                <c:pt idx="4">
                  <c:v>curb_height_max</c:v>
                </c:pt>
                <c:pt idx="5">
                  <c:v>width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2.6</c:v>
                </c:pt>
                <c:pt idx="1">
                  <c:v>3.5</c:v>
                </c:pt>
                <c:pt idx="2">
                  <c:v>5.3</c:v>
                </c:pt>
                <c:pt idx="3">
                  <c:v>8.6</c:v>
                </c:pt>
                <c:pt idx="4">
                  <c:v>37.6</c:v>
                </c:pt>
                <c:pt idx="5">
                  <c:v>42.4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98-4271-9099-205B41671FD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1E8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6808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30 seconds. Names, one-line pitch: we tested whether data can predict sidewalk accessibility, and we deployed a live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minute. The pain point, then the research question. Keep it human: a wrong route can end someone's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Two angles on the same question: physical measurements vs what people see in photos. Emphasize: pipelines stay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minute. Hit rubric items exactly: name, type (supervised), inputs, outputs, pros AND cons. Mention feature importance is what exposed the bias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Set up the arc: four versions, each driven by a problem the previous one exposed.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minute. Data viz #1. The chart makes the imbalance obvious: one feature is doing all the work, and it's a geographic proxy.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minutes. Data viz #2. Walk the four bars: Housing looks 'fixed' (67 to 85) but it's just the majority rate. State wasn't only bias - it was the only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minutes. The failed attempt IS the content: we diagnosed before re-fixing. 14 of 14,455 is the key stat.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minute. Data viz #3. Perfect accuracy should raise questions: the top two bars are the label's own inputs. We say 'the model recovers our rule,' never 'we achieved 100%.'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minutes. Switch to the live app here. Test case to run live: width 0.5 -&gt; not accessible. Then one address search. Backup: screenshots if wifi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Rubric wants BOTH sides. The negative side is concrete because we lived it: our own model was the cautionary 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minute. This is the rubric's highest-weight answer. Key line: the same process that created the bias gave us the tools to catch it - if we chose to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Measurable, dated next steps (rubric 5/5). The rule-free experiment is the headline: it's the one place the model could show genuine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15 seconds. Thank the audience, point at the QR/live link, invite them to try the app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audience. Invite them to open the live app on their own device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859536"/>
            <a:ext cx="475488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AccessMap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40080" y="28803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data predict which sidewalks are accessible?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39776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13A  ·  AI4ALL Ignite Summer 2026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Zhang · Zaina Nadeem · Laxmi Pesara · Gavino Vargas · Ashton Moraes · Amen Bush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accessmap-13a.streamlit.app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Wheelchair users can't tell if a sidewalk is passable before they get there.</a:t>
            </a: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narrow, curb too high — they find out on the spot. A wrong route isn't an inconvenience; it can end a trip.</a:t>
            </a: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show that a road exists. They don't show whether a wheelchair can use it.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93776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5074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 </a:t>
            </a: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data predict which sidewalks are accessible for wheelchair users?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040880" y="1463040"/>
            <a:ext cx="4572000" cy="4846320"/>
          </a:xfrm>
          <a:prstGeom prst="roundRect">
            <a:avLst>
              <a:gd name="adj" fmla="val 2400"/>
            </a:avLst>
          </a:prstGeom>
          <a:solidFill>
            <a:srgbClr val="0A3A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06640" y="17373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406640" y="23774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2703" y="2513503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183880" y="2267712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Wheelchair users, caregivers, seniors plan routes with confidence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406640" y="370332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2703" y="383938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183880" y="3593592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collect sidewalk data but rarely turn it into anything usable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7406640" y="502920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2703" y="5165263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183880" y="4919472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model plugs into any routing app as a scoring layer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Datasets, One Question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" y="19824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8745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 — Amsterdam sidewalks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25603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72,274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914400" y="3337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segments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383280" y="2606040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measurements: width, curb height, crossings. Measures the physical world.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09360" y="155448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583680" y="18288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198241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06640" y="18745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— US addresses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83680" y="25603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10,104</a:t>
            </a:r>
            <a:endParaRPr lang="en-US" sz="4400" dirty="0"/>
          </a:p>
        </p:txBody>
      </p:sp>
      <p:sp>
        <p:nvSpPr>
          <p:cNvPr id="15" name="Text 11"/>
          <p:cNvSpPr/>
          <p:nvPr/>
        </p:nvSpPr>
        <p:spPr>
          <a:xfrm>
            <a:off x="6583680" y="3337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crowd-labeled rows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9052560" y="2606040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Crowd-sourced “sidewalk ok?” labels judged from Google Maps street images.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640080" y="493776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geographic overlap. </a:t>
            </a: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 meters in Amsterdam, the other spans a continent in degrees. Same pipeline runs on each; results are compared at the model level. Rows are never merged.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Algorithms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6766560" cy="4937760"/>
          </a:xfrm>
          <a:prstGeom prst="roundRect">
            <a:avLst>
              <a:gd name="adj" fmla="val 2222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572768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 (main model)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6217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classification — many decision trees vote
</a:t>
            </a: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</a:t>
            </a: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PMR: width, curb height, crossing, length. Housing: house type + crowd-confidence scores
</a:t>
            </a: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</a:t>
            </a: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/ not accessible, with a probability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794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chose it (pros)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4160520"/>
            <a:ext cx="31089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 features well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is readable — that's how we caught the bias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baseline without heavy tuning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97680" y="37947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(cons)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0" y="416052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invent signal that isn't in the features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rides a biased shortcut feature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interpretable than a single tree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80960" y="1371600"/>
            <a:ext cx="3931920" cy="4937760"/>
          </a:xfrm>
          <a:prstGeom prst="roundRect">
            <a:avLst>
              <a:gd name="adj" fmla="val 2791"/>
            </a:avLst>
          </a:prstGeom>
          <a:solidFill>
            <a:srgbClr val="0A3A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955280" y="157276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tools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55280" y="2148840"/>
            <a:ext cx="33832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Embeds each address into a 768-dim vector (6,425 addresses)
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search over those vectors: “find addresses like this one,” ranked by distance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Project Evolved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508760" y="1463040"/>
            <a:ext cx="868680" cy="8686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508760" y="146304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3017520"/>
            <a:ext cx="2148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trained. Two problems surface: Housing below baseline, PMR over-flags.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93008" y="182880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61688" y="1463040"/>
            <a:ext cx="868680" cy="8686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61688" y="146304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93008" y="25146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fix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21608" y="3017520"/>
            <a:ext cx="2148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state from Housing, retrain. Result: a null finding — and an honest one.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45936" y="182880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214616" y="14630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214616" y="146304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45936" y="25146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fix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74536" y="3017520"/>
            <a:ext cx="2148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 threshold tuning fails. Root cause found in features; curb height added.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98864" y="182880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067544" y="1463040"/>
            <a:ext cx="868680" cy="868680"/>
          </a:xfrm>
          <a:prstGeom prst="ellipse">
            <a:avLst/>
          </a:prstGeom>
          <a:solidFill>
            <a:srgbClr val="0A3A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067544" y="146304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198864" y="25146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427464" y="3017520"/>
            <a:ext cx="2148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built, tested locally + on the cloud, live for anyone to use.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didn't get it right the first time — and that's the story worth telling.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 1 — The Housing Model Learned Geography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640080" y="1463040"/>
          <a:ext cx="57607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6766560" y="1645920"/>
            <a:ext cx="48463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67.4% accuracy vs. an 85.3% baseline — worse than guessing.
One feature, </a:t>
            </a: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drove 89% of every decision. The model wasn't judging house condition. It was memorizing which states have more “bad sidewalk” labels.
</a:t>
            </a: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bias problem, not a tuning problem.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Revealed the Real Finding</a:t>
            </a:r>
            <a:endParaRPr lang="en-US" sz="34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640080" y="1417320"/>
          <a:ext cx="6400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7406640" y="1554480"/>
            <a:ext cx="4206240" cy="2011680"/>
          </a:xfrm>
          <a:prstGeom prst="roundRect">
            <a:avLst>
              <a:gd name="adj" fmla="val 5455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635240" y="1691640"/>
            <a:ext cx="37490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Housing: </a:t>
            </a: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85.0% ties the 85.3% baseline. Recall on bad sidewalks: 0.01. Without state, no signal is left — and the raw data has no other features to add.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7406640" y="3794760"/>
            <a:ext cx="4206240" cy="2011680"/>
          </a:xfrm>
          <a:prstGeom prst="roundRect">
            <a:avLst>
              <a:gd name="adj" fmla="val 5455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635240" y="3931920"/>
            <a:ext cx="37490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 is a result. </a:t>
            </a: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dataset can't predict sidewalk condition, and here's why” is our headline bias finding — not a failure to hide.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 2 — Confidently Wrong, Not Unsure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" y="178308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" y="1925726"/>
            <a:ext cx="309067" cy="3090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82880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1: move the threshold — failed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5146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 over-flagged “not accessible” (precision 0.55). We raised the cutoff from 0.5 to 0.65. Nothing changed.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35661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/ 14,455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914400" y="434340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predictions sat anywhere near the cutoff. Probabilities were pinned at 0 or 1 — the model wasn't hesitating, it was confidently wrong. A threshold can't fix confident mistakes.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55080" y="150876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0A3A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629400" y="178308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046" y="1925726"/>
            <a:ext cx="309067" cy="30906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06640" y="182880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2: fix the features — worked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629400" y="25146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label rule = width + curb height. But the model only ever saw width — it was guessing the curb half blind.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629400" y="361188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added curb_height_max and a missing-value flag (74% of rows have no curb measurement — the missingness itself is information).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6629400" y="48920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check the probability distribution before reaching for a threshold.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— Read the Numbers Honestly</a:t>
            </a:r>
            <a:endParaRPr lang="en-US" sz="34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640080" y="1463040"/>
          <a:ext cx="57607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6766560" y="1554480"/>
            <a:ext cx="48463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PMR: 100% accuracy.
</a:t>
            </a:r>
            <a:r>
              <a:rPr lang="en-US" sz="14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Expected, not impressive. The two label inputs (width + curb height) now top the chart — the model recovers the rule we wrote. It proves the pipeline is consistent, nothing more.
</a:t>
            </a: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Housing: 85.0%.
</a:t>
            </a:r>
            <a:r>
              <a:rPr lang="en-US" sz="14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majority-class rate, not skill. The honest conclusion stands: house-level features alone can't predict sidewalk condition.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3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accessmap-13a.streamlit.app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6616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2377440"/>
            <a:ext cx="640080" cy="640080"/>
          </a:xfrm>
          <a:prstGeom prst="ellipse">
            <a:avLst/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" y="253105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4231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Sidewalk Checker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15468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width, curb height, crossing, length → accessible / not accessible + confidence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2103120"/>
            <a:ext cx="356616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709160" y="2377440"/>
            <a:ext cx="640080" cy="640080"/>
          </a:xfrm>
          <a:prstGeom prst="ellipse">
            <a:avLst/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779" y="253105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24231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Search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709160" y="315468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address → FAISS returns similar addresses with sidewalk labels + distances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0" y="2103120"/>
            <a:ext cx="356616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503920" y="2377440"/>
            <a:ext cx="640080" cy="640080"/>
          </a:xfrm>
          <a:prstGeom prst="ellipse">
            <a:avLst/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7539" y="25310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281160" y="24231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&amp; Limits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503920" y="315468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app does, what it refuses to do, and why — honesty as a feature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07492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decision we're proud of: </a:t>
            </a:r>
            <a:r>
              <a:rPr lang="en-US" sz="15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does NOT predict sidewalk condition for US addresses. We tested that model — it has no signal — so the app reports the real crowd label instead of pretending to predict.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— Both Sides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" y="19824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9019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Wheelchair users and caregivers plan routes before leaving home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can find clusters of bad segments and prioritize repairs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becomes a data layer any routing app can adopt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55080" y="155448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629400" y="182880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019" y="19824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52360" y="19019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/ risks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6629400" y="2606040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biased model could systematically mislabel whole regions — exactly what our Housing model did before the fix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“accessible” labels are worse than no label: someone plans a trip they can't finish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labels (ours) can encode wrong assumptions if never validated against real users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3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Question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the process of creating AI/ML solutions amplify or mitigate bias in our case?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5440680" cy="3200400"/>
          </a:xfrm>
          <a:prstGeom prst="roundRect">
            <a:avLst>
              <a:gd name="adj" fmla="val 3429"/>
            </a:avLst>
          </a:prstGeom>
          <a:solidFill>
            <a:srgbClr val="124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amplified bias when…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291840"/>
            <a:ext cx="4892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let a geographic proxy (state) dominate training. The model looked like it was scoring house condition; it was really scoring ZIP codes. High feature importance made an unfair shortcut look like intelligence.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55080" y="2560320"/>
            <a:ext cx="5440680" cy="3200400"/>
          </a:xfrm>
          <a:prstGeom prst="roundRect">
            <a:avLst>
              <a:gd name="adj" fmla="val 3429"/>
            </a:avLst>
          </a:prstGeom>
          <a:solidFill>
            <a:srgbClr val="124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2940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mitigated bias when…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29400" y="3291840"/>
            <a:ext cx="4892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audited feature importance, removed the proxy, retested, and reported the honest null result instead of a prettier number. The same ML process that created the bias also gave us the tools to catch it — if we chose to look.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658368" cy="658368"/>
          </a:xfrm>
          <a:prstGeom prst="ellipse">
            <a:avLst/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" y="1712488"/>
            <a:ext cx="342351" cy="34235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1508760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Rule-free PMR experiment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554480" y="1901952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only features outside the label rule (crossing, length, width_fill): can accessibility be guessed without measuring? The one test where the model can show real skill.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0378440" y="157276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0378440" y="157276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761488"/>
            <a:ext cx="658368" cy="658368"/>
          </a:xfrm>
          <a:prstGeom prst="ellipse">
            <a:avLst/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88" y="2919496"/>
            <a:ext cx="342351" cy="3423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715768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label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1554480" y="310896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our width/curb rule against the 50 verified accessibility labels; report agreement.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10378440" y="277977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10378440" y="277977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0080" y="3968496"/>
            <a:ext cx="658368" cy="658368"/>
          </a:xfrm>
          <a:prstGeom prst="ellipse">
            <a:avLst/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088" y="4126504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3922776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Location-aware retrieval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1554480" y="4315968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coordinates to the PMR index so retrieval ranks within tied groups instead of returning exact ties.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10378440" y="39867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10378440" y="39867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40080" y="5175504"/>
            <a:ext cx="658368" cy="658368"/>
          </a:xfrm>
          <a:prstGeom prst="ellipse">
            <a:avLst/>
          </a:prstGeom>
          <a:solidFill>
            <a:srgbClr val="F4FA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088" y="5333512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5129784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roadmaps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554480" y="5522976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continues per their My AI Roadmap; repo stays public as a portfolio piece.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10378440" y="5193792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10378440" y="5193792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3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Citations &amp; Sources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of Amsterdam Open Data — PMR sidewalk accessibility dataset (72,274 segments)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CrowdFlower / Figure Eight “Data for Everyone” — Housing: Wheelchairs dataset (10,104 crowd-labeled US addresses)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&amp; methods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Breiman, L. (2001). Random Forests. Machine Learning, 45(1).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Johnson, J., Douze, M., &amp; Jégou, H. (2019). Billion-scale similarity search with GPUs. IEEE Transactions on Big Data. (FAISS)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Warner, B., et al. (2024). Smarter, Better, Faster, Longer: A Modern Bidirectional Encoder. (ModernBERT)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Mehrabi, N., et al. (2021). A Survey on Bias and Fairness in Machine Learning. ACM Computing Surveys.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Saha, M., et al. (2019). Project Sidewalk: A Web-based Crowdsourcing Tool for Collecting Sidewalk Accessibility Data at Scale. ACM CHI.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8978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 </a:t>
            </a: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accessmap-13a.streamlit.app</a:t>
            </a:r>
            <a:r>
              <a:rPr lang="en-US" sz="1600" dirty="0">
                <a:solidFill>
                  <a:srgbClr val="9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Code + docs:  </a:t>
            </a: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github.com/zhang-systems/ai4all-accessmap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3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4" y="170078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01752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Try the app yourself while we talk.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accessmap-13a.streamlit.app</a:t>
            </a:r>
            <a:r>
              <a:rPr lang="en-US" sz="1600" dirty="0">
                <a:solidFill>
                  <a:srgbClr val="9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FB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13A — AI4ALL Ignite Summer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1914</Words>
  <Application>Microsoft Office PowerPoint</Application>
  <PresentationFormat>Widescreen</PresentationFormat>
  <Paragraphs>157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Edumar Santos</cp:lastModifiedBy>
  <cp:revision>2</cp:revision>
  <dcterms:created xsi:type="dcterms:W3CDTF">2026-07-20T14:16:05Z</dcterms:created>
  <dcterms:modified xsi:type="dcterms:W3CDTF">2026-07-20T14:19:45Z</dcterms:modified>
</cp:coreProperties>
</file>