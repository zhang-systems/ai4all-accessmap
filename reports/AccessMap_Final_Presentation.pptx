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ccessmap-13a.streamlit.app/"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5960b6c8d_2_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g3f5960b6c8d_2_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 sz="1000">
                <a:solidFill>
                  <a:srgbClr val="980000"/>
                </a:solidFill>
                <a:latin typeface="Times New Roman"/>
                <a:ea typeface="Times New Roman"/>
                <a:cs typeface="Times New Roman"/>
                <a:sym typeface="Times New Roman"/>
              </a:rPr>
              <a:t>Zaina Nadeem</a:t>
            </a:r>
            <a:endParaRPr b="1" sz="9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rPr lang="en" sz="1000">
                <a:solidFill>
                  <a:srgbClr val="980000"/>
                </a:solidFill>
                <a:latin typeface="Times New Roman"/>
                <a:ea typeface="Times New Roman"/>
                <a:cs typeface="Times New Roman"/>
                <a:sym typeface="Times New Roman"/>
              </a:rPr>
              <a:t>Zaina Nadeem</a:t>
            </a:r>
            <a:endParaRPr b="1" sz="900">
              <a:solidFill>
                <a:srgbClr val="980000"/>
              </a:solidFill>
              <a:latin typeface="Times New Roman"/>
              <a:ea typeface="Times New Roman"/>
              <a:cs typeface="Times New Roman"/>
              <a:sym typeface="Times New Roman"/>
            </a:endParaRPr>
          </a:p>
          <a:p>
            <a:pPr indent="0" lvl="0" marL="0" marR="0" rtl="0" algn="l">
              <a:spcBef>
                <a:spcPts val="800"/>
              </a:spcBef>
              <a:spcAft>
                <a:spcPts val="0"/>
              </a:spcAft>
              <a:buNone/>
            </a:pPr>
            <a:r>
              <a:rPr lang="en" sz="1200">
                <a:solidFill>
                  <a:schemeClr val="dk1"/>
                </a:solidFill>
              </a:rPr>
              <a:t> </a:t>
            </a:r>
            <a:r>
              <a:rPr b="1" lang="en" sz="900">
                <a:solidFill>
                  <a:schemeClr val="dk1"/>
                </a:solidFill>
                <a:latin typeface="Times New Roman"/>
                <a:ea typeface="Times New Roman"/>
                <a:cs typeface="Times New Roman"/>
                <a:sym typeface="Times New Roman"/>
              </a:rPr>
              <a:t>Slide 1 — Title Slide/ </a:t>
            </a:r>
            <a:r>
              <a:rPr lang="en" sz="700">
                <a:solidFill>
                  <a:schemeClr val="dk1"/>
                </a:solidFill>
                <a:latin typeface="Times New Roman"/>
                <a:ea typeface="Times New Roman"/>
                <a:cs typeface="Times New Roman"/>
                <a:sym typeface="Times New Roman"/>
              </a:rPr>
              <a:t> </a:t>
            </a:r>
            <a:r>
              <a:rPr lang="en" sz="1000">
                <a:solidFill>
                  <a:srgbClr val="980000"/>
                </a:solidFill>
                <a:latin typeface="Times New Roman"/>
                <a:ea typeface="Times New Roman"/>
                <a:cs typeface="Times New Roman"/>
                <a:sym typeface="Times New Roman"/>
              </a:rPr>
              <a:t>Zaina Nadeem</a:t>
            </a:r>
            <a:endParaRPr b="1" sz="900">
              <a:solidFill>
                <a:srgbClr val="980000"/>
              </a:solidFill>
              <a:latin typeface="Times New Roman"/>
              <a:ea typeface="Times New Roman"/>
              <a:cs typeface="Times New Roman"/>
              <a:sym typeface="Times New Roman"/>
            </a:endParaRPr>
          </a:p>
          <a:p>
            <a:pPr indent="0" lvl="0" marL="0" marR="0" rtl="0" algn="l">
              <a:spcBef>
                <a:spcPts val="0"/>
              </a:spcBef>
              <a:spcAft>
                <a:spcPts val="0"/>
              </a:spcAft>
              <a:buNone/>
            </a:pPr>
            <a:r>
              <a:rPr b="1" lang="en" sz="900">
                <a:solidFill>
                  <a:srgbClr val="980000"/>
                </a:solidFill>
                <a:latin typeface="Times New Roman"/>
                <a:ea typeface="Times New Roman"/>
                <a:cs typeface="Times New Roman"/>
                <a:sym typeface="Times New Roman"/>
              </a:rPr>
              <a:t> </a:t>
            </a:r>
            <a:r>
              <a:rPr lang="en" sz="900">
                <a:solidFill>
                  <a:schemeClr val="dk1"/>
                </a:solidFill>
                <a:latin typeface="Times New Roman"/>
                <a:ea typeface="Times New Roman"/>
                <a:cs typeface="Times New Roman"/>
                <a:sym typeface="Times New Roman"/>
              </a:rPr>
              <a:t>Hi everyone. We are Group 13A. Our project is called AccessMap. We asked one question: Can data predict which sidewalks are safe for wheelchairs? You can try our app right now at this link.</a:t>
            </a:r>
            <a:endParaRPr sz="9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a:p>
        </p:txBody>
      </p:sp>
      <p:sp>
        <p:nvSpPr>
          <p:cNvPr id="55" name="Google Shape;55;g3f5960b6c8d_2_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5960b6c8d_2_1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g3f5960b6c8d_2_15: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Slide 2 — The Problem/</a:t>
            </a:r>
            <a:r>
              <a:rPr b="1" lang="en" sz="900">
                <a:solidFill>
                  <a:srgbClr val="980000"/>
                </a:solidFill>
                <a:latin typeface="Times New Roman"/>
                <a:ea typeface="Times New Roman"/>
                <a:cs typeface="Times New Roman"/>
                <a:sym typeface="Times New Roman"/>
              </a:rPr>
              <a:t> </a:t>
            </a:r>
            <a:r>
              <a:rPr lang="en" sz="700">
                <a:solidFill>
                  <a:srgbClr val="980000"/>
                </a:solidFill>
                <a:latin typeface="Times New Roman"/>
                <a:ea typeface="Times New Roman"/>
                <a:cs typeface="Times New Roman"/>
                <a:sym typeface="Times New Roman"/>
              </a:rPr>
              <a:t> </a:t>
            </a:r>
            <a:r>
              <a:rPr lang="en" sz="1000">
                <a:solidFill>
                  <a:srgbClr val="980000"/>
                </a:solidFill>
                <a:latin typeface="Times New Roman"/>
                <a:ea typeface="Times New Roman"/>
                <a:cs typeface="Times New Roman"/>
                <a:sym typeface="Times New Roman"/>
              </a:rPr>
              <a:t>Zaina Nadeem</a:t>
            </a:r>
            <a:endParaRPr b="1" sz="9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Imagine you use a wheelchair. You want to go somewhere. But you don't know if the sidewalk is wide enough. You don't know if the curb is too high. You only find out when you get there. If it's bad, your trip is over. Google Maps shows you roads. But it does not tell you if a wheelchair can use them. That is the problem we want to solve.</a:t>
            </a:r>
            <a:endParaRPr sz="900">
              <a:solidFill>
                <a:schemeClr val="dk1"/>
              </a:solidFill>
              <a:latin typeface="Times New Roman"/>
              <a:ea typeface="Times New Roman"/>
              <a:cs typeface="Times New Roman"/>
              <a:sym typeface="Times New Roman"/>
            </a:endParaRPr>
          </a:p>
          <a:p>
            <a:pPr indent="0" lvl="0" marL="0" marR="0" rtl="0" algn="l">
              <a:spcBef>
                <a:spcPts val="800"/>
              </a:spcBef>
              <a:spcAft>
                <a:spcPts val="0"/>
              </a:spcAft>
              <a:buNone/>
            </a:pPr>
            <a:r>
              <a:t/>
            </a:r>
            <a:endParaRPr sz="1200">
              <a:solidFill>
                <a:schemeClr val="dk1"/>
              </a:solidFill>
            </a:endParaRPr>
          </a:p>
        </p:txBody>
      </p:sp>
      <p:sp>
        <p:nvSpPr>
          <p:cNvPr id="68" name="Google Shape;68;g3f5960b6c8d_2_15: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5960b6c8d_2_3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g3f5960b6c8d_2_3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Slide 3 — Two Datasets, One Question/ </a:t>
            </a:r>
            <a:r>
              <a:rPr lang="en" sz="700">
                <a:solidFill>
                  <a:srgbClr val="980000"/>
                </a:solidFill>
                <a:latin typeface="Times New Roman"/>
                <a:ea typeface="Times New Roman"/>
                <a:cs typeface="Times New Roman"/>
                <a:sym typeface="Times New Roman"/>
              </a:rPr>
              <a:t> </a:t>
            </a:r>
            <a:r>
              <a:rPr lang="en" sz="1000">
                <a:solidFill>
                  <a:srgbClr val="980000"/>
                </a:solidFill>
                <a:latin typeface="Times New Roman"/>
                <a:ea typeface="Times New Roman"/>
                <a:cs typeface="Times New Roman"/>
                <a:sym typeface="Times New Roman"/>
              </a:rPr>
              <a:t>Zaina Nadeem</a:t>
            </a:r>
            <a:endParaRPr b="1" sz="9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We used two datasets. The first one is from Amsterdam. It has over 72,000 sidewalk segments with real measurements — like width and curb height. The second one is from the US. It has about 10,000 addresses. People looked at Google Street View and said if the sidewalk was okay or not. These two datasets are from different places. We never mixed them together. We trained a separate model on each one.</a:t>
            </a:r>
            <a:endParaRPr sz="900">
              <a:solidFill>
                <a:schemeClr val="dk1"/>
              </a:solidFill>
              <a:latin typeface="Times New Roman"/>
              <a:ea typeface="Times New Roman"/>
              <a:cs typeface="Times New Roman"/>
              <a:sym typeface="Times New Roman"/>
            </a:endParaRPr>
          </a:p>
          <a:p>
            <a:pPr indent="0" lvl="0" marL="0" marR="0" rtl="0" algn="l">
              <a:spcBef>
                <a:spcPts val="800"/>
              </a:spcBef>
              <a:spcAft>
                <a:spcPts val="0"/>
              </a:spcAft>
              <a:buNone/>
            </a:pPr>
            <a:r>
              <a:t/>
            </a:r>
            <a:endParaRPr/>
          </a:p>
        </p:txBody>
      </p:sp>
      <p:sp>
        <p:nvSpPr>
          <p:cNvPr id="88" name="Google Shape;88;g3f5960b6c8d_2_3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5960b6c8d_2_5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g3f5960b6c8d_2_5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Slide 4 — The Algorithms/</a:t>
            </a:r>
            <a:r>
              <a:rPr b="1" lang="en" sz="900">
                <a:solidFill>
                  <a:srgbClr val="980000"/>
                </a:solidFill>
                <a:latin typeface="Times New Roman"/>
                <a:ea typeface="Times New Roman"/>
                <a:cs typeface="Times New Roman"/>
                <a:sym typeface="Times New Roman"/>
              </a:rPr>
              <a:t> </a:t>
            </a:r>
            <a:r>
              <a:rPr lang="en" sz="1000">
                <a:solidFill>
                  <a:srgbClr val="980000"/>
                </a:solidFill>
                <a:latin typeface="Times New Roman"/>
                <a:ea typeface="Times New Roman"/>
                <a:cs typeface="Times New Roman"/>
                <a:sym typeface="Times New Roman"/>
              </a:rPr>
              <a:t>Ashton Moraes </a:t>
            </a:r>
            <a:endParaRPr sz="1000">
              <a:solidFill>
                <a:srgbClr val="980000"/>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Among all the algorithms we evaluated, we chose </a:t>
            </a:r>
            <a:r>
              <a:rPr b="1" lang="en" sz="900">
                <a:solidFill>
                  <a:schemeClr val="dk1"/>
                </a:solidFill>
                <a:latin typeface="Times New Roman"/>
                <a:ea typeface="Times New Roman"/>
                <a:cs typeface="Times New Roman"/>
                <a:sym typeface="Times New Roman"/>
              </a:rPr>
              <a:t>Random Forest</a:t>
            </a:r>
            <a:r>
              <a:rPr lang="en" sz="900">
                <a:solidFill>
                  <a:schemeClr val="dk1"/>
                </a:solidFill>
                <a:latin typeface="Times New Roman"/>
                <a:ea typeface="Times New Roman"/>
                <a:cs typeface="Times New Roman"/>
                <a:sym typeface="Times New Roman"/>
              </a:rPr>
              <a:t> as our main model for our accessibility map. Because we are predicting whether a route or space is accessible for people with disabilities based on real physical measurements like sidewalk width, curb height, and crossing details, we needed something reliable. Random Forest is great because it handles these mixed features effortlessly and gives us a strong baseline right out of the box. Essentially, it’s a group of many decision trees that all vote together. We really like it because it shows us clearly which features matter most—and that is actually how we found a hidden bias in our data, which I'll explain in just a moment. (Of course, it does have a few trade-offs, like sometimes latching onto shortcut features). To support our mapping tool, we also used </a:t>
            </a:r>
            <a:r>
              <a:rPr b="1" lang="en" sz="900">
                <a:solidFill>
                  <a:schemeClr val="dk1"/>
                </a:solidFill>
                <a:latin typeface="Times New Roman"/>
                <a:ea typeface="Times New Roman"/>
                <a:cs typeface="Times New Roman"/>
                <a:sym typeface="Times New Roman"/>
              </a:rPr>
              <a:t>ModernBERT</a:t>
            </a:r>
            <a:r>
              <a:rPr lang="en" sz="900">
                <a:solidFill>
                  <a:schemeClr val="dk1"/>
                </a:solidFill>
                <a:latin typeface="Times New Roman"/>
                <a:ea typeface="Times New Roman"/>
                <a:cs typeface="Times New Roman"/>
                <a:sym typeface="Times New Roman"/>
              </a:rPr>
              <a:t> to turn thousands of addresses into numbers, and </a:t>
            </a:r>
            <a:r>
              <a:rPr b="1" lang="en" sz="900">
                <a:solidFill>
                  <a:schemeClr val="dk1"/>
                </a:solidFill>
                <a:latin typeface="Times New Roman"/>
                <a:ea typeface="Times New Roman"/>
                <a:cs typeface="Times New Roman"/>
                <a:sym typeface="Times New Roman"/>
              </a:rPr>
              <a:t>FAISS</a:t>
            </a:r>
            <a:r>
              <a:rPr lang="en" sz="900">
                <a:solidFill>
                  <a:schemeClr val="dk1"/>
                </a:solidFill>
                <a:latin typeface="Times New Roman"/>
                <a:ea typeface="Times New Roman"/>
                <a:cs typeface="Times New Roman"/>
                <a:sym typeface="Times New Roman"/>
              </a:rPr>
              <a:t> to quickly search and find similar addresses by distance.</a:t>
            </a:r>
            <a:endParaRPr sz="900">
              <a:solidFill>
                <a:schemeClr val="dk1"/>
              </a:solidFill>
              <a:latin typeface="Times New Roman"/>
              <a:ea typeface="Times New Roman"/>
              <a:cs typeface="Times New Roman"/>
              <a:sym typeface="Times New Roman"/>
            </a:endParaRPr>
          </a:p>
          <a:p>
            <a:pPr indent="0" lvl="0" marL="0" marR="0" rtl="0" algn="l">
              <a:spcBef>
                <a:spcPts val="1200"/>
              </a:spcBef>
              <a:spcAft>
                <a:spcPts val="0"/>
              </a:spcAft>
              <a:buNone/>
            </a:pPr>
            <a:r>
              <a:t/>
            </a:r>
            <a:endParaRPr/>
          </a:p>
        </p:txBody>
      </p:sp>
      <p:sp>
        <p:nvSpPr>
          <p:cNvPr id="109" name="Google Shape;109;g3f5960b6c8d_2_5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5960b6c8d_2_69: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g3f5960b6c8d_2_69: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Slide 5 — How the Project Evolved/</a:t>
            </a:r>
            <a:r>
              <a:rPr b="1" lang="en" sz="900">
                <a:solidFill>
                  <a:srgbClr val="980000"/>
                </a:solidFill>
                <a:latin typeface="Times New Roman"/>
                <a:ea typeface="Times New Roman"/>
                <a:cs typeface="Times New Roman"/>
                <a:sym typeface="Times New Roman"/>
              </a:rPr>
              <a:t> </a:t>
            </a:r>
            <a:r>
              <a:rPr lang="en" sz="1000">
                <a:solidFill>
                  <a:srgbClr val="980000"/>
                </a:solidFill>
                <a:latin typeface="Times New Roman"/>
                <a:ea typeface="Times New Roman"/>
                <a:cs typeface="Times New Roman"/>
                <a:sym typeface="Times New Roman"/>
              </a:rPr>
              <a:t>Ashton Moraes </a:t>
            </a:r>
            <a:endParaRPr sz="1000">
              <a:solidFill>
                <a:srgbClr val="980000"/>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We didn't get this right the first time—and honestly, that’s the best part of our story. Let me walk you through how the project evolved:</a:t>
            </a:r>
            <a:endParaRPr sz="900">
              <a:solidFill>
                <a:schemeClr val="dk1"/>
              </a:solidFill>
              <a:latin typeface="Times New Roman"/>
              <a:ea typeface="Times New Roman"/>
              <a:cs typeface="Times New Roman"/>
              <a:sym typeface="Times New Roman"/>
            </a:endParaRPr>
          </a:p>
          <a:p>
            <a:pPr indent="-285750" lvl="0" marL="457200" rtl="0" algn="l">
              <a:lnSpc>
                <a:spcPct val="115000"/>
              </a:lnSpc>
              <a:spcBef>
                <a:spcPts val="120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In Version 1 (our baselines),</a:t>
            </a:r>
            <a:r>
              <a:rPr lang="en" sz="900">
                <a:solidFill>
                  <a:schemeClr val="dk1"/>
                </a:solidFill>
                <a:latin typeface="Times New Roman"/>
                <a:ea typeface="Times New Roman"/>
                <a:cs typeface="Times New Roman"/>
                <a:sym typeface="Times New Roman"/>
              </a:rPr>
              <a:t> we trained both initial models. But we ran into trouble: the housing model performed below baseline, and our PMR model was throwing way too many false alarms.</a:t>
            </a:r>
            <a:endParaRPr sz="900">
              <a:solidFill>
                <a:schemeClr val="dk1"/>
              </a:solidFill>
              <a:latin typeface="Times New Roman"/>
              <a:ea typeface="Times New Roman"/>
              <a:cs typeface="Times New Roman"/>
              <a:sym typeface="Times New Roman"/>
            </a:endParaRPr>
          </a:p>
          <a:p>
            <a:pPr indent="-285750" lvl="0" marL="457200" rtl="0" algn="l">
              <a:lnSpc>
                <a:spcPct val="115000"/>
              </a:lnSpc>
              <a:spcBef>
                <a:spcPts val="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In Version 2,</a:t>
            </a:r>
            <a:r>
              <a:rPr lang="en" sz="900">
                <a:solidFill>
                  <a:schemeClr val="dk1"/>
                </a:solidFill>
                <a:latin typeface="Times New Roman"/>
                <a:ea typeface="Times New Roman"/>
                <a:cs typeface="Times New Roman"/>
                <a:sym typeface="Times New Roman"/>
              </a:rPr>
              <a:t> we dug in, found a hidden bias, dropped state from the housing data, and retrained. It resulted in a null finding, but an honest one.</a:t>
            </a:r>
            <a:endParaRPr sz="900">
              <a:solidFill>
                <a:schemeClr val="dk1"/>
              </a:solidFill>
              <a:latin typeface="Times New Roman"/>
              <a:ea typeface="Times New Roman"/>
              <a:cs typeface="Times New Roman"/>
              <a:sym typeface="Times New Roman"/>
            </a:endParaRPr>
          </a:p>
          <a:p>
            <a:pPr indent="-285750" lvl="0" marL="457200" rtl="0" algn="l">
              <a:lnSpc>
                <a:spcPct val="115000"/>
              </a:lnSpc>
              <a:spcBef>
                <a:spcPts val="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In Version 3,</a:t>
            </a:r>
            <a:r>
              <a:rPr lang="en" sz="900">
                <a:solidFill>
                  <a:schemeClr val="dk1"/>
                </a:solidFill>
                <a:latin typeface="Times New Roman"/>
                <a:ea typeface="Times New Roman"/>
                <a:cs typeface="Times New Roman"/>
                <a:sym typeface="Times New Roman"/>
              </a:rPr>
              <a:t> we tackled precision issues by looking closer at our features, tracking down the root cause, and adding curb height data to get our predictions right.</a:t>
            </a:r>
            <a:endParaRPr sz="900">
              <a:solidFill>
                <a:schemeClr val="dk1"/>
              </a:solidFill>
              <a:latin typeface="Times New Roman"/>
              <a:ea typeface="Times New Roman"/>
              <a:cs typeface="Times New Roman"/>
              <a:sym typeface="Times New Roman"/>
            </a:endParaRPr>
          </a:p>
          <a:p>
            <a:pPr indent="-285750" lvl="0" marL="457200" rtl="0" algn="l">
              <a:lnSpc>
                <a:spcPct val="115000"/>
              </a:lnSpc>
              <a:spcBef>
                <a:spcPts val="0"/>
              </a:spcBef>
              <a:spcAft>
                <a:spcPts val="0"/>
              </a:spcAft>
              <a:buClr>
                <a:schemeClr val="dk1"/>
              </a:buClr>
              <a:buSzPts val="900"/>
              <a:buFont typeface="Times New Roman"/>
              <a:buChar char="●"/>
            </a:pPr>
            <a:r>
              <a:rPr b="1" lang="en" sz="900">
                <a:solidFill>
                  <a:schemeClr val="dk1"/>
                </a:solidFill>
                <a:latin typeface="Times New Roman"/>
                <a:ea typeface="Times New Roman"/>
                <a:cs typeface="Times New Roman"/>
                <a:sym typeface="Times New Roman"/>
              </a:rPr>
              <a:t>And finally, in Version 4,</a:t>
            </a:r>
            <a:r>
              <a:rPr lang="en" sz="900">
                <a:solidFill>
                  <a:schemeClr val="dk1"/>
                </a:solidFill>
                <a:latin typeface="Times New Roman"/>
                <a:ea typeface="Times New Roman"/>
                <a:cs typeface="Times New Roman"/>
                <a:sym typeface="Times New Roman"/>
              </a:rPr>
              <a:t> with everything refined and tested, we built our Streamlit app and deployed it live to the cloud so anyone can use it.</a:t>
            </a:r>
            <a:endParaRPr sz="900">
              <a:solidFill>
                <a:schemeClr val="dk1"/>
              </a:solidFill>
              <a:latin typeface="Times New Roman"/>
              <a:ea typeface="Times New Roman"/>
              <a:cs typeface="Times New Roman"/>
              <a:sym typeface="Times New Roman"/>
            </a:endParaRPr>
          </a:p>
          <a:p>
            <a:pPr indent="0" lvl="0" marL="0" marR="0" rtl="0" algn="l">
              <a:spcBef>
                <a:spcPts val="1200"/>
              </a:spcBef>
              <a:spcAft>
                <a:spcPts val="0"/>
              </a:spcAft>
              <a:buNone/>
            </a:pP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(Ashton)</a:t>
            </a:r>
            <a:endParaRPr/>
          </a:p>
        </p:txBody>
      </p:sp>
      <p:sp>
        <p:nvSpPr>
          <p:cNvPr id="125" name="Google Shape;125;g3f5960b6c8d_2_69: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5960b6c8d_2_9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g3f5960b6c8d_2_95: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Slide 6 — Challenge 1: The Housing Model Learned Geography/ </a:t>
            </a:r>
            <a:r>
              <a:rPr lang="en" sz="1000">
                <a:solidFill>
                  <a:srgbClr val="980000"/>
                </a:solidFill>
                <a:latin typeface="Times New Roman"/>
                <a:ea typeface="Times New Roman"/>
                <a:cs typeface="Times New Roman"/>
                <a:sym typeface="Times New Roman"/>
              </a:rPr>
              <a:t>Ashton Moraes / Gavino Vargas</a:t>
            </a:r>
            <a:endParaRPr sz="1000">
              <a:solidFill>
                <a:srgbClr val="980000"/>
              </a:solidFill>
              <a:latin typeface="Times New Roman"/>
              <a:ea typeface="Times New Roman"/>
              <a:cs typeface="Times New Roman"/>
              <a:sym typeface="Times New Roman"/>
            </a:endParaRPr>
          </a:p>
          <a:p>
            <a:pPr indent="0" lvl="0" marL="0" rtl="0" algn="l">
              <a:spcBef>
                <a:spcPts val="8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Here is what went wrong with our first attempt. Our Housing model scored only </a:t>
            </a:r>
            <a:r>
              <a:rPr b="1" lang="en" sz="900">
                <a:solidFill>
                  <a:schemeClr val="dk1"/>
                </a:solidFill>
                <a:latin typeface="Times New Roman"/>
                <a:ea typeface="Times New Roman"/>
                <a:cs typeface="Times New Roman"/>
                <a:sym typeface="Times New Roman"/>
              </a:rPr>
              <a:t>67.4% accuracy</a:t>
            </a:r>
            <a:r>
              <a:rPr lang="en" sz="900">
                <a:solidFill>
                  <a:schemeClr val="dk1"/>
                </a:solidFill>
                <a:latin typeface="Times New Roman"/>
                <a:ea typeface="Times New Roman"/>
                <a:cs typeface="Times New Roman"/>
                <a:sym typeface="Times New Roman"/>
              </a:rPr>
              <a:t>—which is actually worse than just guessing the baseline.</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Why? Because as the chart makes obvious, one feature was doing all the work: </a:t>
            </a:r>
            <a:r>
              <a:rPr b="1" lang="en" sz="900">
                <a:solidFill>
                  <a:schemeClr val="dk1"/>
                </a:solidFill>
                <a:latin typeface="Times New Roman"/>
                <a:ea typeface="Times New Roman"/>
                <a:cs typeface="Times New Roman"/>
                <a:sym typeface="Times New Roman"/>
              </a:rPr>
              <a:t>state</a:t>
            </a:r>
            <a:r>
              <a:rPr lang="en" sz="900">
                <a:solidFill>
                  <a:schemeClr val="dk1"/>
                </a:solidFill>
                <a:latin typeface="Times New Roman"/>
                <a:ea typeface="Times New Roman"/>
                <a:cs typeface="Times New Roman"/>
                <a:sym typeface="Times New Roman"/>
              </a:rPr>
              <a:t>. It drove </a:t>
            </a:r>
            <a:r>
              <a:rPr b="1" lang="en" sz="900">
                <a:solidFill>
                  <a:schemeClr val="dk1"/>
                </a:solidFill>
                <a:latin typeface="Times New Roman"/>
                <a:ea typeface="Times New Roman"/>
                <a:cs typeface="Times New Roman"/>
                <a:sym typeface="Times New Roman"/>
              </a:rPr>
              <a:t>89.5%</a:t>
            </a:r>
            <a:r>
              <a:rPr lang="en" sz="900">
                <a:solidFill>
                  <a:schemeClr val="dk1"/>
                </a:solidFill>
                <a:latin typeface="Times New Roman"/>
                <a:ea typeface="Times New Roman"/>
                <a:cs typeface="Times New Roman"/>
                <a:sym typeface="Times New Roman"/>
              </a:rPr>
              <a:t> of every single decision.</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model wasn't judging the actual housing or sidewalk conditions; it was just memorizing which states happened to have more 'bad sidewalk' labels.</a:t>
            </a:r>
            <a:endParaRPr sz="9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To be clear: this is a </a:t>
            </a:r>
            <a:r>
              <a:rPr b="1" lang="en" sz="900">
                <a:solidFill>
                  <a:schemeClr val="dk1"/>
                </a:solidFill>
                <a:latin typeface="Times New Roman"/>
                <a:ea typeface="Times New Roman"/>
                <a:cs typeface="Times New Roman"/>
                <a:sym typeface="Times New Roman"/>
              </a:rPr>
              <a:t>bias problem, not a tuning problem</a:t>
            </a:r>
            <a:r>
              <a:rPr lang="en" sz="900">
                <a:solidFill>
                  <a:schemeClr val="dk1"/>
                </a:solidFill>
                <a:latin typeface="Times New Roman"/>
                <a:ea typeface="Times New Roman"/>
                <a:cs typeface="Times New Roman"/>
                <a:sym typeface="Times New Roman"/>
              </a:rPr>
              <a:t>.</a:t>
            </a:r>
            <a:endParaRPr sz="9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200">
              <a:solidFill>
                <a:schemeClr val="dk1"/>
              </a:solidFill>
            </a:endParaRPr>
          </a:p>
        </p:txBody>
      </p:sp>
      <p:sp>
        <p:nvSpPr>
          <p:cNvPr id="152" name="Google Shape;152;g3f5960b6c8d_2_95: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5960b6c8d_2_10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g3f5960b6c8d_2_10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Slide 7 — The Fix Revealed the Real Finding/ </a:t>
            </a:r>
            <a:r>
              <a:rPr lang="en" sz="1000">
                <a:solidFill>
                  <a:srgbClr val="980000"/>
                </a:solidFill>
                <a:latin typeface="Times New Roman"/>
                <a:ea typeface="Times New Roman"/>
                <a:cs typeface="Times New Roman"/>
                <a:sym typeface="Times New Roman"/>
              </a:rPr>
              <a:t>Amen Bush</a:t>
            </a:r>
            <a:r>
              <a:rPr lang="en" sz="1000">
                <a:solidFill>
                  <a:schemeClr val="dk1"/>
                </a:solidFill>
                <a:latin typeface="Times New Roman"/>
                <a:ea typeface="Times New Roman"/>
                <a:cs typeface="Times New Roman"/>
                <a:sym typeface="Times New Roman"/>
              </a:rPr>
              <a:t> /</a:t>
            </a:r>
            <a:r>
              <a:rPr lang="en" sz="1000">
                <a:solidFill>
                  <a:srgbClr val="980000"/>
                </a:solidFill>
                <a:latin typeface="Times New Roman"/>
                <a:ea typeface="Times New Roman"/>
                <a:cs typeface="Times New Roman"/>
                <a:sym typeface="Times New Roman"/>
              </a:rPr>
              <a:t> Gavino Vargas</a:t>
            </a:r>
            <a:endParaRPr b="1" sz="9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So we removed the state feature and retrained. The accuracy went up to 85%. But the baseline — just always guessing 'okay' — is 85.3%. So the model is the same as guessing. It cannot find bad sidewalks at all. This is a null result. It means: this data cannot predict sidewalk condition. We think this is an important finding, not a failure.</a:t>
            </a:r>
            <a:endParaRPr sz="900">
              <a:solidFill>
                <a:schemeClr val="dk1"/>
              </a:solidFill>
              <a:latin typeface="Times New Roman"/>
              <a:ea typeface="Times New Roman"/>
              <a:cs typeface="Times New Roman"/>
              <a:sym typeface="Times New Roman"/>
            </a:endParaRPr>
          </a:p>
          <a:p>
            <a:pPr indent="0" lvl="0" marL="0" marR="0" rtl="0" algn="l">
              <a:spcBef>
                <a:spcPts val="800"/>
              </a:spcBef>
              <a:spcAft>
                <a:spcPts val="0"/>
              </a:spcAft>
              <a:buNone/>
            </a:pPr>
            <a:r>
              <a:t/>
            </a:r>
            <a:endParaRPr sz="1200">
              <a:solidFill>
                <a:schemeClr val="dk1"/>
              </a:solidFill>
            </a:endParaRPr>
          </a:p>
        </p:txBody>
      </p:sp>
      <p:sp>
        <p:nvSpPr>
          <p:cNvPr id="161" name="Google Shape;161;g3f5960b6c8d_2_10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5960b6c8d_2_11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g3f5960b6c8d_2_11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Slide 8 — Challenge 2: Confidently Wrong/</a:t>
            </a:r>
            <a:r>
              <a:rPr b="1" lang="en" sz="900">
                <a:solidFill>
                  <a:srgbClr val="980000"/>
                </a:solidFill>
                <a:latin typeface="Times New Roman"/>
                <a:ea typeface="Times New Roman"/>
                <a:cs typeface="Times New Roman"/>
                <a:sym typeface="Times New Roman"/>
              </a:rPr>
              <a:t> </a:t>
            </a:r>
            <a:r>
              <a:rPr lang="en" sz="1000">
                <a:solidFill>
                  <a:srgbClr val="980000"/>
                </a:solidFill>
                <a:latin typeface="Times New Roman"/>
                <a:ea typeface="Times New Roman"/>
                <a:cs typeface="Times New Roman"/>
                <a:sym typeface="Times New Roman"/>
              </a:rPr>
              <a:t>Amen Bush</a:t>
            </a:r>
            <a:r>
              <a:rPr lang="en" sz="1000">
                <a:solidFill>
                  <a:schemeClr val="dk1"/>
                </a:solidFill>
                <a:latin typeface="Times New Roman"/>
                <a:ea typeface="Times New Roman"/>
                <a:cs typeface="Times New Roman"/>
                <a:sym typeface="Times New Roman"/>
              </a:rPr>
              <a:t> / </a:t>
            </a:r>
            <a:r>
              <a:rPr lang="en" sz="1000">
                <a:solidFill>
                  <a:srgbClr val="980000"/>
                </a:solidFill>
                <a:latin typeface="Times New Roman"/>
                <a:ea typeface="Times New Roman"/>
                <a:cs typeface="Times New Roman"/>
                <a:sym typeface="Times New Roman"/>
              </a:rPr>
              <a:t>Gavino Vargas</a:t>
            </a:r>
            <a:endParaRPr sz="10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PMR model had a different problem. It said too many sidewalks were not accessible. We tried raising the cutoff from 0.5 to 0.65. Nothing changed. Why? Because out of 14,455 predictions, only 14 were near the cutoff. The model was very confident — but wrong. So we looked at the features. Our label uses width and curb height. But we only gave the model width. It was guessing the curb part. We added curb height and a flag for missing data. That fixed it. The lesson: check the probability distribution before changing the threshold.</a:t>
            </a:r>
            <a:endParaRPr sz="900">
              <a:solidFill>
                <a:schemeClr val="dk1"/>
              </a:solidFill>
              <a:latin typeface="Times New Roman"/>
              <a:ea typeface="Times New Roman"/>
              <a:cs typeface="Times New Roman"/>
              <a:sym typeface="Times New Roman"/>
            </a:endParaRPr>
          </a:p>
          <a:p>
            <a:pPr indent="0" lvl="0" marL="0" marR="0" rtl="0" algn="l">
              <a:spcBef>
                <a:spcPts val="800"/>
              </a:spcBef>
              <a:spcAft>
                <a:spcPts val="0"/>
              </a:spcAft>
              <a:buNone/>
            </a:pPr>
            <a:r>
              <a:t/>
            </a:r>
            <a:endParaRPr sz="1200">
              <a:solidFill>
                <a:schemeClr val="dk1"/>
              </a:solidFill>
            </a:endParaRPr>
          </a:p>
        </p:txBody>
      </p:sp>
      <p:sp>
        <p:nvSpPr>
          <p:cNvPr id="173" name="Google Shape;173;g3f5960b6c8d_2_11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5960b6c8d_2_13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g3f5960b6c8d_2_13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Slide 9 — Evaluation/Gavino </a:t>
            </a:r>
            <a:r>
              <a:rPr lang="en" sz="900">
                <a:solidFill>
                  <a:srgbClr val="980000"/>
                </a:solidFill>
                <a:latin typeface="Times New Roman"/>
                <a:ea typeface="Times New Roman"/>
                <a:cs typeface="Times New Roman"/>
                <a:sym typeface="Times New Roman"/>
              </a:rPr>
              <a:t>Ashton Moraes</a:t>
            </a:r>
            <a:endParaRPr sz="10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After the fix, the PMR model got 100% accuracy. But we are honest — this is expected, not impressive. The model just learned the rule we wrote. It proves the pipeline works. The Housing model stays at 85%, which is the same as guessing. We report both results honestly."</a:t>
            </a:r>
            <a:endParaRPr sz="900">
              <a:solidFill>
                <a:schemeClr val="dk1"/>
              </a:solidFill>
              <a:latin typeface="Times New Roman"/>
              <a:ea typeface="Times New Roman"/>
              <a:cs typeface="Times New Roman"/>
              <a:sym typeface="Times New Roman"/>
            </a:endParaRPr>
          </a:p>
          <a:p>
            <a:pPr indent="0" lvl="0" marL="0" marR="0" rtl="0" algn="l">
              <a:spcBef>
                <a:spcPts val="800"/>
              </a:spcBef>
              <a:spcAft>
                <a:spcPts val="0"/>
              </a:spcAft>
              <a:buNone/>
            </a:pPr>
            <a:r>
              <a:t/>
            </a:r>
            <a:endParaRPr sz="1200">
              <a:solidFill>
                <a:schemeClr val="dk1"/>
              </a:solidFill>
            </a:endParaRPr>
          </a:p>
        </p:txBody>
      </p:sp>
      <p:sp>
        <p:nvSpPr>
          <p:cNvPr id="193" name="Google Shape;193;g3f5960b6c8d_2_13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5960b6c8d_2_15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g3f5960b6c8d_2_15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Slide 10 — Live Demo/ </a:t>
            </a:r>
            <a:r>
              <a:rPr lang="en" sz="900">
                <a:solidFill>
                  <a:srgbClr val="980000"/>
                </a:solidFill>
                <a:latin typeface="Times New Roman"/>
                <a:ea typeface="Times New Roman"/>
                <a:cs typeface="Times New Roman"/>
                <a:sym typeface="Times New Roman"/>
              </a:rPr>
              <a:t> Amen Bush</a:t>
            </a:r>
            <a:endParaRPr sz="9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rPr lang="en" sz="900" u="sng">
                <a:solidFill>
                  <a:srgbClr val="0969DA"/>
                </a:solidFill>
                <a:highlight>
                  <a:srgbClr val="FFFFFF"/>
                </a:highlight>
                <a:latin typeface="Times New Roman"/>
                <a:ea typeface="Times New Roman"/>
                <a:cs typeface="Times New Roman"/>
                <a:sym typeface="Times New Roman"/>
                <a:hlinkClick r:id="rId2">
                  <a:extLst>
                    <a:ext uri="{A12FA001-AC4F-418D-AE19-62706E023703}">
                      <ahyp:hlinkClr val="tx"/>
                    </a:ext>
                  </a:extLst>
                </a:hlinkClick>
              </a:rPr>
              <a:t>https://accessmap-13a.streamlit.app</a:t>
            </a:r>
            <a:r>
              <a:rPr lang="en" sz="900">
                <a:solidFill>
                  <a:srgbClr val="980000"/>
                </a:solidFill>
                <a:latin typeface="Times New Roman"/>
                <a:ea typeface="Times New Roman"/>
                <a:cs typeface="Times New Roman"/>
                <a:sym typeface="Times New Roman"/>
              </a:rPr>
              <a:t> </a:t>
            </a:r>
            <a:endParaRPr sz="9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Here is our app. It has three pages. The Sidewalk Checker lets you enter width, curb height, and other numbers, and it tells you if the sidewalk is accessible. The Address Search finds similar addresses using FAISS. And the About page explains what the app can and cannot do. One decision we are proud of: the app does NOT predict sidewalk condition for US addresses. That model has no signal. So we show the real crowd label instead.</a:t>
            </a:r>
            <a:endParaRPr b="1" sz="900">
              <a:solidFill>
                <a:schemeClr val="dk1"/>
              </a:solidFill>
              <a:latin typeface="Times New Roman"/>
              <a:ea typeface="Times New Roman"/>
              <a:cs typeface="Times New Roman"/>
              <a:sym typeface="Times New Roman"/>
            </a:endParaRPr>
          </a:p>
          <a:p>
            <a:pPr indent="0" lvl="0" marL="0" marR="0" rtl="0" algn="l">
              <a:spcBef>
                <a:spcPts val="800"/>
              </a:spcBef>
              <a:spcAft>
                <a:spcPts val="0"/>
              </a:spcAft>
              <a:buNone/>
            </a:pPr>
            <a:r>
              <a:t/>
            </a:r>
            <a:endParaRPr sz="1200">
              <a:solidFill>
                <a:schemeClr val="dk1"/>
              </a:solidFill>
            </a:endParaRPr>
          </a:p>
        </p:txBody>
      </p:sp>
      <p:sp>
        <p:nvSpPr>
          <p:cNvPr id="204" name="Google Shape;204;g3f5960b6c8d_2_15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5960b6c8d_2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Slide 11 — Results, In Plain Language/ </a:t>
            </a:r>
            <a:r>
              <a:rPr lang="en" sz="900">
                <a:solidFill>
                  <a:srgbClr val="980000"/>
                </a:solidFill>
                <a:highlight>
                  <a:srgbClr val="FFFFFF"/>
                </a:highlight>
                <a:latin typeface="Times New Roman"/>
                <a:ea typeface="Times New Roman"/>
                <a:cs typeface="Times New Roman"/>
                <a:sym typeface="Times New Roman"/>
              </a:rPr>
              <a:t>Amen Bush </a:t>
            </a:r>
            <a:endParaRPr sz="1000">
              <a:solidFill>
                <a:srgbClr val="980000"/>
              </a:solidFill>
              <a:highlight>
                <a:srgbClr val="FFFFFF"/>
              </a:highlight>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"To summarize: the Amsterdam model works because we gave it the right features. The US model does not work because the data does not have enough information. Our audit of feature importance was more valuable than any accuracy number. It helped us find the bias and the missing feature.</a:t>
            </a:r>
            <a:endParaRPr sz="900">
              <a:solidFill>
                <a:schemeClr val="dk1"/>
              </a:solidFill>
              <a:latin typeface="Times New Roman"/>
              <a:ea typeface="Times New Roman"/>
              <a:cs typeface="Times New Roman"/>
              <a:sym typeface="Times New Roman"/>
            </a:endParaRPr>
          </a:p>
          <a:p>
            <a:pPr indent="0" lvl="0" marL="0" rtl="0" algn="l">
              <a:spcBef>
                <a:spcPts val="800"/>
              </a:spcBef>
              <a:spcAft>
                <a:spcPts val="0"/>
              </a:spcAft>
              <a:buNone/>
            </a:pPr>
            <a:r>
              <a:t/>
            </a:r>
            <a:endParaRPr/>
          </a:p>
        </p:txBody>
      </p:sp>
      <p:sp>
        <p:nvSpPr>
          <p:cNvPr id="226" name="Google Shape;226;g3f5960b6c8d_2_138:notes"/>
          <p:cNvSpPr/>
          <p:nvPr>
            <p:ph idx="2" type="sldImg"/>
          </p:nvPr>
        </p:nvSpPr>
        <p:spPr>
          <a:xfrm>
            <a:off x="857419" y="685800"/>
            <a:ext cx="34291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f5960b6c8d_2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Slide 12 — Deployment/  </a:t>
            </a:r>
            <a:r>
              <a:rPr lang="en" sz="1000">
                <a:solidFill>
                  <a:srgbClr val="980000"/>
                </a:solidFill>
                <a:latin typeface="Times New Roman"/>
                <a:ea typeface="Times New Roman"/>
                <a:cs typeface="Times New Roman"/>
                <a:sym typeface="Times New Roman"/>
              </a:rPr>
              <a:t>Laxmi Pesara  </a:t>
            </a:r>
            <a:endParaRPr b="1" sz="9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We kept the app simple on purpose. We only ship features we tested and trust. The confidence score is explained — it shows how many trees voted for that answer. Inputs are checked, and every limit is written inside the app.</a:t>
            </a:r>
            <a:endParaRPr sz="900">
              <a:solidFill>
                <a:schemeClr val="dk1"/>
              </a:solidFill>
              <a:latin typeface="Times New Roman"/>
              <a:ea typeface="Times New Roman"/>
              <a:cs typeface="Times New Roman"/>
              <a:sym typeface="Times New Roman"/>
            </a:endParaRPr>
          </a:p>
          <a:p>
            <a:pPr indent="0" lvl="0" marL="0" rtl="0" algn="l">
              <a:spcBef>
                <a:spcPts val="800"/>
              </a:spcBef>
              <a:spcAft>
                <a:spcPts val="0"/>
              </a:spcAft>
              <a:buNone/>
            </a:pPr>
            <a:r>
              <a:t/>
            </a:r>
            <a:endParaRPr/>
          </a:p>
        </p:txBody>
      </p:sp>
      <p:sp>
        <p:nvSpPr>
          <p:cNvPr id="243" name="Google Shape;243;g3f5960b6c8d_2_176:notes"/>
          <p:cNvSpPr/>
          <p:nvPr>
            <p:ph idx="2" type="sldImg"/>
          </p:nvPr>
        </p:nvSpPr>
        <p:spPr>
          <a:xfrm>
            <a:off x="857419" y="685800"/>
            <a:ext cx="342916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5960b6c8d_2_187: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 name="Google Shape;255;g3f5960b6c8d_2_187: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Slide 13 — Impact: Both Sides/ </a:t>
            </a:r>
            <a:r>
              <a:rPr lang="en" sz="900">
                <a:solidFill>
                  <a:srgbClr val="980000"/>
                </a:solidFill>
                <a:latin typeface="Times New Roman"/>
                <a:ea typeface="Times New Roman"/>
                <a:cs typeface="Times New Roman"/>
                <a:sym typeface="Times New Roman"/>
              </a:rPr>
              <a:t>Laxmi Pesara</a:t>
            </a:r>
            <a:endParaRPr sz="9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80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positive side: wheelchair users can plan better routes. Cities can find bad sidewalks and fix them. Accessibility can become a layer in any map app. The risk side: a biased model can mislabel whole areas. A false 'accessible' label is worse than no label — because someone might plan a trip they cannot finish. And our own labels could be wrong if we never test them with real users.</a:t>
            </a:r>
            <a:endParaRPr sz="1200">
              <a:solidFill>
                <a:schemeClr val="dk1"/>
              </a:solidFill>
            </a:endParaRPr>
          </a:p>
        </p:txBody>
      </p:sp>
      <p:sp>
        <p:nvSpPr>
          <p:cNvPr id="256" name="Google Shape;256;g3f5960b6c8d_2_187: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f5960b6c8d_2_20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g3f5960b6c8d_2_20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Slide 14 — Essential Question/ </a:t>
            </a:r>
            <a:r>
              <a:rPr lang="en" sz="900">
                <a:solidFill>
                  <a:srgbClr val="980000"/>
                </a:solidFill>
                <a:latin typeface="Times New Roman"/>
                <a:ea typeface="Times New Roman"/>
                <a:cs typeface="Times New Roman"/>
                <a:sym typeface="Times New Roman"/>
              </a:rPr>
              <a:t>Laxmi Pesara</a:t>
            </a:r>
            <a:endParaRPr b="1" sz="900">
              <a:solidFill>
                <a:srgbClr val="FF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essential question is about bias. AI amplified bias when we let the state feature dominate. The model looked smart, but it was just memorizing geography. AI helped us reduce bias when we checked feature importance, removed the shortcut, and reported the honest result. The same tools that created the problem also helped us find it — but only because we chose to look.</a:t>
            </a:r>
            <a:endParaRPr sz="900">
              <a:solidFill>
                <a:schemeClr val="dk1"/>
              </a:solidFill>
              <a:latin typeface="Times New Roman"/>
              <a:ea typeface="Times New Roman"/>
              <a:cs typeface="Times New Roman"/>
              <a:sym typeface="Times New Roman"/>
            </a:endParaRPr>
          </a:p>
          <a:p>
            <a:pPr indent="0" lvl="0" marL="0" marR="0" rtl="0" algn="l">
              <a:spcBef>
                <a:spcPts val="800"/>
              </a:spcBef>
              <a:spcAft>
                <a:spcPts val="0"/>
              </a:spcAft>
              <a:buNone/>
            </a:pPr>
            <a:r>
              <a:t/>
            </a:r>
            <a:endParaRPr sz="1200">
              <a:solidFill>
                <a:schemeClr val="dk1"/>
              </a:solidFill>
            </a:endParaRPr>
          </a:p>
        </p:txBody>
      </p:sp>
      <p:sp>
        <p:nvSpPr>
          <p:cNvPr id="272" name="Google Shape;272;g3f5960b6c8d_2_20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f5960b6c8d_2_21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 name="Google Shape;284;g3f5960b6c8d_2_21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Slide 15 — Next Steps/ </a:t>
            </a:r>
            <a:r>
              <a:rPr lang="en" sz="900">
                <a:solidFill>
                  <a:srgbClr val="980000"/>
                </a:solidFill>
                <a:latin typeface="Times New Roman"/>
                <a:ea typeface="Times New Roman"/>
                <a:cs typeface="Times New Roman"/>
                <a:sym typeface="Times New Roman"/>
              </a:rPr>
              <a:t>Zheng Zhang</a:t>
            </a:r>
            <a:endParaRPr sz="9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Next, we want to retrain the PMR model without width and curb height — to see if other features alone can predict accessibility. We also want to test our label rule against the 50 real verified labels. We plan to add location to the search so it can rank results better. And each team member will keep building their own AI skills.</a:t>
            </a:r>
            <a:endParaRPr sz="900">
              <a:solidFill>
                <a:schemeClr val="dk1"/>
              </a:solidFill>
              <a:latin typeface="Times New Roman"/>
              <a:ea typeface="Times New Roman"/>
              <a:cs typeface="Times New Roman"/>
              <a:sym typeface="Times New Roman"/>
            </a:endParaRPr>
          </a:p>
          <a:p>
            <a:pPr indent="0" lvl="0" marL="0" marR="0" rtl="0" algn="l">
              <a:spcBef>
                <a:spcPts val="800"/>
              </a:spcBef>
              <a:spcAft>
                <a:spcPts val="0"/>
              </a:spcAft>
              <a:buNone/>
            </a:pPr>
            <a:r>
              <a:t/>
            </a:r>
            <a:endParaRPr sz="1200">
              <a:solidFill>
                <a:schemeClr val="dk1"/>
              </a:solidFill>
            </a:endParaRPr>
          </a:p>
        </p:txBody>
      </p:sp>
      <p:sp>
        <p:nvSpPr>
          <p:cNvPr id="285" name="Google Shape;285;g3f5960b6c8d_2_21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f5960b6c8d_2_243: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g3f5960b6c8d_2_243: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Slide 16 — Citations &amp; Sources/ </a:t>
            </a:r>
            <a:r>
              <a:rPr lang="en" sz="900">
                <a:solidFill>
                  <a:srgbClr val="980000"/>
                </a:solidFill>
                <a:latin typeface="Times New Roman"/>
                <a:ea typeface="Times New Roman"/>
                <a:cs typeface="Times New Roman"/>
                <a:sym typeface="Times New Roman"/>
              </a:rPr>
              <a:t>Zheng Zhang</a:t>
            </a:r>
            <a:endParaRPr sz="9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Here are our data sources and references. Our Amsterdam data comes from the City of Amsterdam Open Data. The US data comes from CrowdFlower. We used Random Forest, FAISS, and ModernBERT. You can find our code and app at these links.</a:t>
            </a:r>
            <a:endParaRPr sz="900">
              <a:solidFill>
                <a:schemeClr val="dk1"/>
              </a:solidFill>
              <a:latin typeface="Times New Roman"/>
              <a:ea typeface="Times New Roman"/>
              <a:cs typeface="Times New Roman"/>
              <a:sym typeface="Times New Roman"/>
            </a:endParaRPr>
          </a:p>
          <a:p>
            <a:pPr indent="0" lvl="0" marL="0" marR="0" rtl="0" algn="l">
              <a:spcBef>
                <a:spcPts val="800"/>
              </a:spcBef>
              <a:spcAft>
                <a:spcPts val="0"/>
              </a:spcAft>
              <a:buNone/>
            </a:pPr>
            <a:r>
              <a:t/>
            </a:r>
            <a:endParaRPr sz="1200">
              <a:solidFill>
                <a:schemeClr val="dk1"/>
              </a:solidFill>
            </a:endParaRPr>
          </a:p>
        </p:txBody>
      </p:sp>
      <p:sp>
        <p:nvSpPr>
          <p:cNvPr id="315" name="Google Shape;315;g3f5960b6c8d_2_243: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f5960b6c8d_2_253: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5" name="Google Shape;325;g3f5960b6c8d_2_253: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Times New Roman"/>
                <a:ea typeface="Times New Roman"/>
                <a:cs typeface="Times New Roman"/>
                <a:sym typeface="Times New Roman"/>
              </a:rPr>
              <a:t>Slide 17 — Thank You</a:t>
            </a:r>
            <a:r>
              <a:rPr b="1" lang="en" sz="900">
                <a:solidFill>
                  <a:srgbClr val="980000"/>
                </a:solidFill>
                <a:latin typeface="Times New Roman"/>
                <a:ea typeface="Times New Roman"/>
                <a:cs typeface="Times New Roman"/>
                <a:sym typeface="Times New Roman"/>
              </a:rPr>
              <a:t>/ </a:t>
            </a:r>
            <a:r>
              <a:rPr lang="en" sz="900">
                <a:solidFill>
                  <a:srgbClr val="980000"/>
                </a:solidFill>
                <a:latin typeface="Times New Roman"/>
                <a:ea typeface="Times New Roman"/>
                <a:cs typeface="Times New Roman"/>
                <a:sym typeface="Times New Roman"/>
              </a:rPr>
              <a:t>Zheng Zhang</a:t>
            </a:r>
            <a:endParaRPr sz="900">
              <a:solidFill>
                <a:srgbClr val="980000"/>
              </a:solidFill>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Thank you for listening. You can try the app right now at accessmap-13a.streamlit.app. We are happy to answer questions.</a:t>
            </a:r>
            <a:endParaRPr sz="900">
              <a:solidFill>
                <a:schemeClr val="dk1"/>
              </a:solidFill>
              <a:latin typeface="Times New Roman"/>
              <a:ea typeface="Times New Roman"/>
              <a:cs typeface="Times New Roman"/>
              <a:sym typeface="Times New Roman"/>
            </a:endParaRPr>
          </a:p>
          <a:p>
            <a:pPr indent="0" lvl="0" marL="0" marR="0" rtl="0" algn="l">
              <a:spcBef>
                <a:spcPts val="800"/>
              </a:spcBef>
              <a:spcAft>
                <a:spcPts val="0"/>
              </a:spcAft>
              <a:buNone/>
            </a:pPr>
            <a:r>
              <a:t/>
            </a:r>
            <a:endParaRPr sz="1200">
              <a:solidFill>
                <a:schemeClr val="dk1"/>
              </a:solidFill>
            </a:endParaRPr>
          </a:p>
        </p:txBody>
      </p:sp>
      <p:sp>
        <p:nvSpPr>
          <p:cNvPr id="326" name="Google Shape;326;g3f5960b6c8d_2_253: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6.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6.pn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6.png"/><Relationship Id="rId4" Type="http://schemas.openxmlformats.org/officeDocument/2006/relationships/image" Target="../media/image7.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6.png"/><Relationship Id="rId4" Type="http://schemas.openxmlformats.org/officeDocument/2006/relationships/image" Target="../media/image6.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6.png"/><Relationship Id="rId4" Type="http://schemas.openxmlformats.org/officeDocument/2006/relationships/image" Target="../media/image12.png"/><Relationship Id="rId5" Type="http://schemas.openxmlformats.org/officeDocument/2006/relationships/image" Target="../media/image34.png"/><Relationship Id="rId6" Type="http://schemas.openxmlformats.org/officeDocument/2006/relationships/image" Target="../media/image17.png"/><Relationship Id="rId7"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6.png"/><Relationship Id="rId4" Type="http://schemas.openxmlformats.org/officeDocument/2006/relationships/image" Target="../media/image9.pn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484F"/>
        </a:solidFill>
      </p:bgPr>
    </p:bg>
    <p:spTree>
      <p:nvGrpSpPr>
        <p:cNvPr id="56" name="Shape 56"/>
        <p:cNvGrpSpPr/>
        <p:nvPr/>
      </p:nvGrpSpPr>
      <p:grpSpPr>
        <a:xfrm>
          <a:off x="0" y="0"/>
          <a:ext cx="0" cy="0"/>
          <a:chOff x="0" y="0"/>
          <a:chExt cx="0" cy="0"/>
        </a:xfrm>
      </p:grpSpPr>
      <p:sp>
        <p:nvSpPr>
          <p:cNvPr id="57" name="Google Shape;57;p15"/>
          <p:cNvSpPr/>
          <p:nvPr/>
        </p:nvSpPr>
        <p:spPr>
          <a:xfrm>
            <a:off x="480060" y="480060"/>
            <a:ext cx="685800" cy="685800"/>
          </a:xfrm>
          <a:prstGeom prst="ellipse">
            <a:avLst/>
          </a:prstGeom>
          <a:solidFill>
            <a:srgbClr val="02809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58" name="Google Shape;58;p15"/>
          <p:cNvPicPr preferRelativeResize="0"/>
          <p:nvPr/>
        </p:nvPicPr>
        <p:blipFill rotWithShape="1">
          <a:blip r:embed="rId3">
            <a:alphaModFix/>
          </a:blip>
          <a:srcRect b="0" l="0" r="0" t="0"/>
          <a:stretch/>
        </p:blipFill>
        <p:spPr>
          <a:xfrm>
            <a:off x="644652" y="644652"/>
            <a:ext cx="356616" cy="356616"/>
          </a:xfrm>
          <a:prstGeom prst="rect">
            <a:avLst/>
          </a:prstGeom>
          <a:noFill/>
          <a:ln>
            <a:noFill/>
          </a:ln>
        </p:spPr>
      </p:pic>
      <p:sp>
        <p:nvSpPr>
          <p:cNvPr id="59" name="Google Shape;59;p15"/>
          <p:cNvSpPr/>
          <p:nvPr/>
        </p:nvSpPr>
        <p:spPr>
          <a:xfrm>
            <a:off x="480060" y="1371600"/>
            <a:ext cx="8161020" cy="8229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4100"/>
              <a:buFont typeface="Cambria"/>
              <a:buNone/>
            </a:pPr>
            <a:r>
              <a:rPr b="1" lang="en" sz="4100">
                <a:solidFill>
                  <a:srgbClr val="FFFFFF"/>
                </a:solidFill>
                <a:latin typeface="Cambria"/>
                <a:ea typeface="Cambria"/>
                <a:cs typeface="Cambria"/>
                <a:sym typeface="Cambria"/>
              </a:rPr>
              <a:t>AccessMap</a:t>
            </a:r>
            <a:endParaRPr sz="4100">
              <a:solidFill>
                <a:schemeClr val="dk1"/>
              </a:solidFill>
              <a:latin typeface="Calibri"/>
              <a:ea typeface="Calibri"/>
              <a:cs typeface="Calibri"/>
              <a:sym typeface="Calibri"/>
            </a:endParaRPr>
          </a:p>
        </p:txBody>
      </p:sp>
      <p:sp>
        <p:nvSpPr>
          <p:cNvPr id="60" name="Google Shape;60;p15"/>
          <p:cNvSpPr/>
          <p:nvPr/>
        </p:nvSpPr>
        <p:spPr>
          <a:xfrm>
            <a:off x="480060" y="2160270"/>
            <a:ext cx="816102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800"/>
              <a:buFont typeface="Calibri"/>
              <a:buNone/>
            </a:pPr>
            <a:r>
              <a:rPr i="1" lang="en" sz="1800">
                <a:solidFill>
                  <a:srgbClr val="02C39A"/>
                </a:solidFill>
                <a:latin typeface="Calibri"/>
                <a:ea typeface="Calibri"/>
                <a:cs typeface="Calibri"/>
                <a:sym typeface="Calibri"/>
              </a:rPr>
              <a:t>Can data predict which sidewalks </a:t>
            </a:r>
            <a:endParaRPr sz="1100"/>
          </a:p>
          <a:p>
            <a:pPr indent="0" lvl="0" marL="0" marR="0" rtl="0" algn="l">
              <a:spcBef>
                <a:spcPts val="0"/>
              </a:spcBef>
              <a:spcAft>
                <a:spcPts val="0"/>
              </a:spcAft>
              <a:buClr>
                <a:srgbClr val="02C39A"/>
              </a:buClr>
              <a:buSzPts val="1800"/>
              <a:buFont typeface="Calibri"/>
              <a:buNone/>
            </a:pPr>
            <a:r>
              <a:rPr i="1" lang="en" sz="1800">
                <a:solidFill>
                  <a:srgbClr val="02C39A"/>
                </a:solidFill>
                <a:latin typeface="Calibri"/>
                <a:ea typeface="Calibri"/>
                <a:cs typeface="Calibri"/>
                <a:sym typeface="Calibri"/>
              </a:rPr>
              <a:t>are accessible?</a:t>
            </a:r>
            <a:endParaRPr sz="1800">
              <a:solidFill>
                <a:schemeClr val="dk1"/>
              </a:solidFill>
              <a:latin typeface="Calibri"/>
              <a:ea typeface="Calibri"/>
              <a:cs typeface="Calibri"/>
              <a:sym typeface="Calibri"/>
            </a:endParaRPr>
          </a:p>
        </p:txBody>
      </p:sp>
      <p:sp>
        <p:nvSpPr>
          <p:cNvPr id="61" name="Google Shape;61;p15"/>
          <p:cNvSpPr/>
          <p:nvPr/>
        </p:nvSpPr>
        <p:spPr>
          <a:xfrm>
            <a:off x="480060" y="2983230"/>
            <a:ext cx="3247879"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ADCDC"/>
              </a:buClr>
              <a:buSzPts val="1400"/>
              <a:buFont typeface="Calibri"/>
              <a:buNone/>
            </a:pPr>
            <a:r>
              <a:rPr lang="en" sz="1400">
                <a:solidFill>
                  <a:srgbClr val="CADCDC"/>
                </a:solidFill>
                <a:latin typeface="Calibri"/>
                <a:ea typeface="Calibri"/>
                <a:cs typeface="Calibri"/>
                <a:sym typeface="Calibri"/>
              </a:rPr>
              <a:t>Group 13A  ·  AI4ALL Ignite Summer 2026</a:t>
            </a:r>
            <a:endParaRPr sz="1400">
              <a:solidFill>
                <a:schemeClr val="dk1"/>
              </a:solidFill>
              <a:latin typeface="Calibri"/>
              <a:ea typeface="Calibri"/>
              <a:cs typeface="Calibri"/>
              <a:sym typeface="Calibri"/>
            </a:endParaRPr>
          </a:p>
        </p:txBody>
      </p:sp>
      <p:sp>
        <p:nvSpPr>
          <p:cNvPr id="62" name="Google Shape;62;p15"/>
          <p:cNvSpPr/>
          <p:nvPr/>
        </p:nvSpPr>
        <p:spPr>
          <a:xfrm>
            <a:off x="444891" y="3576710"/>
            <a:ext cx="3485270" cy="643597"/>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en" sz="1100">
                <a:solidFill>
                  <a:srgbClr val="9FB8B6"/>
                </a:solidFill>
                <a:latin typeface="Calibri"/>
                <a:ea typeface="Calibri"/>
                <a:cs typeface="Calibri"/>
                <a:sym typeface="Calibri"/>
              </a:rPr>
              <a:t>· Zheng Zhang · Zaina Nadeem </a:t>
            </a:r>
            <a:endParaRPr sz="1100"/>
          </a:p>
          <a:p>
            <a:pPr indent="0" lvl="0" marL="0" marR="0" rtl="0" algn="l">
              <a:spcBef>
                <a:spcPts val="0"/>
              </a:spcBef>
              <a:spcAft>
                <a:spcPts val="0"/>
              </a:spcAft>
              <a:buClr>
                <a:srgbClr val="9FB8B6"/>
              </a:buClr>
              <a:buSzPts val="1100"/>
              <a:buFont typeface="Calibri"/>
              <a:buNone/>
            </a:pPr>
            <a:r>
              <a:rPr lang="en" sz="1100">
                <a:solidFill>
                  <a:srgbClr val="9FB8B6"/>
                </a:solidFill>
                <a:latin typeface="Calibri"/>
                <a:ea typeface="Calibri"/>
                <a:cs typeface="Calibri"/>
                <a:sym typeface="Calibri"/>
              </a:rPr>
              <a:t>· Laxmi Pesara · Gavino Vargas </a:t>
            </a:r>
            <a:endParaRPr sz="1100"/>
          </a:p>
          <a:p>
            <a:pPr indent="0" lvl="0" marL="0" marR="0" rtl="0" algn="l">
              <a:spcBef>
                <a:spcPts val="0"/>
              </a:spcBef>
              <a:spcAft>
                <a:spcPts val="0"/>
              </a:spcAft>
              <a:buClr>
                <a:srgbClr val="9FB8B6"/>
              </a:buClr>
              <a:buSzPts val="1100"/>
              <a:buFont typeface="Calibri"/>
              <a:buNone/>
            </a:pPr>
            <a:r>
              <a:rPr lang="en" sz="1100">
                <a:solidFill>
                  <a:srgbClr val="9FB8B6"/>
                </a:solidFill>
                <a:latin typeface="Calibri"/>
                <a:ea typeface="Calibri"/>
                <a:cs typeface="Calibri"/>
                <a:sym typeface="Calibri"/>
              </a:rPr>
              <a:t>· Ashton Moraes · Amen Bush</a:t>
            </a:r>
            <a:endParaRPr sz="1100">
              <a:solidFill>
                <a:schemeClr val="dk1"/>
              </a:solidFill>
              <a:latin typeface="Calibri"/>
              <a:ea typeface="Calibri"/>
              <a:cs typeface="Calibri"/>
              <a:sym typeface="Calibri"/>
            </a:endParaRPr>
          </a:p>
        </p:txBody>
      </p:sp>
      <p:sp>
        <p:nvSpPr>
          <p:cNvPr id="63" name="Google Shape;63;p15"/>
          <p:cNvSpPr/>
          <p:nvPr/>
        </p:nvSpPr>
        <p:spPr>
          <a:xfrm>
            <a:off x="480060" y="4320540"/>
            <a:ext cx="82296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FB8B6"/>
              </a:buClr>
              <a:buSzPts val="1100"/>
              <a:buFont typeface="Calibri"/>
              <a:buNone/>
            </a:pPr>
            <a:r>
              <a:rPr lang="en" sz="1100">
                <a:solidFill>
                  <a:srgbClr val="9FB8B6"/>
                </a:solidFill>
                <a:latin typeface="Calibri"/>
                <a:ea typeface="Calibri"/>
                <a:cs typeface="Calibri"/>
                <a:sym typeface="Calibri"/>
              </a:rPr>
              <a:t>Live demo:  </a:t>
            </a:r>
            <a:r>
              <a:rPr b="1" lang="en" sz="1100">
                <a:solidFill>
                  <a:srgbClr val="02C39A"/>
                </a:solidFill>
                <a:latin typeface="Calibri"/>
                <a:ea typeface="Calibri"/>
                <a:cs typeface="Calibri"/>
                <a:sym typeface="Calibri"/>
              </a:rPr>
              <a:t>accessmap-13a.streamlit.app</a:t>
            </a:r>
            <a:endParaRPr sz="1100">
              <a:solidFill>
                <a:schemeClr val="dk1"/>
              </a:solidFill>
              <a:latin typeface="Calibri"/>
              <a:ea typeface="Calibri"/>
              <a:cs typeface="Calibri"/>
              <a:sym typeface="Calibri"/>
            </a:endParaRPr>
          </a:p>
        </p:txBody>
      </p:sp>
      <p:pic>
        <p:nvPicPr>
          <p:cNvPr id="64" name="Google Shape;64;p15"/>
          <p:cNvPicPr preferRelativeResize="0"/>
          <p:nvPr/>
        </p:nvPicPr>
        <p:blipFill rotWithShape="1">
          <a:blip r:embed="rId4">
            <a:alphaModFix/>
          </a:blip>
          <a:srcRect b="0" l="0" r="0" t="0"/>
          <a:stretch/>
        </p:blipFill>
        <p:spPr>
          <a:xfrm>
            <a:off x="4339004" y="0"/>
            <a:ext cx="4765431" cy="5143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 name="Shape 69"/>
        <p:cNvGrpSpPr/>
        <p:nvPr/>
      </p:nvGrpSpPr>
      <p:grpSpPr>
        <a:xfrm>
          <a:off x="0" y="0"/>
          <a:ext cx="0" cy="0"/>
          <a:chOff x="0" y="0"/>
          <a:chExt cx="0" cy="0"/>
        </a:xfrm>
      </p:grpSpPr>
      <p:sp>
        <p:nvSpPr>
          <p:cNvPr id="70" name="Google Shape;70;p16"/>
          <p:cNvSpPr/>
          <p:nvPr/>
        </p:nvSpPr>
        <p:spPr>
          <a:xfrm>
            <a:off x="480060" y="342900"/>
            <a:ext cx="548640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3000"/>
              <a:buFont typeface="Cambria"/>
              <a:buNone/>
            </a:pPr>
            <a:r>
              <a:rPr b="1" lang="en" sz="3000">
                <a:solidFill>
                  <a:srgbClr val="1F2933"/>
                </a:solidFill>
                <a:latin typeface="Cambria"/>
                <a:ea typeface="Cambria"/>
                <a:cs typeface="Cambria"/>
                <a:sym typeface="Cambria"/>
              </a:rPr>
              <a:t>The Problem</a:t>
            </a:r>
            <a:endParaRPr sz="3000">
              <a:solidFill>
                <a:schemeClr val="dk1"/>
              </a:solidFill>
              <a:latin typeface="Calibri"/>
              <a:ea typeface="Calibri"/>
              <a:cs typeface="Calibri"/>
              <a:sym typeface="Calibri"/>
            </a:endParaRPr>
          </a:p>
        </p:txBody>
      </p:sp>
      <p:sp>
        <p:nvSpPr>
          <p:cNvPr id="71" name="Google Shape;71;p16"/>
          <p:cNvSpPr/>
          <p:nvPr/>
        </p:nvSpPr>
        <p:spPr>
          <a:xfrm>
            <a:off x="480060" y="1097280"/>
            <a:ext cx="4389120" cy="246888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1F2933"/>
              </a:buClr>
              <a:buSzPts val="1300"/>
              <a:buFont typeface="Calibri"/>
              <a:buNone/>
            </a:pPr>
            <a:r>
              <a:rPr lang="en" sz="1300">
                <a:solidFill>
                  <a:srgbClr val="1F2933"/>
                </a:solidFill>
                <a:latin typeface="Calibri"/>
                <a:ea typeface="Calibri"/>
                <a:cs typeface="Calibri"/>
                <a:sym typeface="Calibri"/>
              </a:rPr>
              <a:t>Wheelchair users can't tell if a sidewalk is passable before they get there.</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F2933"/>
              </a:buClr>
              <a:buSzPts val="1300"/>
              <a:buFont typeface="Calibri"/>
              <a:buNone/>
            </a:pPr>
            <a:r>
              <a:rPr lang="en" sz="1300">
                <a:solidFill>
                  <a:srgbClr val="1F2933"/>
                </a:solidFill>
                <a:latin typeface="Calibri"/>
                <a:ea typeface="Calibri"/>
                <a:cs typeface="Calibri"/>
                <a:sym typeface="Calibri"/>
              </a:rPr>
              <a:t>Too narrow, curb too high, they find out on the spot. A wrong route isn't an inconvenience; it can end a trip.</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F2933"/>
              </a:buClr>
              <a:buSzPts val="1300"/>
              <a:buFont typeface="Calibri"/>
              <a:buNone/>
            </a:pPr>
            <a:r>
              <a:rPr lang="en" sz="1300">
                <a:solidFill>
                  <a:srgbClr val="1F2933"/>
                </a:solidFill>
                <a:latin typeface="Calibri"/>
                <a:ea typeface="Calibri"/>
                <a:cs typeface="Calibri"/>
                <a:sym typeface="Calibri"/>
              </a:rPr>
              <a:t>Maps show that a road exists. They don't show whether a wheelchair can use it.</a:t>
            </a:r>
            <a:endParaRPr sz="1300">
              <a:solidFill>
                <a:schemeClr val="dk1"/>
              </a:solidFill>
              <a:latin typeface="Calibri"/>
              <a:ea typeface="Calibri"/>
              <a:cs typeface="Calibri"/>
              <a:sym typeface="Calibri"/>
            </a:endParaRPr>
          </a:p>
        </p:txBody>
      </p:sp>
      <p:sp>
        <p:nvSpPr>
          <p:cNvPr id="72" name="Google Shape;72;p16"/>
          <p:cNvSpPr/>
          <p:nvPr/>
        </p:nvSpPr>
        <p:spPr>
          <a:xfrm>
            <a:off x="480060" y="3703320"/>
            <a:ext cx="4389120" cy="1028700"/>
          </a:xfrm>
          <a:prstGeom prst="roundRect">
            <a:avLst>
              <a:gd fmla="val 8000" name="adj"/>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3" name="Google Shape;73;p16"/>
          <p:cNvSpPr/>
          <p:nvPr/>
        </p:nvSpPr>
        <p:spPr>
          <a:xfrm>
            <a:off x="685800" y="3806190"/>
            <a:ext cx="4046220" cy="8229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1300"/>
              <a:buFont typeface="Calibri"/>
              <a:buNone/>
            </a:pPr>
            <a:r>
              <a:rPr b="1" lang="en" sz="1300">
                <a:solidFill>
                  <a:srgbClr val="028090"/>
                </a:solidFill>
                <a:latin typeface="Calibri"/>
                <a:ea typeface="Calibri"/>
                <a:cs typeface="Calibri"/>
                <a:sym typeface="Calibri"/>
              </a:rPr>
              <a:t>Research question:  </a:t>
            </a:r>
            <a:r>
              <a:rPr lang="en" sz="1300">
                <a:solidFill>
                  <a:srgbClr val="1F2933"/>
                </a:solidFill>
                <a:latin typeface="Calibri"/>
                <a:ea typeface="Calibri"/>
                <a:cs typeface="Calibri"/>
                <a:sym typeface="Calibri"/>
              </a:rPr>
              <a:t>Can data predict which sidewalks are accessible for wheelchair users?</a:t>
            </a:r>
            <a:endParaRPr sz="1300">
              <a:solidFill>
                <a:schemeClr val="dk1"/>
              </a:solidFill>
              <a:latin typeface="Calibri"/>
              <a:ea typeface="Calibri"/>
              <a:cs typeface="Calibri"/>
              <a:sym typeface="Calibri"/>
            </a:endParaRPr>
          </a:p>
        </p:txBody>
      </p:sp>
      <p:sp>
        <p:nvSpPr>
          <p:cNvPr id="74" name="Google Shape;74;p16"/>
          <p:cNvSpPr/>
          <p:nvPr/>
        </p:nvSpPr>
        <p:spPr>
          <a:xfrm>
            <a:off x="5280660" y="1097280"/>
            <a:ext cx="3429000" cy="3634740"/>
          </a:xfrm>
          <a:prstGeom prst="roundRect">
            <a:avLst>
              <a:gd fmla="val 2400" name="adj"/>
            </a:avLst>
          </a:prstGeom>
          <a:solidFill>
            <a:srgbClr val="0A3A4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5" name="Google Shape;75;p16"/>
          <p:cNvSpPr/>
          <p:nvPr/>
        </p:nvSpPr>
        <p:spPr>
          <a:xfrm>
            <a:off x="5554980" y="1303020"/>
            <a:ext cx="288036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500"/>
              <a:buFont typeface="Calibri"/>
              <a:buNone/>
            </a:pPr>
            <a:r>
              <a:rPr b="1" lang="en" sz="1500">
                <a:solidFill>
                  <a:srgbClr val="FFFFFF"/>
                </a:solidFill>
                <a:latin typeface="Calibri"/>
                <a:ea typeface="Calibri"/>
                <a:cs typeface="Calibri"/>
                <a:sym typeface="Calibri"/>
              </a:rPr>
              <a:t>Why it matters</a:t>
            </a:r>
            <a:endParaRPr sz="1500">
              <a:solidFill>
                <a:schemeClr val="dk1"/>
              </a:solidFill>
              <a:latin typeface="Calibri"/>
              <a:ea typeface="Calibri"/>
              <a:cs typeface="Calibri"/>
              <a:sym typeface="Calibri"/>
            </a:endParaRPr>
          </a:p>
        </p:txBody>
      </p:sp>
      <p:sp>
        <p:nvSpPr>
          <p:cNvPr id="76" name="Google Shape;76;p16"/>
          <p:cNvSpPr/>
          <p:nvPr/>
        </p:nvSpPr>
        <p:spPr>
          <a:xfrm>
            <a:off x="5554980" y="1783080"/>
            <a:ext cx="425196" cy="425196"/>
          </a:xfrm>
          <a:prstGeom prst="ellipse">
            <a:avLst/>
          </a:prstGeom>
          <a:solidFill>
            <a:srgbClr val="02809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77" name="Google Shape;77;p16"/>
          <p:cNvPicPr preferRelativeResize="0"/>
          <p:nvPr/>
        </p:nvPicPr>
        <p:blipFill rotWithShape="1">
          <a:blip r:embed="rId4">
            <a:alphaModFix/>
          </a:blip>
          <a:srcRect b="0" l="0" r="0" t="0"/>
          <a:stretch/>
        </p:blipFill>
        <p:spPr>
          <a:xfrm>
            <a:off x="5657027" y="1885127"/>
            <a:ext cx="221102" cy="221102"/>
          </a:xfrm>
          <a:prstGeom prst="rect">
            <a:avLst/>
          </a:prstGeom>
          <a:noFill/>
          <a:ln>
            <a:noFill/>
          </a:ln>
        </p:spPr>
      </p:pic>
      <p:sp>
        <p:nvSpPr>
          <p:cNvPr id="78" name="Google Shape;78;p16"/>
          <p:cNvSpPr/>
          <p:nvPr/>
        </p:nvSpPr>
        <p:spPr>
          <a:xfrm>
            <a:off x="6137910" y="1700784"/>
            <a:ext cx="2434590" cy="82296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E6F2F1"/>
              </a:buClr>
              <a:buSzPts val="1100"/>
              <a:buFont typeface="Calibri"/>
              <a:buNone/>
            </a:pPr>
            <a:r>
              <a:rPr lang="en" sz="1100">
                <a:solidFill>
                  <a:srgbClr val="E6F2F1"/>
                </a:solidFill>
                <a:latin typeface="Calibri"/>
                <a:ea typeface="Calibri"/>
                <a:cs typeface="Calibri"/>
                <a:sym typeface="Calibri"/>
              </a:rPr>
              <a:t>Wheelchair users, caregivers, seniors plan routes with confidence</a:t>
            </a:r>
            <a:endParaRPr sz="1100">
              <a:solidFill>
                <a:schemeClr val="dk1"/>
              </a:solidFill>
              <a:latin typeface="Calibri"/>
              <a:ea typeface="Calibri"/>
              <a:cs typeface="Calibri"/>
              <a:sym typeface="Calibri"/>
            </a:endParaRPr>
          </a:p>
        </p:txBody>
      </p:sp>
      <p:sp>
        <p:nvSpPr>
          <p:cNvPr id="79" name="Google Shape;79;p16"/>
          <p:cNvSpPr/>
          <p:nvPr/>
        </p:nvSpPr>
        <p:spPr>
          <a:xfrm>
            <a:off x="5554980" y="2777490"/>
            <a:ext cx="425196" cy="425196"/>
          </a:xfrm>
          <a:prstGeom prst="ellipse">
            <a:avLst/>
          </a:prstGeom>
          <a:solidFill>
            <a:srgbClr val="02809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80" name="Google Shape;80;p16"/>
          <p:cNvPicPr preferRelativeResize="0"/>
          <p:nvPr/>
        </p:nvPicPr>
        <p:blipFill rotWithShape="1">
          <a:blip r:embed="rId5">
            <a:alphaModFix/>
          </a:blip>
          <a:srcRect b="0" l="0" r="0" t="0"/>
          <a:stretch/>
        </p:blipFill>
        <p:spPr>
          <a:xfrm>
            <a:off x="5657027" y="2879537"/>
            <a:ext cx="221102" cy="221102"/>
          </a:xfrm>
          <a:prstGeom prst="rect">
            <a:avLst/>
          </a:prstGeom>
          <a:noFill/>
          <a:ln>
            <a:noFill/>
          </a:ln>
        </p:spPr>
      </p:pic>
      <p:sp>
        <p:nvSpPr>
          <p:cNvPr id="81" name="Google Shape;81;p16"/>
          <p:cNvSpPr/>
          <p:nvPr/>
        </p:nvSpPr>
        <p:spPr>
          <a:xfrm>
            <a:off x="6137910" y="2695194"/>
            <a:ext cx="2434590" cy="82296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E6F2F1"/>
              </a:buClr>
              <a:buSzPts val="1100"/>
              <a:buFont typeface="Calibri"/>
              <a:buNone/>
            </a:pPr>
            <a:r>
              <a:rPr lang="en" sz="1100">
                <a:solidFill>
                  <a:srgbClr val="E6F2F1"/>
                </a:solidFill>
                <a:latin typeface="Calibri"/>
                <a:ea typeface="Calibri"/>
                <a:cs typeface="Calibri"/>
                <a:sym typeface="Calibri"/>
              </a:rPr>
              <a:t>Cities collect sidewalk data but rarely turn it into anything usable</a:t>
            </a:r>
            <a:endParaRPr sz="1100">
              <a:solidFill>
                <a:schemeClr val="dk1"/>
              </a:solidFill>
              <a:latin typeface="Calibri"/>
              <a:ea typeface="Calibri"/>
              <a:cs typeface="Calibri"/>
              <a:sym typeface="Calibri"/>
            </a:endParaRPr>
          </a:p>
        </p:txBody>
      </p:sp>
      <p:sp>
        <p:nvSpPr>
          <p:cNvPr id="82" name="Google Shape;82;p16"/>
          <p:cNvSpPr/>
          <p:nvPr/>
        </p:nvSpPr>
        <p:spPr>
          <a:xfrm>
            <a:off x="5554980" y="3771900"/>
            <a:ext cx="425196" cy="425196"/>
          </a:xfrm>
          <a:prstGeom prst="ellipse">
            <a:avLst/>
          </a:prstGeom>
          <a:solidFill>
            <a:srgbClr val="02809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83" name="Google Shape;83;p16"/>
          <p:cNvPicPr preferRelativeResize="0"/>
          <p:nvPr/>
        </p:nvPicPr>
        <p:blipFill rotWithShape="1">
          <a:blip r:embed="rId6">
            <a:alphaModFix/>
          </a:blip>
          <a:srcRect b="0" l="0" r="0" t="0"/>
          <a:stretch/>
        </p:blipFill>
        <p:spPr>
          <a:xfrm>
            <a:off x="5657027" y="3873947"/>
            <a:ext cx="221102" cy="221102"/>
          </a:xfrm>
          <a:prstGeom prst="rect">
            <a:avLst/>
          </a:prstGeom>
          <a:noFill/>
          <a:ln>
            <a:noFill/>
          </a:ln>
        </p:spPr>
      </p:pic>
      <p:sp>
        <p:nvSpPr>
          <p:cNvPr id="84" name="Google Shape;84;p16"/>
          <p:cNvSpPr/>
          <p:nvPr/>
        </p:nvSpPr>
        <p:spPr>
          <a:xfrm>
            <a:off x="6137910" y="3689604"/>
            <a:ext cx="2434590" cy="82296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E6F2F1"/>
              </a:buClr>
              <a:buSzPts val="1100"/>
              <a:buFont typeface="Calibri"/>
              <a:buNone/>
            </a:pPr>
            <a:r>
              <a:rPr lang="en" sz="1100">
                <a:solidFill>
                  <a:srgbClr val="E6F2F1"/>
                </a:solidFill>
                <a:latin typeface="Calibri"/>
                <a:ea typeface="Calibri"/>
                <a:cs typeface="Calibri"/>
                <a:sym typeface="Calibri"/>
              </a:rPr>
              <a:t>A working model plugs into any routing app as a scoring layer</a:t>
            </a:r>
            <a:endParaRPr sz="11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17"/>
          <p:cNvSpPr/>
          <p:nvPr/>
        </p:nvSpPr>
        <p:spPr>
          <a:xfrm>
            <a:off x="480060" y="342900"/>
            <a:ext cx="754380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3000"/>
              <a:buFont typeface="Cambria"/>
              <a:buNone/>
            </a:pPr>
            <a:r>
              <a:rPr b="1" lang="en" sz="3000">
                <a:solidFill>
                  <a:srgbClr val="1F2933"/>
                </a:solidFill>
                <a:latin typeface="Cambria"/>
                <a:ea typeface="Cambria"/>
                <a:cs typeface="Cambria"/>
                <a:sym typeface="Cambria"/>
              </a:rPr>
              <a:t>Two Datasets, One Question</a:t>
            </a:r>
            <a:endParaRPr sz="3000">
              <a:solidFill>
                <a:schemeClr val="dk1"/>
              </a:solidFill>
              <a:latin typeface="Calibri"/>
              <a:ea typeface="Calibri"/>
              <a:cs typeface="Calibri"/>
              <a:sym typeface="Calibri"/>
            </a:endParaRPr>
          </a:p>
        </p:txBody>
      </p:sp>
      <p:sp>
        <p:nvSpPr>
          <p:cNvPr id="91" name="Google Shape;91;p17"/>
          <p:cNvSpPr/>
          <p:nvPr/>
        </p:nvSpPr>
        <p:spPr>
          <a:xfrm>
            <a:off x="480060" y="1165860"/>
            <a:ext cx="4046220" cy="2263140"/>
          </a:xfrm>
          <a:prstGeom prst="roundRect">
            <a:avLst>
              <a:gd fmla="val 3636" name="adj"/>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2" name="Google Shape;92;p17"/>
          <p:cNvSpPr/>
          <p:nvPr/>
        </p:nvSpPr>
        <p:spPr>
          <a:xfrm>
            <a:off x="685800" y="1371600"/>
            <a:ext cx="480060" cy="48006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93" name="Google Shape;93;p17"/>
          <p:cNvPicPr preferRelativeResize="0"/>
          <p:nvPr/>
        </p:nvPicPr>
        <p:blipFill rotWithShape="1">
          <a:blip r:embed="rId4">
            <a:alphaModFix/>
          </a:blip>
          <a:srcRect b="0" l="0" r="0" t="0"/>
          <a:stretch/>
        </p:blipFill>
        <p:spPr>
          <a:xfrm>
            <a:off x="801014" y="1486814"/>
            <a:ext cx="249632" cy="249631"/>
          </a:xfrm>
          <a:prstGeom prst="rect">
            <a:avLst/>
          </a:prstGeom>
          <a:noFill/>
          <a:ln>
            <a:noFill/>
          </a:ln>
        </p:spPr>
      </p:pic>
      <p:sp>
        <p:nvSpPr>
          <p:cNvPr id="94" name="Google Shape;94;p17"/>
          <p:cNvSpPr/>
          <p:nvPr/>
        </p:nvSpPr>
        <p:spPr>
          <a:xfrm>
            <a:off x="1303020" y="1405890"/>
            <a:ext cx="308610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1400"/>
              <a:buFont typeface="Calibri"/>
              <a:buNone/>
            </a:pPr>
            <a:r>
              <a:rPr b="1" lang="en" sz="1400">
                <a:solidFill>
                  <a:srgbClr val="028090"/>
                </a:solidFill>
                <a:latin typeface="Calibri"/>
                <a:ea typeface="Calibri"/>
                <a:cs typeface="Calibri"/>
                <a:sym typeface="Calibri"/>
              </a:rPr>
              <a:t>PMR — Amsterdam sidewalks</a:t>
            </a:r>
            <a:endParaRPr sz="1400">
              <a:solidFill>
                <a:schemeClr val="dk1"/>
              </a:solidFill>
              <a:latin typeface="Calibri"/>
              <a:ea typeface="Calibri"/>
              <a:cs typeface="Calibri"/>
              <a:sym typeface="Calibri"/>
            </a:endParaRPr>
          </a:p>
        </p:txBody>
      </p:sp>
      <p:sp>
        <p:nvSpPr>
          <p:cNvPr id="95" name="Google Shape;95;p17"/>
          <p:cNvSpPr/>
          <p:nvPr/>
        </p:nvSpPr>
        <p:spPr>
          <a:xfrm>
            <a:off x="685800" y="1920240"/>
            <a:ext cx="17830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3300"/>
              <a:buFont typeface="Cambria"/>
              <a:buNone/>
            </a:pPr>
            <a:r>
              <a:rPr b="1" lang="en" sz="3300">
                <a:solidFill>
                  <a:srgbClr val="1F2933"/>
                </a:solidFill>
                <a:latin typeface="Cambria"/>
                <a:ea typeface="Cambria"/>
                <a:cs typeface="Cambria"/>
                <a:sym typeface="Cambria"/>
              </a:rPr>
              <a:t>72,274</a:t>
            </a:r>
            <a:endParaRPr sz="3300">
              <a:solidFill>
                <a:schemeClr val="dk1"/>
              </a:solidFill>
              <a:latin typeface="Calibri"/>
              <a:ea typeface="Calibri"/>
              <a:cs typeface="Calibri"/>
              <a:sym typeface="Calibri"/>
            </a:endParaRPr>
          </a:p>
        </p:txBody>
      </p:sp>
      <p:sp>
        <p:nvSpPr>
          <p:cNvPr id="96" name="Google Shape;96;p17"/>
          <p:cNvSpPr/>
          <p:nvPr/>
        </p:nvSpPr>
        <p:spPr>
          <a:xfrm>
            <a:off x="685800" y="2503170"/>
            <a:ext cx="192024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6770"/>
              </a:buClr>
              <a:buSzPts val="900"/>
              <a:buFont typeface="Calibri"/>
              <a:buNone/>
            </a:pPr>
            <a:r>
              <a:rPr lang="en" sz="900">
                <a:solidFill>
                  <a:srgbClr val="5B6770"/>
                </a:solidFill>
                <a:latin typeface="Calibri"/>
                <a:ea typeface="Calibri"/>
                <a:cs typeface="Calibri"/>
                <a:sym typeface="Calibri"/>
              </a:rPr>
              <a:t>measured segments</a:t>
            </a:r>
            <a:endParaRPr sz="900">
              <a:solidFill>
                <a:schemeClr val="dk1"/>
              </a:solidFill>
              <a:latin typeface="Calibri"/>
              <a:ea typeface="Calibri"/>
              <a:cs typeface="Calibri"/>
              <a:sym typeface="Calibri"/>
            </a:endParaRPr>
          </a:p>
        </p:txBody>
      </p:sp>
      <p:sp>
        <p:nvSpPr>
          <p:cNvPr id="97" name="Google Shape;97;p17"/>
          <p:cNvSpPr/>
          <p:nvPr/>
        </p:nvSpPr>
        <p:spPr>
          <a:xfrm>
            <a:off x="2537460" y="1954530"/>
            <a:ext cx="1851660" cy="13030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1000"/>
              <a:buFont typeface="Calibri"/>
              <a:buNone/>
            </a:pPr>
            <a:r>
              <a:rPr lang="en" sz="1000">
                <a:solidFill>
                  <a:srgbClr val="1F2933"/>
                </a:solidFill>
                <a:latin typeface="Calibri"/>
                <a:ea typeface="Calibri"/>
                <a:cs typeface="Calibri"/>
                <a:sym typeface="Calibri"/>
              </a:rPr>
              <a:t>Physical measurements: width, curb height, crossings. Measures the physical world.</a:t>
            </a:r>
            <a:endParaRPr sz="1000">
              <a:solidFill>
                <a:schemeClr val="dk1"/>
              </a:solidFill>
              <a:latin typeface="Calibri"/>
              <a:ea typeface="Calibri"/>
              <a:cs typeface="Calibri"/>
              <a:sym typeface="Calibri"/>
            </a:endParaRPr>
          </a:p>
        </p:txBody>
      </p:sp>
      <p:sp>
        <p:nvSpPr>
          <p:cNvPr id="98" name="Google Shape;98;p17"/>
          <p:cNvSpPr/>
          <p:nvPr/>
        </p:nvSpPr>
        <p:spPr>
          <a:xfrm>
            <a:off x="4732020" y="1165860"/>
            <a:ext cx="4046220" cy="2263140"/>
          </a:xfrm>
          <a:prstGeom prst="roundRect">
            <a:avLst>
              <a:gd fmla="val 3636" name="adj"/>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9" name="Google Shape;99;p17"/>
          <p:cNvSpPr/>
          <p:nvPr/>
        </p:nvSpPr>
        <p:spPr>
          <a:xfrm>
            <a:off x="4937760" y="1371600"/>
            <a:ext cx="480060" cy="48006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100" name="Google Shape;100;p17"/>
          <p:cNvPicPr preferRelativeResize="0"/>
          <p:nvPr/>
        </p:nvPicPr>
        <p:blipFill rotWithShape="1">
          <a:blip r:embed="rId5">
            <a:alphaModFix/>
          </a:blip>
          <a:srcRect b="0" l="0" r="0" t="0"/>
          <a:stretch/>
        </p:blipFill>
        <p:spPr>
          <a:xfrm>
            <a:off x="5052974" y="1486814"/>
            <a:ext cx="249632" cy="249631"/>
          </a:xfrm>
          <a:prstGeom prst="rect">
            <a:avLst/>
          </a:prstGeom>
          <a:noFill/>
          <a:ln>
            <a:noFill/>
          </a:ln>
        </p:spPr>
      </p:pic>
      <p:sp>
        <p:nvSpPr>
          <p:cNvPr id="101" name="Google Shape;101;p17"/>
          <p:cNvSpPr/>
          <p:nvPr/>
        </p:nvSpPr>
        <p:spPr>
          <a:xfrm>
            <a:off x="5554980" y="1405890"/>
            <a:ext cx="308610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1400"/>
              <a:buFont typeface="Calibri"/>
              <a:buNone/>
            </a:pPr>
            <a:r>
              <a:rPr b="1" lang="en" sz="1400">
                <a:solidFill>
                  <a:srgbClr val="028090"/>
                </a:solidFill>
                <a:latin typeface="Calibri"/>
                <a:ea typeface="Calibri"/>
                <a:cs typeface="Calibri"/>
                <a:sym typeface="Calibri"/>
              </a:rPr>
              <a:t>Housing — US addresses</a:t>
            </a:r>
            <a:endParaRPr sz="1400">
              <a:solidFill>
                <a:schemeClr val="dk1"/>
              </a:solidFill>
              <a:latin typeface="Calibri"/>
              <a:ea typeface="Calibri"/>
              <a:cs typeface="Calibri"/>
              <a:sym typeface="Calibri"/>
            </a:endParaRPr>
          </a:p>
        </p:txBody>
      </p:sp>
      <p:sp>
        <p:nvSpPr>
          <p:cNvPr id="102" name="Google Shape;102;p17"/>
          <p:cNvSpPr/>
          <p:nvPr/>
        </p:nvSpPr>
        <p:spPr>
          <a:xfrm>
            <a:off x="4937760" y="1920240"/>
            <a:ext cx="1783080" cy="6172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3300"/>
              <a:buFont typeface="Cambria"/>
              <a:buNone/>
            </a:pPr>
            <a:r>
              <a:rPr b="1" lang="en" sz="3300">
                <a:solidFill>
                  <a:srgbClr val="1F2933"/>
                </a:solidFill>
                <a:latin typeface="Cambria"/>
                <a:ea typeface="Cambria"/>
                <a:cs typeface="Cambria"/>
                <a:sym typeface="Cambria"/>
              </a:rPr>
              <a:t>10,104</a:t>
            </a:r>
            <a:endParaRPr sz="3300">
              <a:solidFill>
                <a:schemeClr val="dk1"/>
              </a:solidFill>
              <a:latin typeface="Calibri"/>
              <a:ea typeface="Calibri"/>
              <a:cs typeface="Calibri"/>
              <a:sym typeface="Calibri"/>
            </a:endParaRPr>
          </a:p>
        </p:txBody>
      </p:sp>
      <p:sp>
        <p:nvSpPr>
          <p:cNvPr id="103" name="Google Shape;103;p17"/>
          <p:cNvSpPr/>
          <p:nvPr/>
        </p:nvSpPr>
        <p:spPr>
          <a:xfrm>
            <a:off x="4937760" y="2503170"/>
            <a:ext cx="192024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6770"/>
              </a:buClr>
              <a:buSzPts val="900"/>
              <a:buFont typeface="Calibri"/>
              <a:buNone/>
            </a:pPr>
            <a:r>
              <a:rPr lang="en" sz="900">
                <a:solidFill>
                  <a:srgbClr val="5B6770"/>
                </a:solidFill>
                <a:latin typeface="Calibri"/>
                <a:ea typeface="Calibri"/>
                <a:cs typeface="Calibri"/>
                <a:sym typeface="Calibri"/>
              </a:rPr>
              <a:t>crowd-labeled rows</a:t>
            </a:r>
            <a:endParaRPr sz="900">
              <a:solidFill>
                <a:schemeClr val="dk1"/>
              </a:solidFill>
              <a:latin typeface="Calibri"/>
              <a:ea typeface="Calibri"/>
              <a:cs typeface="Calibri"/>
              <a:sym typeface="Calibri"/>
            </a:endParaRPr>
          </a:p>
        </p:txBody>
      </p:sp>
      <p:sp>
        <p:nvSpPr>
          <p:cNvPr id="104" name="Google Shape;104;p17"/>
          <p:cNvSpPr/>
          <p:nvPr/>
        </p:nvSpPr>
        <p:spPr>
          <a:xfrm>
            <a:off x="6789420" y="1954530"/>
            <a:ext cx="1851660" cy="13030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1000"/>
              <a:buFont typeface="Calibri"/>
              <a:buNone/>
            </a:pPr>
            <a:r>
              <a:rPr lang="en" sz="1000">
                <a:solidFill>
                  <a:srgbClr val="1F2933"/>
                </a:solidFill>
                <a:latin typeface="Calibri"/>
                <a:ea typeface="Calibri"/>
                <a:cs typeface="Calibri"/>
                <a:sym typeface="Calibri"/>
              </a:rPr>
              <a:t>Crowd-sourced “sidewalk ok?” labels judged from Google Maps street images.</a:t>
            </a:r>
            <a:endParaRPr sz="1000">
              <a:solidFill>
                <a:schemeClr val="dk1"/>
              </a:solidFill>
              <a:latin typeface="Calibri"/>
              <a:ea typeface="Calibri"/>
              <a:cs typeface="Calibri"/>
              <a:sym typeface="Calibri"/>
            </a:endParaRPr>
          </a:p>
        </p:txBody>
      </p:sp>
      <p:sp>
        <p:nvSpPr>
          <p:cNvPr id="105" name="Google Shape;105;p17"/>
          <p:cNvSpPr/>
          <p:nvPr/>
        </p:nvSpPr>
        <p:spPr>
          <a:xfrm>
            <a:off x="480060" y="3703320"/>
            <a:ext cx="8298180" cy="82296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1200"/>
              <a:buFont typeface="Calibri"/>
              <a:buNone/>
            </a:pPr>
            <a:r>
              <a:rPr b="1" lang="en" sz="1200">
                <a:solidFill>
                  <a:srgbClr val="028090"/>
                </a:solidFill>
                <a:latin typeface="Calibri"/>
                <a:ea typeface="Calibri"/>
                <a:cs typeface="Calibri"/>
                <a:sym typeface="Calibri"/>
              </a:rPr>
              <a:t>No geographic overlap. </a:t>
            </a:r>
            <a:r>
              <a:rPr lang="en" sz="1200">
                <a:solidFill>
                  <a:srgbClr val="1F2933"/>
                </a:solidFill>
                <a:latin typeface="Calibri"/>
                <a:ea typeface="Calibri"/>
                <a:cs typeface="Calibri"/>
                <a:sym typeface="Calibri"/>
              </a:rPr>
              <a:t>One is meters in Amsterdam, the other spans a continent in degrees. Same pipeline runs on each; results are compared at the model level. Rows are never merged.</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0" name="Shape 110"/>
        <p:cNvGrpSpPr/>
        <p:nvPr/>
      </p:nvGrpSpPr>
      <p:grpSpPr>
        <a:xfrm>
          <a:off x="0" y="0"/>
          <a:ext cx="0" cy="0"/>
          <a:chOff x="0" y="0"/>
          <a:chExt cx="0" cy="0"/>
        </a:xfrm>
      </p:grpSpPr>
      <p:sp>
        <p:nvSpPr>
          <p:cNvPr id="111" name="Google Shape;111;p18"/>
          <p:cNvSpPr/>
          <p:nvPr/>
        </p:nvSpPr>
        <p:spPr>
          <a:xfrm>
            <a:off x="480060" y="308610"/>
            <a:ext cx="754380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3000"/>
              <a:buFont typeface="Cambria"/>
              <a:buNone/>
            </a:pPr>
            <a:r>
              <a:rPr b="1" lang="en" sz="3000">
                <a:solidFill>
                  <a:srgbClr val="1F2933"/>
                </a:solidFill>
                <a:latin typeface="Cambria"/>
                <a:ea typeface="Cambria"/>
                <a:cs typeface="Cambria"/>
                <a:sym typeface="Cambria"/>
              </a:rPr>
              <a:t>The Algorithms</a:t>
            </a:r>
            <a:endParaRPr sz="3000">
              <a:solidFill>
                <a:schemeClr val="dk1"/>
              </a:solidFill>
              <a:latin typeface="Calibri"/>
              <a:ea typeface="Calibri"/>
              <a:cs typeface="Calibri"/>
              <a:sym typeface="Calibri"/>
            </a:endParaRPr>
          </a:p>
        </p:txBody>
      </p:sp>
      <p:sp>
        <p:nvSpPr>
          <p:cNvPr id="112" name="Google Shape;112;p18"/>
          <p:cNvSpPr/>
          <p:nvPr/>
        </p:nvSpPr>
        <p:spPr>
          <a:xfrm>
            <a:off x="480060" y="1028700"/>
            <a:ext cx="5074920" cy="3703320"/>
          </a:xfrm>
          <a:prstGeom prst="roundRect">
            <a:avLst>
              <a:gd fmla="val 2222" name="adj"/>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3" name="Google Shape;113;p18"/>
          <p:cNvSpPr/>
          <p:nvPr/>
        </p:nvSpPr>
        <p:spPr>
          <a:xfrm>
            <a:off x="685800" y="1179576"/>
            <a:ext cx="466344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1600"/>
              <a:buFont typeface="Calibri"/>
              <a:buNone/>
            </a:pPr>
            <a:r>
              <a:rPr b="1" lang="en" sz="1600">
                <a:solidFill>
                  <a:srgbClr val="028090"/>
                </a:solidFill>
                <a:latin typeface="Calibri"/>
                <a:ea typeface="Calibri"/>
                <a:cs typeface="Calibri"/>
                <a:sym typeface="Calibri"/>
              </a:rPr>
              <a:t>Random Forest  (main model)</a:t>
            </a:r>
            <a:endParaRPr sz="1600">
              <a:solidFill>
                <a:schemeClr val="dk1"/>
              </a:solidFill>
              <a:latin typeface="Calibri"/>
              <a:ea typeface="Calibri"/>
              <a:cs typeface="Calibri"/>
              <a:sym typeface="Calibri"/>
            </a:endParaRPr>
          </a:p>
        </p:txBody>
      </p:sp>
      <p:sp>
        <p:nvSpPr>
          <p:cNvPr id="114" name="Google Shape;114;p18"/>
          <p:cNvSpPr/>
          <p:nvPr/>
        </p:nvSpPr>
        <p:spPr>
          <a:xfrm>
            <a:off x="685800" y="1577340"/>
            <a:ext cx="4663440" cy="1303020"/>
          </a:xfrm>
          <a:prstGeom prst="rect">
            <a:avLst/>
          </a:prstGeom>
          <a:noFill/>
          <a:ln>
            <a:noFill/>
          </a:ln>
        </p:spPr>
        <p:txBody>
          <a:bodyPr anchorCtr="0" anchor="ctr" bIns="34275" lIns="68575" spcFirstLastPara="1" rIns="68575" wrap="square" tIns="34275">
            <a:noAutofit/>
          </a:bodyPr>
          <a:lstStyle/>
          <a:p>
            <a:pPr indent="0" lvl="0" marL="0" marR="0" rtl="0" algn="l">
              <a:lnSpc>
                <a:spcPct val="112000"/>
              </a:lnSpc>
              <a:spcBef>
                <a:spcPts val="0"/>
              </a:spcBef>
              <a:spcAft>
                <a:spcPts val="0"/>
              </a:spcAft>
              <a:buClr>
                <a:srgbClr val="1F2933"/>
              </a:buClr>
              <a:buSzPts val="1100"/>
              <a:buFont typeface="Calibri"/>
              <a:buNone/>
            </a:pPr>
            <a:r>
              <a:rPr b="1" lang="en" sz="1100">
                <a:solidFill>
                  <a:srgbClr val="1F2933"/>
                </a:solidFill>
                <a:latin typeface="Calibri"/>
                <a:ea typeface="Calibri"/>
                <a:cs typeface="Calibri"/>
                <a:sym typeface="Calibri"/>
              </a:rPr>
              <a:t>Type: </a:t>
            </a:r>
            <a:r>
              <a:rPr lang="en" sz="1100">
                <a:solidFill>
                  <a:srgbClr val="1F2933"/>
                </a:solidFill>
                <a:latin typeface="Calibri"/>
                <a:ea typeface="Calibri"/>
                <a:cs typeface="Calibri"/>
                <a:sym typeface="Calibri"/>
              </a:rPr>
              <a:t>Supervised classification many decision trees vote</a:t>
            </a:r>
            <a:br>
              <a:rPr lang="en" sz="1100">
                <a:solidFill>
                  <a:srgbClr val="1F2933"/>
                </a:solidFill>
                <a:latin typeface="Calibri"/>
                <a:ea typeface="Calibri"/>
                <a:cs typeface="Calibri"/>
                <a:sym typeface="Calibri"/>
              </a:rPr>
            </a:br>
            <a:r>
              <a:rPr b="1" lang="en" sz="1100">
                <a:solidFill>
                  <a:srgbClr val="1F2933"/>
                </a:solidFill>
                <a:latin typeface="Calibri"/>
                <a:ea typeface="Calibri"/>
                <a:cs typeface="Calibri"/>
                <a:sym typeface="Calibri"/>
              </a:rPr>
              <a:t>Inputs: </a:t>
            </a:r>
            <a:r>
              <a:rPr lang="en" sz="1100">
                <a:solidFill>
                  <a:srgbClr val="1F2933"/>
                </a:solidFill>
                <a:latin typeface="Calibri"/>
                <a:ea typeface="Calibri"/>
                <a:cs typeface="Calibri"/>
                <a:sym typeface="Calibri"/>
              </a:rPr>
              <a:t>PMR: width, curb height, crossing, length. Housing: house type + crowd-confidence scores</a:t>
            </a:r>
            <a:br>
              <a:rPr lang="en" sz="1100">
                <a:solidFill>
                  <a:srgbClr val="1F2933"/>
                </a:solidFill>
                <a:latin typeface="Calibri"/>
                <a:ea typeface="Calibri"/>
                <a:cs typeface="Calibri"/>
                <a:sym typeface="Calibri"/>
              </a:rPr>
            </a:br>
            <a:r>
              <a:rPr b="1" lang="en" sz="1100">
                <a:solidFill>
                  <a:srgbClr val="1F2933"/>
                </a:solidFill>
                <a:latin typeface="Calibri"/>
                <a:ea typeface="Calibri"/>
                <a:cs typeface="Calibri"/>
                <a:sym typeface="Calibri"/>
              </a:rPr>
              <a:t>Output: </a:t>
            </a:r>
            <a:r>
              <a:rPr lang="en" sz="1100">
                <a:solidFill>
                  <a:srgbClr val="1F2933"/>
                </a:solidFill>
                <a:latin typeface="Calibri"/>
                <a:ea typeface="Calibri"/>
                <a:cs typeface="Calibri"/>
                <a:sym typeface="Calibri"/>
              </a:rPr>
              <a:t>accessible / not accessible, with a probability</a:t>
            </a:r>
            <a:endParaRPr sz="1100">
              <a:solidFill>
                <a:schemeClr val="dk1"/>
              </a:solidFill>
              <a:latin typeface="Calibri"/>
              <a:ea typeface="Calibri"/>
              <a:cs typeface="Calibri"/>
              <a:sym typeface="Calibri"/>
            </a:endParaRPr>
          </a:p>
        </p:txBody>
      </p:sp>
      <p:sp>
        <p:nvSpPr>
          <p:cNvPr id="115" name="Google Shape;115;p18"/>
          <p:cNvSpPr/>
          <p:nvPr/>
        </p:nvSpPr>
        <p:spPr>
          <a:xfrm>
            <a:off x="685800" y="2846070"/>
            <a:ext cx="233172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1100"/>
              <a:buFont typeface="Calibri"/>
              <a:buNone/>
            </a:pPr>
            <a:r>
              <a:rPr b="1" lang="en" sz="1100">
                <a:solidFill>
                  <a:srgbClr val="028090"/>
                </a:solidFill>
                <a:latin typeface="Calibri"/>
                <a:ea typeface="Calibri"/>
                <a:cs typeface="Calibri"/>
                <a:sym typeface="Calibri"/>
              </a:rPr>
              <a:t>Why we chose it (pros)</a:t>
            </a:r>
            <a:endParaRPr sz="1100">
              <a:solidFill>
                <a:schemeClr val="dk1"/>
              </a:solidFill>
              <a:latin typeface="Calibri"/>
              <a:ea typeface="Calibri"/>
              <a:cs typeface="Calibri"/>
              <a:sym typeface="Calibri"/>
            </a:endParaRPr>
          </a:p>
        </p:txBody>
      </p:sp>
      <p:sp>
        <p:nvSpPr>
          <p:cNvPr id="116" name="Google Shape;116;p18"/>
          <p:cNvSpPr/>
          <p:nvPr/>
        </p:nvSpPr>
        <p:spPr>
          <a:xfrm>
            <a:off x="685800" y="3120390"/>
            <a:ext cx="2331720" cy="1440180"/>
          </a:xfrm>
          <a:prstGeom prst="rect">
            <a:avLst/>
          </a:prstGeom>
          <a:noFill/>
          <a:ln>
            <a:noFill/>
          </a:ln>
        </p:spPr>
        <p:txBody>
          <a:bodyPr anchorCtr="0" anchor="ctr" bIns="34275" lIns="68575" spcFirstLastPara="1" rIns="68575" wrap="square" tIns="34275">
            <a:noAutofit/>
          </a:bodyPr>
          <a:lstStyle/>
          <a:p>
            <a:pPr indent="-247650" lvl="0" marL="254000" marR="0" rtl="0" algn="l">
              <a:spcBef>
                <a:spcPts val="0"/>
              </a:spcBef>
              <a:spcAft>
                <a:spcPts val="0"/>
              </a:spcAft>
              <a:buClr>
                <a:srgbClr val="1F2933"/>
              </a:buClr>
              <a:buSzPts val="900"/>
              <a:buFont typeface="Calibri"/>
              <a:buChar char="•"/>
            </a:pPr>
            <a:r>
              <a:rPr lang="en" sz="900">
                <a:solidFill>
                  <a:srgbClr val="1F2933"/>
                </a:solidFill>
                <a:latin typeface="Calibri"/>
                <a:ea typeface="Calibri"/>
                <a:cs typeface="Calibri"/>
                <a:sym typeface="Calibri"/>
              </a:rPr>
              <a:t>Handles mixed features well</a:t>
            </a:r>
            <a:endParaRPr sz="900">
              <a:solidFill>
                <a:schemeClr val="dk1"/>
              </a:solidFill>
              <a:latin typeface="Calibri"/>
              <a:ea typeface="Calibri"/>
              <a:cs typeface="Calibri"/>
              <a:sym typeface="Calibri"/>
            </a:endParaRPr>
          </a:p>
          <a:p>
            <a:pPr indent="-247650" lvl="0" marL="254000" marR="0" rtl="0" algn="l">
              <a:spcBef>
                <a:spcPts val="500"/>
              </a:spcBef>
              <a:spcAft>
                <a:spcPts val="0"/>
              </a:spcAft>
              <a:buClr>
                <a:srgbClr val="1F2933"/>
              </a:buClr>
              <a:buSzPts val="900"/>
              <a:buFont typeface="Calibri"/>
              <a:buChar char="•"/>
            </a:pPr>
            <a:r>
              <a:rPr lang="en" sz="900">
                <a:solidFill>
                  <a:srgbClr val="1F2933"/>
                </a:solidFill>
                <a:latin typeface="Calibri"/>
                <a:ea typeface="Calibri"/>
                <a:cs typeface="Calibri"/>
                <a:sym typeface="Calibri"/>
              </a:rPr>
              <a:t>Feature importance is readable — that's how we caught the bias</a:t>
            </a:r>
            <a:endParaRPr sz="900">
              <a:solidFill>
                <a:schemeClr val="dk1"/>
              </a:solidFill>
              <a:latin typeface="Calibri"/>
              <a:ea typeface="Calibri"/>
              <a:cs typeface="Calibri"/>
              <a:sym typeface="Calibri"/>
            </a:endParaRPr>
          </a:p>
          <a:p>
            <a:pPr indent="-247650" lvl="0" marL="254000" marR="0" rtl="0" algn="l">
              <a:spcBef>
                <a:spcPts val="500"/>
              </a:spcBef>
              <a:spcAft>
                <a:spcPts val="0"/>
              </a:spcAft>
              <a:buClr>
                <a:srgbClr val="1F2933"/>
              </a:buClr>
              <a:buSzPts val="900"/>
              <a:buFont typeface="Calibri"/>
              <a:buChar char="•"/>
            </a:pPr>
            <a:r>
              <a:rPr lang="en" sz="900">
                <a:solidFill>
                  <a:srgbClr val="1F2933"/>
                </a:solidFill>
                <a:latin typeface="Calibri"/>
                <a:ea typeface="Calibri"/>
                <a:cs typeface="Calibri"/>
                <a:sym typeface="Calibri"/>
              </a:rPr>
              <a:t>Strong baseline without heavy tuning</a:t>
            </a:r>
            <a:endParaRPr sz="900">
              <a:solidFill>
                <a:schemeClr val="dk1"/>
              </a:solidFill>
              <a:latin typeface="Calibri"/>
              <a:ea typeface="Calibri"/>
              <a:cs typeface="Calibri"/>
              <a:sym typeface="Calibri"/>
            </a:endParaRPr>
          </a:p>
        </p:txBody>
      </p:sp>
      <p:sp>
        <p:nvSpPr>
          <p:cNvPr id="117" name="Google Shape;117;p18"/>
          <p:cNvSpPr/>
          <p:nvPr/>
        </p:nvSpPr>
        <p:spPr>
          <a:xfrm>
            <a:off x="3223260" y="2846070"/>
            <a:ext cx="219456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0392B"/>
              </a:buClr>
              <a:buSzPts val="1100"/>
              <a:buFont typeface="Calibri"/>
              <a:buNone/>
            </a:pPr>
            <a:r>
              <a:rPr b="1" lang="en" sz="1100">
                <a:solidFill>
                  <a:srgbClr val="C0392B"/>
                </a:solidFill>
                <a:latin typeface="Calibri"/>
                <a:ea typeface="Calibri"/>
                <a:cs typeface="Calibri"/>
                <a:sym typeface="Calibri"/>
              </a:rPr>
              <a:t>Trade-offs (cons)</a:t>
            </a:r>
            <a:endParaRPr sz="1100">
              <a:solidFill>
                <a:schemeClr val="dk1"/>
              </a:solidFill>
              <a:latin typeface="Calibri"/>
              <a:ea typeface="Calibri"/>
              <a:cs typeface="Calibri"/>
              <a:sym typeface="Calibri"/>
            </a:endParaRPr>
          </a:p>
        </p:txBody>
      </p:sp>
      <p:sp>
        <p:nvSpPr>
          <p:cNvPr id="118" name="Google Shape;118;p18"/>
          <p:cNvSpPr/>
          <p:nvPr/>
        </p:nvSpPr>
        <p:spPr>
          <a:xfrm>
            <a:off x="3223260" y="3120390"/>
            <a:ext cx="2194560" cy="1440180"/>
          </a:xfrm>
          <a:prstGeom prst="rect">
            <a:avLst/>
          </a:prstGeom>
          <a:noFill/>
          <a:ln>
            <a:noFill/>
          </a:ln>
        </p:spPr>
        <p:txBody>
          <a:bodyPr anchorCtr="0" anchor="ctr" bIns="34275" lIns="68575" spcFirstLastPara="1" rIns="68575" wrap="square" tIns="34275">
            <a:noAutofit/>
          </a:bodyPr>
          <a:lstStyle/>
          <a:p>
            <a:pPr indent="-247650" lvl="0" marL="254000" marR="0" rtl="0" algn="l">
              <a:spcBef>
                <a:spcPts val="0"/>
              </a:spcBef>
              <a:spcAft>
                <a:spcPts val="0"/>
              </a:spcAft>
              <a:buClr>
                <a:srgbClr val="1F2933"/>
              </a:buClr>
              <a:buSzPts val="900"/>
              <a:buFont typeface="Calibri"/>
              <a:buChar char="•"/>
            </a:pPr>
            <a:r>
              <a:rPr lang="en" sz="900">
                <a:solidFill>
                  <a:srgbClr val="1F2933"/>
                </a:solidFill>
                <a:latin typeface="Calibri"/>
                <a:ea typeface="Calibri"/>
                <a:cs typeface="Calibri"/>
                <a:sym typeface="Calibri"/>
              </a:rPr>
              <a:t>Can't invent signal that isn't in the features</a:t>
            </a:r>
            <a:endParaRPr sz="900">
              <a:solidFill>
                <a:schemeClr val="dk1"/>
              </a:solidFill>
              <a:latin typeface="Calibri"/>
              <a:ea typeface="Calibri"/>
              <a:cs typeface="Calibri"/>
              <a:sym typeface="Calibri"/>
            </a:endParaRPr>
          </a:p>
          <a:p>
            <a:pPr indent="-247650" lvl="0" marL="254000" marR="0" rtl="0" algn="l">
              <a:spcBef>
                <a:spcPts val="500"/>
              </a:spcBef>
              <a:spcAft>
                <a:spcPts val="0"/>
              </a:spcAft>
              <a:buClr>
                <a:srgbClr val="1F2933"/>
              </a:buClr>
              <a:buSzPts val="900"/>
              <a:buFont typeface="Calibri"/>
              <a:buChar char="•"/>
            </a:pPr>
            <a:r>
              <a:rPr lang="en" sz="900">
                <a:solidFill>
                  <a:srgbClr val="1F2933"/>
                </a:solidFill>
                <a:latin typeface="Calibri"/>
                <a:ea typeface="Calibri"/>
                <a:cs typeface="Calibri"/>
                <a:sym typeface="Calibri"/>
              </a:rPr>
              <a:t>Happily rides a biased shortcut feature</a:t>
            </a:r>
            <a:endParaRPr sz="900">
              <a:solidFill>
                <a:schemeClr val="dk1"/>
              </a:solidFill>
              <a:latin typeface="Calibri"/>
              <a:ea typeface="Calibri"/>
              <a:cs typeface="Calibri"/>
              <a:sym typeface="Calibri"/>
            </a:endParaRPr>
          </a:p>
          <a:p>
            <a:pPr indent="-247650" lvl="0" marL="254000" marR="0" rtl="0" algn="l">
              <a:spcBef>
                <a:spcPts val="500"/>
              </a:spcBef>
              <a:spcAft>
                <a:spcPts val="0"/>
              </a:spcAft>
              <a:buClr>
                <a:srgbClr val="1F2933"/>
              </a:buClr>
              <a:buSzPts val="900"/>
              <a:buFont typeface="Calibri"/>
              <a:buChar char="•"/>
            </a:pPr>
            <a:r>
              <a:rPr lang="en" sz="900">
                <a:solidFill>
                  <a:srgbClr val="1F2933"/>
                </a:solidFill>
                <a:latin typeface="Calibri"/>
                <a:ea typeface="Calibri"/>
                <a:cs typeface="Calibri"/>
                <a:sym typeface="Calibri"/>
              </a:rPr>
              <a:t>Less interpretable than a single tree</a:t>
            </a:r>
            <a:endParaRPr sz="900">
              <a:solidFill>
                <a:schemeClr val="dk1"/>
              </a:solidFill>
              <a:latin typeface="Calibri"/>
              <a:ea typeface="Calibri"/>
              <a:cs typeface="Calibri"/>
              <a:sym typeface="Calibri"/>
            </a:endParaRPr>
          </a:p>
        </p:txBody>
      </p:sp>
      <p:sp>
        <p:nvSpPr>
          <p:cNvPr id="119" name="Google Shape;119;p18"/>
          <p:cNvSpPr/>
          <p:nvPr/>
        </p:nvSpPr>
        <p:spPr>
          <a:xfrm>
            <a:off x="5760720" y="1028700"/>
            <a:ext cx="2948940" cy="3703320"/>
          </a:xfrm>
          <a:prstGeom prst="roundRect">
            <a:avLst>
              <a:gd fmla="val 2791" name="adj"/>
            </a:avLst>
          </a:prstGeom>
          <a:solidFill>
            <a:srgbClr val="0A3A4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0" name="Google Shape;120;p18"/>
          <p:cNvSpPr/>
          <p:nvPr/>
        </p:nvSpPr>
        <p:spPr>
          <a:xfrm>
            <a:off x="5966460" y="1179576"/>
            <a:ext cx="253746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400"/>
              <a:buFont typeface="Calibri"/>
              <a:buNone/>
            </a:pPr>
            <a:r>
              <a:rPr b="1" lang="en" sz="1400">
                <a:solidFill>
                  <a:srgbClr val="FFFFFF"/>
                </a:solidFill>
                <a:latin typeface="Calibri"/>
                <a:ea typeface="Calibri"/>
                <a:cs typeface="Calibri"/>
                <a:sym typeface="Calibri"/>
              </a:rPr>
              <a:t>Supporting tools</a:t>
            </a:r>
            <a:endParaRPr sz="1400">
              <a:solidFill>
                <a:schemeClr val="dk1"/>
              </a:solidFill>
              <a:latin typeface="Calibri"/>
              <a:ea typeface="Calibri"/>
              <a:cs typeface="Calibri"/>
              <a:sym typeface="Calibri"/>
            </a:endParaRPr>
          </a:p>
        </p:txBody>
      </p:sp>
      <p:sp>
        <p:nvSpPr>
          <p:cNvPr id="121" name="Google Shape;121;p18"/>
          <p:cNvSpPr/>
          <p:nvPr/>
        </p:nvSpPr>
        <p:spPr>
          <a:xfrm>
            <a:off x="5966460" y="1611630"/>
            <a:ext cx="2537460" cy="288036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02C39A"/>
              </a:buClr>
              <a:buSzPts val="1100"/>
              <a:buFont typeface="Calibri"/>
              <a:buNone/>
            </a:pPr>
            <a:r>
              <a:rPr b="1" lang="en" sz="1100">
                <a:solidFill>
                  <a:srgbClr val="02C39A"/>
                </a:solidFill>
                <a:latin typeface="Calibri"/>
                <a:ea typeface="Calibri"/>
                <a:cs typeface="Calibri"/>
                <a:sym typeface="Calibri"/>
              </a:rPr>
              <a:t>ModernBERT</a:t>
            </a:r>
            <a:endParaRPr sz="11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E6F2F1"/>
              </a:buClr>
              <a:buSzPts val="1100"/>
              <a:buFont typeface="Calibri"/>
              <a:buNone/>
            </a:pPr>
            <a:r>
              <a:rPr lang="en" sz="1100">
                <a:solidFill>
                  <a:srgbClr val="E6F2F1"/>
                </a:solidFill>
                <a:latin typeface="Calibri"/>
                <a:ea typeface="Calibri"/>
                <a:cs typeface="Calibri"/>
                <a:sym typeface="Calibri"/>
              </a:rPr>
              <a:t>Embeds each address into a 768-dim vector (6,425 addresses)</a:t>
            </a:r>
            <a:br>
              <a:rPr lang="en" sz="1100">
                <a:solidFill>
                  <a:srgbClr val="E6F2F1"/>
                </a:solidFill>
                <a:latin typeface="Calibri"/>
                <a:ea typeface="Calibri"/>
                <a:cs typeface="Calibri"/>
                <a:sym typeface="Calibri"/>
              </a:rPr>
            </a:br>
            <a:endParaRPr sz="11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02C39A"/>
              </a:buClr>
              <a:buSzPts val="1100"/>
              <a:buFont typeface="Calibri"/>
              <a:buNone/>
            </a:pPr>
            <a:r>
              <a:rPr b="1" lang="en" sz="1100">
                <a:solidFill>
                  <a:srgbClr val="02C39A"/>
                </a:solidFill>
                <a:latin typeface="Calibri"/>
                <a:ea typeface="Calibri"/>
                <a:cs typeface="Calibri"/>
                <a:sym typeface="Calibri"/>
              </a:rPr>
              <a:t>FAISS</a:t>
            </a:r>
            <a:endParaRPr sz="11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E6F2F1"/>
              </a:buClr>
              <a:buSzPts val="1100"/>
              <a:buFont typeface="Calibri"/>
              <a:buNone/>
            </a:pPr>
            <a:r>
              <a:rPr lang="en" sz="1100">
                <a:solidFill>
                  <a:srgbClr val="E6F2F1"/>
                </a:solidFill>
                <a:latin typeface="Calibri"/>
                <a:ea typeface="Calibri"/>
                <a:cs typeface="Calibri"/>
                <a:sym typeface="Calibri"/>
              </a:rPr>
              <a:t>Similarity search over those vectors: “find addresses like this one,” ranked by distance</a:t>
            </a:r>
            <a:endParaRPr sz="11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 name="Shape 126"/>
        <p:cNvGrpSpPr/>
        <p:nvPr/>
      </p:nvGrpSpPr>
      <p:grpSpPr>
        <a:xfrm>
          <a:off x="0" y="0"/>
          <a:ext cx="0" cy="0"/>
          <a:chOff x="0" y="0"/>
          <a:chExt cx="0" cy="0"/>
        </a:xfrm>
      </p:grpSpPr>
      <p:sp>
        <p:nvSpPr>
          <p:cNvPr id="127" name="Google Shape;127;p19"/>
          <p:cNvSpPr/>
          <p:nvPr/>
        </p:nvSpPr>
        <p:spPr>
          <a:xfrm>
            <a:off x="480060" y="342900"/>
            <a:ext cx="754380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3000"/>
              <a:buFont typeface="Cambria"/>
              <a:buNone/>
            </a:pPr>
            <a:r>
              <a:rPr b="1" lang="en" sz="3000">
                <a:solidFill>
                  <a:srgbClr val="1F2933"/>
                </a:solidFill>
                <a:latin typeface="Cambria"/>
                <a:ea typeface="Cambria"/>
                <a:cs typeface="Cambria"/>
                <a:sym typeface="Cambria"/>
              </a:rPr>
              <a:t>How the Project Evolved</a:t>
            </a:r>
            <a:endParaRPr sz="3000">
              <a:solidFill>
                <a:schemeClr val="dk1"/>
              </a:solidFill>
              <a:latin typeface="Calibri"/>
              <a:ea typeface="Calibri"/>
              <a:cs typeface="Calibri"/>
              <a:sym typeface="Calibri"/>
            </a:endParaRPr>
          </a:p>
        </p:txBody>
      </p:sp>
      <p:sp>
        <p:nvSpPr>
          <p:cNvPr id="128" name="Google Shape;128;p19"/>
          <p:cNvSpPr/>
          <p:nvPr/>
        </p:nvSpPr>
        <p:spPr>
          <a:xfrm>
            <a:off x="480060" y="1371600"/>
            <a:ext cx="1954530" cy="2674620"/>
          </a:xfrm>
          <a:prstGeom prst="roundRect">
            <a:avLst>
              <a:gd fmla="val 4211" name="adj"/>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 name="Google Shape;129;p19"/>
          <p:cNvSpPr/>
          <p:nvPr/>
        </p:nvSpPr>
        <p:spPr>
          <a:xfrm>
            <a:off x="1131570" y="1097280"/>
            <a:ext cx="651510" cy="651510"/>
          </a:xfrm>
          <a:prstGeom prst="ellipse">
            <a:avLst/>
          </a:prstGeom>
          <a:solidFill>
            <a:srgbClr val="02809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0" name="Google Shape;130;p19"/>
          <p:cNvSpPr/>
          <p:nvPr/>
        </p:nvSpPr>
        <p:spPr>
          <a:xfrm>
            <a:off x="1131570" y="1097280"/>
            <a:ext cx="651510" cy="65151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500"/>
              <a:buFont typeface="Calibri"/>
              <a:buNone/>
            </a:pPr>
            <a:r>
              <a:rPr b="1" lang="en" sz="1500">
                <a:solidFill>
                  <a:srgbClr val="FFFFFF"/>
                </a:solidFill>
                <a:latin typeface="Calibri"/>
                <a:ea typeface="Calibri"/>
                <a:cs typeface="Calibri"/>
                <a:sym typeface="Calibri"/>
              </a:rPr>
              <a:t>V1</a:t>
            </a:r>
            <a:endParaRPr sz="1500">
              <a:solidFill>
                <a:schemeClr val="dk1"/>
              </a:solidFill>
              <a:latin typeface="Calibri"/>
              <a:ea typeface="Calibri"/>
              <a:cs typeface="Calibri"/>
              <a:sym typeface="Calibri"/>
            </a:endParaRPr>
          </a:p>
        </p:txBody>
      </p:sp>
      <p:sp>
        <p:nvSpPr>
          <p:cNvPr id="131" name="Google Shape;131;p19"/>
          <p:cNvSpPr/>
          <p:nvPr/>
        </p:nvSpPr>
        <p:spPr>
          <a:xfrm>
            <a:off x="480060" y="1885950"/>
            <a:ext cx="195453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F2933"/>
              </a:buClr>
              <a:buSzPts val="1300"/>
              <a:buFont typeface="Calibri"/>
              <a:buNone/>
            </a:pPr>
            <a:r>
              <a:rPr b="1" lang="en" sz="1300">
                <a:solidFill>
                  <a:srgbClr val="1F2933"/>
                </a:solidFill>
                <a:latin typeface="Calibri"/>
                <a:ea typeface="Calibri"/>
                <a:cs typeface="Calibri"/>
                <a:sym typeface="Calibri"/>
              </a:rPr>
              <a:t>Baselines</a:t>
            </a:r>
            <a:endParaRPr sz="1300">
              <a:solidFill>
                <a:schemeClr val="dk1"/>
              </a:solidFill>
              <a:latin typeface="Calibri"/>
              <a:ea typeface="Calibri"/>
              <a:cs typeface="Calibri"/>
              <a:sym typeface="Calibri"/>
            </a:endParaRPr>
          </a:p>
        </p:txBody>
      </p:sp>
      <p:sp>
        <p:nvSpPr>
          <p:cNvPr id="132" name="Google Shape;132;p19"/>
          <p:cNvSpPr/>
          <p:nvPr/>
        </p:nvSpPr>
        <p:spPr>
          <a:xfrm>
            <a:off x="651510" y="2263140"/>
            <a:ext cx="1611630" cy="16459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B6770"/>
              </a:buClr>
              <a:buSzPts val="900"/>
              <a:buFont typeface="Calibri"/>
              <a:buNone/>
            </a:pPr>
            <a:r>
              <a:rPr lang="en" sz="900">
                <a:solidFill>
                  <a:srgbClr val="5B6770"/>
                </a:solidFill>
                <a:latin typeface="Calibri"/>
                <a:ea typeface="Calibri"/>
                <a:cs typeface="Calibri"/>
                <a:sym typeface="Calibri"/>
              </a:rPr>
              <a:t>Both models trained. Two problems surface: Housing below baseline, PMR over-flags.</a:t>
            </a:r>
            <a:endParaRPr sz="900">
              <a:solidFill>
                <a:schemeClr val="dk1"/>
              </a:solidFill>
              <a:latin typeface="Calibri"/>
              <a:ea typeface="Calibri"/>
              <a:cs typeface="Calibri"/>
              <a:sym typeface="Calibri"/>
            </a:endParaRPr>
          </a:p>
        </p:txBody>
      </p:sp>
      <p:sp>
        <p:nvSpPr>
          <p:cNvPr id="133" name="Google Shape;133;p19"/>
          <p:cNvSpPr/>
          <p:nvPr/>
        </p:nvSpPr>
        <p:spPr>
          <a:xfrm>
            <a:off x="2619756" y="1371600"/>
            <a:ext cx="1954530" cy="2674620"/>
          </a:xfrm>
          <a:prstGeom prst="roundRect">
            <a:avLst>
              <a:gd fmla="val 4211" name="adj"/>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4" name="Google Shape;134;p19"/>
          <p:cNvSpPr/>
          <p:nvPr/>
        </p:nvSpPr>
        <p:spPr>
          <a:xfrm>
            <a:off x="3271266" y="1097280"/>
            <a:ext cx="651510" cy="651510"/>
          </a:xfrm>
          <a:prstGeom prst="ellipse">
            <a:avLst/>
          </a:prstGeom>
          <a:solidFill>
            <a:srgbClr val="00A89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5" name="Google Shape;135;p19"/>
          <p:cNvSpPr/>
          <p:nvPr/>
        </p:nvSpPr>
        <p:spPr>
          <a:xfrm>
            <a:off x="3271266" y="1097280"/>
            <a:ext cx="651510" cy="65151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500"/>
              <a:buFont typeface="Calibri"/>
              <a:buNone/>
            </a:pPr>
            <a:r>
              <a:rPr b="1" lang="en" sz="1500">
                <a:solidFill>
                  <a:srgbClr val="FFFFFF"/>
                </a:solidFill>
                <a:latin typeface="Calibri"/>
                <a:ea typeface="Calibri"/>
                <a:cs typeface="Calibri"/>
                <a:sym typeface="Calibri"/>
              </a:rPr>
              <a:t>V2</a:t>
            </a:r>
            <a:endParaRPr sz="1500">
              <a:solidFill>
                <a:schemeClr val="dk1"/>
              </a:solidFill>
              <a:latin typeface="Calibri"/>
              <a:ea typeface="Calibri"/>
              <a:cs typeface="Calibri"/>
              <a:sym typeface="Calibri"/>
            </a:endParaRPr>
          </a:p>
        </p:txBody>
      </p:sp>
      <p:sp>
        <p:nvSpPr>
          <p:cNvPr id="136" name="Google Shape;136;p19"/>
          <p:cNvSpPr/>
          <p:nvPr/>
        </p:nvSpPr>
        <p:spPr>
          <a:xfrm>
            <a:off x="2619756" y="1885950"/>
            <a:ext cx="195453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F2933"/>
              </a:buClr>
              <a:buSzPts val="1300"/>
              <a:buFont typeface="Calibri"/>
              <a:buNone/>
            </a:pPr>
            <a:r>
              <a:rPr b="1" lang="en" sz="1300">
                <a:solidFill>
                  <a:srgbClr val="1F2933"/>
                </a:solidFill>
                <a:latin typeface="Calibri"/>
                <a:ea typeface="Calibri"/>
                <a:cs typeface="Calibri"/>
                <a:sym typeface="Calibri"/>
              </a:rPr>
              <a:t>Bias fix</a:t>
            </a:r>
            <a:endParaRPr sz="1300">
              <a:solidFill>
                <a:schemeClr val="dk1"/>
              </a:solidFill>
              <a:latin typeface="Calibri"/>
              <a:ea typeface="Calibri"/>
              <a:cs typeface="Calibri"/>
              <a:sym typeface="Calibri"/>
            </a:endParaRPr>
          </a:p>
        </p:txBody>
      </p:sp>
      <p:sp>
        <p:nvSpPr>
          <p:cNvPr id="137" name="Google Shape;137;p19"/>
          <p:cNvSpPr/>
          <p:nvPr/>
        </p:nvSpPr>
        <p:spPr>
          <a:xfrm>
            <a:off x="2791206" y="2263140"/>
            <a:ext cx="1611630" cy="16459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B6770"/>
              </a:buClr>
              <a:buSzPts val="900"/>
              <a:buFont typeface="Calibri"/>
              <a:buNone/>
            </a:pPr>
            <a:r>
              <a:rPr lang="en" sz="900">
                <a:solidFill>
                  <a:srgbClr val="5B6770"/>
                </a:solidFill>
                <a:latin typeface="Calibri"/>
                <a:ea typeface="Calibri"/>
                <a:cs typeface="Calibri"/>
                <a:sym typeface="Calibri"/>
              </a:rPr>
              <a:t>Drop state from Housing, retrain. Result: a null finding — and an honest one.</a:t>
            </a:r>
            <a:endParaRPr sz="900">
              <a:solidFill>
                <a:schemeClr val="dk1"/>
              </a:solidFill>
              <a:latin typeface="Calibri"/>
              <a:ea typeface="Calibri"/>
              <a:cs typeface="Calibri"/>
              <a:sym typeface="Calibri"/>
            </a:endParaRPr>
          </a:p>
        </p:txBody>
      </p:sp>
      <p:sp>
        <p:nvSpPr>
          <p:cNvPr id="138" name="Google Shape;138;p19"/>
          <p:cNvSpPr/>
          <p:nvPr/>
        </p:nvSpPr>
        <p:spPr>
          <a:xfrm>
            <a:off x="4759452" y="1371600"/>
            <a:ext cx="1954530" cy="2674620"/>
          </a:xfrm>
          <a:prstGeom prst="roundRect">
            <a:avLst>
              <a:gd fmla="val 4211" name="adj"/>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9" name="Google Shape;139;p19"/>
          <p:cNvSpPr/>
          <p:nvPr/>
        </p:nvSpPr>
        <p:spPr>
          <a:xfrm>
            <a:off x="5410962" y="1097280"/>
            <a:ext cx="651510" cy="651510"/>
          </a:xfrm>
          <a:prstGeom prst="ellipse">
            <a:avLst/>
          </a:prstGeom>
          <a:solidFill>
            <a:srgbClr val="02C39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0" name="Google Shape;140;p19"/>
          <p:cNvSpPr/>
          <p:nvPr/>
        </p:nvSpPr>
        <p:spPr>
          <a:xfrm>
            <a:off x="5410962" y="1097280"/>
            <a:ext cx="651510" cy="65151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500"/>
              <a:buFont typeface="Calibri"/>
              <a:buNone/>
            </a:pPr>
            <a:r>
              <a:rPr b="1" lang="en" sz="1500">
                <a:solidFill>
                  <a:srgbClr val="FFFFFF"/>
                </a:solidFill>
                <a:latin typeface="Calibri"/>
                <a:ea typeface="Calibri"/>
                <a:cs typeface="Calibri"/>
                <a:sym typeface="Calibri"/>
              </a:rPr>
              <a:t>V3</a:t>
            </a:r>
            <a:endParaRPr sz="1500">
              <a:solidFill>
                <a:schemeClr val="dk1"/>
              </a:solidFill>
              <a:latin typeface="Calibri"/>
              <a:ea typeface="Calibri"/>
              <a:cs typeface="Calibri"/>
              <a:sym typeface="Calibri"/>
            </a:endParaRPr>
          </a:p>
        </p:txBody>
      </p:sp>
      <p:sp>
        <p:nvSpPr>
          <p:cNvPr id="141" name="Google Shape;141;p19"/>
          <p:cNvSpPr/>
          <p:nvPr/>
        </p:nvSpPr>
        <p:spPr>
          <a:xfrm>
            <a:off x="4759452" y="1885950"/>
            <a:ext cx="195453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F2933"/>
              </a:buClr>
              <a:buSzPts val="1300"/>
              <a:buFont typeface="Calibri"/>
              <a:buNone/>
            </a:pPr>
            <a:r>
              <a:rPr b="1" lang="en" sz="1300">
                <a:solidFill>
                  <a:srgbClr val="1F2933"/>
                </a:solidFill>
                <a:latin typeface="Calibri"/>
                <a:ea typeface="Calibri"/>
                <a:cs typeface="Calibri"/>
                <a:sym typeface="Calibri"/>
              </a:rPr>
              <a:t>Precision fix</a:t>
            </a:r>
            <a:endParaRPr sz="1300">
              <a:solidFill>
                <a:schemeClr val="dk1"/>
              </a:solidFill>
              <a:latin typeface="Calibri"/>
              <a:ea typeface="Calibri"/>
              <a:cs typeface="Calibri"/>
              <a:sym typeface="Calibri"/>
            </a:endParaRPr>
          </a:p>
        </p:txBody>
      </p:sp>
      <p:sp>
        <p:nvSpPr>
          <p:cNvPr id="142" name="Google Shape;142;p19"/>
          <p:cNvSpPr/>
          <p:nvPr/>
        </p:nvSpPr>
        <p:spPr>
          <a:xfrm>
            <a:off x="4930902" y="2263140"/>
            <a:ext cx="1611630" cy="16459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B6770"/>
              </a:buClr>
              <a:buSzPts val="900"/>
              <a:buFont typeface="Calibri"/>
              <a:buNone/>
            </a:pPr>
            <a:r>
              <a:rPr lang="en" sz="900">
                <a:solidFill>
                  <a:srgbClr val="5B6770"/>
                </a:solidFill>
                <a:latin typeface="Calibri"/>
                <a:ea typeface="Calibri"/>
                <a:cs typeface="Calibri"/>
                <a:sym typeface="Calibri"/>
              </a:rPr>
              <a:t>PMR threshold tuning fails. Root cause found in features; curb height added.</a:t>
            </a:r>
            <a:endParaRPr sz="900">
              <a:solidFill>
                <a:schemeClr val="dk1"/>
              </a:solidFill>
              <a:latin typeface="Calibri"/>
              <a:ea typeface="Calibri"/>
              <a:cs typeface="Calibri"/>
              <a:sym typeface="Calibri"/>
            </a:endParaRPr>
          </a:p>
        </p:txBody>
      </p:sp>
      <p:sp>
        <p:nvSpPr>
          <p:cNvPr id="143" name="Google Shape;143;p19"/>
          <p:cNvSpPr/>
          <p:nvPr/>
        </p:nvSpPr>
        <p:spPr>
          <a:xfrm>
            <a:off x="6899148" y="1371600"/>
            <a:ext cx="1954530" cy="2674620"/>
          </a:xfrm>
          <a:prstGeom prst="roundRect">
            <a:avLst>
              <a:gd fmla="val 4211" name="adj"/>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4" name="Google Shape;144;p19"/>
          <p:cNvSpPr/>
          <p:nvPr/>
        </p:nvSpPr>
        <p:spPr>
          <a:xfrm>
            <a:off x="7550658" y="1097280"/>
            <a:ext cx="651510" cy="651510"/>
          </a:xfrm>
          <a:prstGeom prst="ellipse">
            <a:avLst/>
          </a:prstGeom>
          <a:solidFill>
            <a:srgbClr val="0A3A4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5" name="Google Shape;145;p19"/>
          <p:cNvSpPr/>
          <p:nvPr/>
        </p:nvSpPr>
        <p:spPr>
          <a:xfrm>
            <a:off x="7550658" y="1097280"/>
            <a:ext cx="651510" cy="65151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500"/>
              <a:buFont typeface="Calibri"/>
              <a:buNone/>
            </a:pPr>
            <a:r>
              <a:rPr b="1" lang="en" sz="1500">
                <a:solidFill>
                  <a:srgbClr val="FFFFFF"/>
                </a:solidFill>
                <a:latin typeface="Calibri"/>
                <a:ea typeface="Calibri"/>
                <a:cs typeface="Calibri"/>
                <a:sym typeface="Calibri"/>
              </a:rPr>
              <a:t>V4</a:t>
            </a:r>
            <a:endParaRPr sz="1500">
              <a:solidFill>
                <a:schemeClr val="dk1"/>
              </a:solidFill>
              <a:latin typeface="Calibri"/>
              <a:ea typeface="Calibri"/>
              <a:cs typeface="Calibri"/>
              <a:sym typeface="Calibri"/>
            </a:endParaRPr>
          </a:p>
        </p:txBody>
      </p:sp>
      <p:sp>
        <p:nvSpPr>
          <p:cNvPr id="146" name="Google Shape;146;p19"/>
          <p:cNvSpPr/>
          <p:nvPr/>
        </p:nvSpPr>
        <p:spPr>
          <a:xfrm>
            <a:off x="6899148" y="1885950"/>
            <a:ext cx="195453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F2933"/>
              </a:buClr>
              <a:buSzPts val="1300"/>
              <a:buFont typeface="Calibri"/>
              <a:buNone/>
            </a:pPr>
            <a:r>
              <a:rPr b="1" lang="en" sz="1300">
                <a:solidFill>
                  <a:srgbClr val="1F2933"/>
                </a:solidFill>
                <a:latin typeface="Calibri"/>
                <a:ea typeface="Calibri"/>
                <a:cs typeface="Calibri"/>
                <a:sym typeface="Calibri"/>
              </a:rPr>
              <a:t>Deployment</a:t>
            </a:r>
            <a:endParaRPr sz="1300">
              <a:solidFill>
                <a:schemeClr val="dk1"/>
              </a:solidFill>
              <a:latin typeface="Calibri"/>
              <a:ea typeface="Calibri"/>
              <a:cs typeface="Calibri"/>
              <a:sym typeface="Calibri"/>
            </a:endParaRPr>
          </a:p>
        </p:txBody>
      </p:sp>
      <p:sp>
        <p:nvSpPr>
          <p:cNvPr id="147" name="Google Shape;147;p19"/>
          <p:cNvSpPr/>
          <p:nvPr/>
        </p:nvSpPr>
        <p:spPr>
          <a:xfrm>
            <a:off x="7070598" y="2263140"/>
            <a:ext cx="1611630" cy="16459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B6770"/>
              </a:buClr>
              <a:buSzPts val="900"/>
              <a:buFont typeface="Calibri"/>
              <a:buNone/>
            </a:pPr>
            <a:r>
              <a:rPr lang="en" sz="900">
                <a:solidFill>
                  <a:srgbClr val="5B6770"/>
                </a:solidFill>
                <a:latin typeface="Calibri"/>
                <a:ea typeface="Calibri"/>
                <a:cs typeface="Calibri"/>
                <a:sym typeface="Calibri"/>
              </a:rPr>
              <a:t>Streamlit app built, tested locally + on the cloud, live for anyone to use.</a:t>
            </a:r>
            <a:endParaRPr sz="900">
              <a:solidFill>
                <a:schemeClr val="dk1"/>
              </a:solidFill>
              <a:latin typeface="Calibri"/>
              <a:ea typeface="Calibri"/>
              <a:cs typeface="Calibri"/>
              <a:sym typeface="Calibri"/>
            </a:endParaRPr>
          </a:p>
        </p:txBody>
      </p:sp>
      <p:sp>
        <p:nvSpPr>
          <p:cNvPr id="148" name="Google Shape;148;p19"/>
          <p:cNvSpPr/>
          <p:nvPr/>
        </p:nvSpPr>
        <p:spPr>
          <a:xfrm>
            <a:off x="480060" y="4320540"/>
            <a:ext cx="822960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28090"/>
              </a:buClr>
              <a:buSzPts val="1200"/>
              <a:buFont typeface="Calibri"/>
              <a:buNone/>
            </a:pPr>
            <a:r>
              <a:rPr i="1" lang="en" sz="1200">
                <a:solidFill>
                  <a:srgbClr val="028090"/>
                </a:solidFill>
                <a:latin typeface="Calibri"/>
                <a:ea typeface="Calibri"/>
                <a:cs typeface="Calibri"/>
                <a:sym typeface="Calibri"/>
              </a:rPr>
              <a:t>We didn't get it right the first time — and that's the story worth telling.</a:t>
            </a:r>
            <a:endParaRPr sz="1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sp>
        <p:nvSpPr>
          <p:cNvPr id="154" name="Google Shape;154;p20"/>
          <p:cNvSpPr/>
          <p:nvPr/>
        </p:nvSpPr>
        <p:spPr>
          <a:xfrm>
            <a:off x="480060" y="342900"/>
            <a:ext cx="822960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2400"/>
              <a:buFont typeface="Cambria"/>
              <a:buNone/>
            </a:pPr>
            <a:r>
              <a:rPr b="1" lang="en" sz="2400">
                <a:solidFill>
                  <a:srgbClr val="1F2933"/>
                </a:solidFill>
                <a:latin typeface="Cambria"/>
                <a:ea typeface="Cambria"/>
                <a:cs typeface="Cambria"/>
                <a:sym typeface="Cambria"/>
              </a:rPr>
              <a:t>Challenge 1 — The Housing Model Learned Geography</a:t>
            </a:r>
            <a:endParaRPr sz="2400">
              <a:solidFill>
                <a:schemeClr val="dk1"/>
              </a:solidFill>
              <a:latin typeface="Calibri"/>
              <a:ea typeface="Calibri"/>
              <a:cs typeface="Calibri"/>
              <a:sym typeface="Calibri"/>
            </a:endParaRPr>
          </a:p>
        </p:txBody>
      </p:sp>
      <p:pic>
        <p:nvPicPr>
          <p:cNvPr id="155" name="Google Shape;155;p20"/>
          <p:cNvPicPr preferRelativeResize="0"/>
          <p:nvPr/>
        </p:nvPicPr>
        <p:blipFill rotWithShape="1">
          <a:blip r:embed="rId4">
            <a:alphaModFix/>
          </a:blip>
          <a:srcRect b="0" l="0" r="0" t="0"/>
          <a:stretch/>
        </p:blipFill>
        <p:spPr>
          <a:xfrm>
            <a:off x="480060" y="1234455"/>
            <a:ext cx="4320600" cy="3154800"/>
          </a:xfrm>
          <a:prstGeom prst="rect">
            <a:avLst/>
          </a:prstGeom>
          <a:noFill/>
          <a:ln cap="flat" cmpd="sng" w="9525">
            <a:solidFill>
              <a:schemeClr val="lt1"/>
            </a:solidFill>
            <a:prstDash val="solid"/>
            <a:round/>
            <a:headEnd len="sm" w="sm" type="none"/>
            <a:tailEnd len="sm" w="sm" type="none"/>
          </a:ln>
        </p:spPr>
      </p:pic>
      <p:sp>
        <p:nvSpPr>
          <p:cNvPr id="156" name="Google Shape;156;p20"/>
          <p:cNvSpPr/>
          <p:nvPr/>
        </p:nvSpPr>
        <p:spPr>
          <a:xfrm>
            <a:off x="5074920" y="1234440"/>
            <a:ext cx="3634740" cy="301752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l">
              <a:lnSpc>
                <a:spcPct val="112000"/>
              </a:lnSpc>
              <a:spcBef>
                <a:spcPts val="0"/>
              </a:spcBef>
              <a:spcAft>
                <a:spcPts val="0"/>
              </a:spcAft>
              <a:buClr>
                <a:srgbClr val="1F2933"/>
              </a:buClr>
              <a:buSzPts val="1200"/>
              <a:buFont typeface="Calibri"/>
              <a:buNone/>
            </a:pPr>
            <a:r>
              <a:rPr lang="en" sz="1200">
                <a:solidFill>
                  <a:srgbClr val="1F2933"/>
                </a:solidFill>
                <a:latin typeface="Calibri"/>
                <a:ea typeface="Calibri"/>
                <a:cs typeface="Calibri"/>
                <a:sym typeface="Calibri"/>
              </a:rPr>
              <a:t>67.4% accuracy vs. an 85.3% baseline — worse than guessing.</a:t>
            </a:r>
            <a:br>
              <a:rPr lang="en" sz="1200">
                <a:solidFill>
                  <a:srgbClr val="1F2933"/>
                </a:solidFill>
                <a:latin typeface="Calibri"/>
                <a:ea typeface="Calibri"/>
                <a:cs typeface="Calibri"/>
                <a:sym typeface="Calibri"/>
              </a:rPr>
            </a:br>
            <a:br>
              <a:rPr lang="en" sz="1200">
                <a:solidFill>
                  <a:srgbClr val="1F2933"/>
                </a:solidFill>
                <a:latin typeface="Calibri"/>
                <a:ea typeface="Calibri"/>
                <a:cs typeface="Calibri"/>
                <a:sym typeface="Calibri"/>
              </a:rPr>
            </a:br>
            <a:r>
              <a:rPr lang="en" sz="1200">
                <a:solidFill>
                  <a:srgbClr val="1F2933"/>
                </a:solidFill>
                <a:latin typeface="Calibri"/>
                <a:ea typeface="Calibri"/>
                <a:cs typeface="Calibri"/>
                <a:sym typeface="Calibri"/>
              </a:rPr>
              <a:t>One feature, </a:t>
            </a:r>
            <a:r>
              <a:rPr b="1" lang="en" sz="1200">
                <a:solidFill>
                  <a:srgbClr val="C0392B"/>
                </a:solidFill>
                <a:latin typeface="Calibri"/>
                <a:ea typeface="Calibri"/>
                <a:cs typeface="Calibri"/>
                <a:sym typeface="Calibri"/>
              </a:rPr>
              <a:t>state</a:t>
            </a:r>
            <a:r>
              <a:rPr lang="en" sz="1200">
                <a:solidFill>
                  <a:srgbClr val="1F2933"/>
                </a:solidFill>
                <a:latin typeface="Calibri"/>
                <a:ea typeface="Calibri"/>
                <a:cs typeface="Calibri"/>
                <a:sym typeface="Calibri"/>
              </a:rPr>
              <a:t>, drove 89% of every decision. The model wasn't judging house condition. It was memorizing which states have more “bad sidewalk” labels.</a:t>
            </a:r>
            <a:br>
              <a:rPr lang="en" sz="1200">
                <a:solidFill>
                  <a:srgbClr val="1F2933"/>
                </a:solidFill>
                <a:latin typeface="Calibri"/>
                <a:ea typeface="Calibri"/>
                <a:cs typeface="Calibri"/>
                <a:sym typeface="Calibri"/>
              </a:rPr>
            </a:br>
            <a:br>
              <a:rPr lang="en" sz="1200">
                <a:solidFill>
                  <a:srgbClr val="1F2933"/>
                </a:solidFill>
                <a:latin typeface="Calibri"/>
                <a:ea typeface="Calibri"/>
                <a:cs typeface="Calibri"/>
                <a:sym typeface="Calibri"/>
              </a:rPr>
            </a:br>
            <a:r>
              <a:rPr b="1" lang="en" sz="1200">
                <a:solidFill>
                  <a:srgbClr val="028090"/>
                </a:solidFill>
                <a:latin typeface="Calibri"/>
                <a:ea typeface="Calibri"/>
                <a:cs typeface="Calibri"/>
                <a:sym typeface="Calibri"/>
              </a:rPr>
              <a:t>This is a bias problem, not a tuning problem.</a:t>
            </a:r>
            <a:endParaRPr sz="1200">
              <a:solidFill>
                <a:schemeClr val="dk1"/>
              </a:solidFill>
              <a:latin typeface="Calibri"/>
              <a:ea typeface="Calibri"/>
              <a:cs typeface="Calibri"/>
              <a:sym typeface="Calibri"/>
            </a:endParaRPr>
          </a:p>
        </p:txBody>
      </p:sp>
      <p:pic>
        <p:nvPicPr>
          <p:cNvPr id="157" name="Google Shape;157;p20"/>
          <p:cNvPicPr preferRelativeResize="0"/>
          <p:nvPr/>
        </p:nvPicPr>
        <p:blipFill>
          <a:blip r:embed="rId5">
            <a:alphaModFix/>
          </a:blip>
          <a:stretch>
            <a:fillRect/>
          </a:stretch>
        </p:blipFill>
        <p:spPr>
          <a:xfrm>
            <a:off x="376875" y="1006100"/>
            <a:ext cx="4423775" cy="3383150"/>
          </a:xfrm>
          <a:prstGeom prst="rect">
            <a:avLst/>
          </a:prstGeom>
          <a:noFill/>
          <a:ln cap="flat" cmpd="sng" w="9525">
            <a:solidFill>
              <a:schemeClr val="lt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2" name="Shape 162"/>
        <p:cNvGrpSpPr/>
        <p:nvPr/>
      </p:nvGrpSpPr>
      <p:grpSpPr>
        <a:xfrm>
          <a:off x="0" y="0"/>
          <a:ext cx="0" cy="0"/>
          <a:chOff x="0" y="0"/>
          <a:chExt cx="0" cy="0"/>
        </a:xfrm>
      </p:grpSpPr>
      <p:sp>
        <p:nvSpPr>
          <p:cNvPr id="163" name="Google Shape;163;p21"/>
          <p:cNvSpPr/>
          <p:nvPr/>
        </p:nvSpPr>
        <p:spPr>
          <a:xfrm>
            <a:off x="480060" y="342900"/>
            <a:ext cx="822960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2600"/>
              <a:buFont typeface="Cambria"/>
              <a:buNone/>
            </a:pPr>
            <a:r>
              <a:rPr b="1" lang="en" sz="2600">
                <a:solidFill>
                  <a:srgbClr val="1F2933"/>
                </a:solidFill>
                <a:latin typeface="Cambria"/>
                <a:ea typeface="Cambria"/>
                <a:cs typeface="Cambria"/>
                <a:sym typeface="Cambria"/>
              </a:rPr>
              <a:t>The Fix Revealed the Real Finding</a:t>
            </a:r>
            <a:endParaRPr sz="2600">
              <a:solidFill>
                <a:schemeClr val="dk1"/>
              </a:solidFill>
              <a:latin typeface="Calibri"/>
              <a:ea typeface="Calibri"/>
              <a:cs typeface="Calibri"/>
              <a:sym typeface="Calibri"/>
            </a:endParaRPr>
          </a:p>
        </p:txBody>
      </p:sp>
      <p:pic>
        <p:nvPicPr>
          <p:cNvPr id="164" name="Google Shape;164;p21"/>
          <p:cNvPicPr preferRelativeResize="0"/>
          <p:nvPr/>
        </p:nvPicPr>
        <p:blipFill rotWithShape="1">
          <a:blip r:embed="rId4">
            <a:alphaModFix/>
          </a:blip>
          <a:srcRect b="0" l="0" r="0" t="0"/>
          <a:stretch/>
        </p:blipFill>
        <p:spPr>
          <a:xfrm>
            <a:off x="480060" y="1062990"/>
            <a:ext cx="4800600" cy="3291840"/>
          </a:xfrm>
          <a:prstGeom prst="rect">
            <a:avLst/>
          </a:prstGeom>
          <a:noFill/>
          <a:ln cap="flat" cmpd="sng" w="9525">
            <a:solidFill>
              <a:schemeClr val="lt1"/>
            </a:solidFill>
            <a:prstDash val="solid"/>
            <a:round/>
            <a:headEnd len="sm" w="sm" type="none"/>
            <a:tailEnd len="sm" w="sm" type="none"/>
          </a:ln>
        </p:spPr>
      </p:pic>
      <p:sp>
        <p:nvSpPr>
          <p:cNvPr id="165" name="Google Shape;165;p21"/>
          <p:cNvSpPr/>
          <p:nvPr/>
        </p:nvSpPr>
        <p:spPr>
          <a:xfrm>
            <a:off x="5554980" y="1165860"/>
            <a:ext cx="3154680" cy="1508760"/>
          </a:xfrm>
          <a:prstGeom prst="roundRect">
            <a:avLst>
              <a:gd fmla="val 5455" name="adj"/>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 name="Google Shape;166;p21"/>
          <p:cNvSpPr/>
          <p:nvPr/>
        </p:nvSpPr>
        <p:spPr>
          <a:xfrm>
            <a:off x="5726430" y="1268730"/>
            <a:ext cx="2811780" cy="133731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1000"/>
              <a:buFont typeface="Calibri"/>
              <a:buNone/>
            </a:pPr>
            <a:r>
              <a:rPr b="1" lang="en" sz="1000">
                <a:solidFill>
                  <a:srgbClr val="028090"/>
                </a:solidFill>
                <a:latin typeface="Calibri"/>
                <a:ea typeface="Calibri"/>
                <a:cs typeface="Calibri"/>
                <a:sym typeface="Calibri"/>
              </a:rPr>
              <a:t>Housing: </a:t>
            </a:r>
            <a:r>
              <a:rPr lang="en" sz="1000">
                <a:solidFill>
                  <a:srgbClr val="1F2933"/>
                </a:solidFill>
                <a:latin typeface="Calibri"/>
                <a:ea typeface="Calibri"/>
                <a:cs typeface="Calibri"/>
                <a:sym typeface="Calibri"/>
              </a:rPr>
              <a:t>85.0% ties the 85.3% baseline. Recall on bad sidewalks: 0.01. Without state, no signal is left — and the raw data has no other features to add.</a:t>
            </a:r>
            <a:endParaRPr sz="1000">
              <a:solidFill>
                <a:schemeClr val="dk1"/>
              </a:solidFill>
              <a:latin typeface="Calibri"/>
              <a:ea typeface="Calibri"/>
              <a:cs typeface="Calibri"/>
              <a:sym typeface="Calibri"/>
            </a:endParaRPr>
          </a:p>
        </p:txBody>
      </p:sp>
      <p:sp>
        <p:nvSpPr>
          <p:cNvPr id="167" name="Google Shape;167;p21"/>
          <p:cNvSpPr/>
          <p:nvPr/>
        </p:nvSpPr>
        <p:spPr>
          <a:xfrm>
            <a:off x="5554980" y="2846070"/>
            <a:ext cx="3154680" cy="1508760"/>
          </a:xfrm>
          <a:prstGeom prst="roundRect">
            <a:avLst>
              <a:gd fmla="val 5455" name="adj"/>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 name="Google Shape;168;p21"/>
          <p:cNvSpPr/>
          <p:nvPr/>
        </p:nvSpPr>
        <p:spPr>
          <a:xfrm>
            <a:off x="5726430" y="2948940"/>
            <a:ext cx="2811780" cy="133731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1000"/>
              <a:buFont typeface="Calibri"/>
              <a:buNone/>
            </a:pPr>
            <a:r>
              <a:rPr b="1" lang="en" sz="1000">
                <a:solidFill>
                  <a:srgbClr val="028090"/>
                </a:solidFill>
                <a:latin typeface="Calibri"/>
                <a:ea typeface="Calibri"/>
                <a:cs typeface="Calibri"/>
                <a:sym typeface="Calibri"/>
              </a:rPr>
              <a:t>A null result is a result. </a:t>
            </a:r>
            <a:r>
              <a:rPr lang="en" sz="1000">
                <a:solidFill>
                  <a:srgbClr val="1F2933"/>
                </a:solidFill>
                <a:latin typeface="Calibri"/>
                <a:ea typeface="Calibri"/>
                <a:cs typeface="Calibri"/>
                <a:sym typeface="Calibri"/>
              </a:rPr>
              <a:t>“This dataset can't predict sidewalk condition, and here's why” is our headline bias finding — not a failure to hide.</a:t>
            </a:r>
            <a:endParaRPr sz="1000">
              <a:solidFill>
                <a:schemeClr val="dk1"/>
              </a:solidFill>
              <a:latin typeface="Calibri"/>
              <a:ea typeface="Calibri"/>
              <a:cs typeface="Calibri"/>
              <a:sym typeface="Calibri"/>
            </a:endParaRPr>
          </a:p>
        </p:txBody>
      </p:sp>
      <p:pic>
        <p:nvPicPr>
          <p:cNvPr id="169" name="Google Shape;169;p21"/>
          <p:cNvPicPr preferRelativeResize="0"/>
          <p:nvPr/>
        </p:nvPicPr>
        <p:blipFill>
          <a:blip r:embed="rId5">
            <a:alphaModFix/>
          </a:blip>
          <a:stretch>
            <a:fillRect/>
          </a:stretch>
        </p:blipFill>
        <p:spPr>
          <a:xfrm>
            <a:off x="401038" y="1063000"/>
            <a:ext cx="4958624" cy="3451820"/>
          </a:xfrm>
          <a:prstGeom prst="rect">
            <a:avLst/>
          </a:prstGeom>
          <a:noFill/>
          <a:ln cap="flat" cmpd="sng" w="9525">
            <a:solidFill>
              <a:schemeClr val="lt1"/>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4" name="Shape 174"/>
        <p:cNvGrpSpPr/>
        <p:nvPr/>
      </p:nvGrpSpPr>
      <p:grpSpPr>
        <a:xfrm>
          <a:off x="0" y="0"/>
          <a:ext cx="0" cy="0"/>
          <a:chOff x="0" y="0"/>
          <a:chExt cx="0" cy="0"/>
        </a:xfrm>
      </p:grpSpPr>
      <p:sp>
        <p:nvSpPr>
          <p:cNvPr id="175" name="Google Shape;175;p22"/>
          <p:cNvSpPr/>
          <p:nvPr/>
        </p:nvSpPr>
        <p:spPr>
          <a:xfrm>
            <a:off x="480060" y="342900"/>
            <a:ext cx="822960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2600"/>
              <a:buFont typeface="Cambria"/>
              <a:buNone/>
            </a:pPr>
            <a:r>
              <a:rPr b="1" lang="en" sz="2600">
                <a:solidFill>
                  <a:srgbClr val="1F2933"/>
                </a:solidFill>
                <a:latin typeface="Cambria"/>
                <a:ea typeface="Cambria"/>
                <a:cs typeface="Cambria"/>
                <a:sym typeface="Cambria"/>
              </a:rPr>
              <a:t>Challenge 2 — Confidently Wrong, Not Unsure</a:t>
            </a:r>
            <a:endParaRPr sz="2600">
              <a:solidFill>
                <a:schemeClr val="dk1"/>
              </a:solidFill>
              <a:latin typeface="Calibri"/>
              <a:ea typeface="Calibri"/>
              <a:cs typeface="Calibri"/>
              <a:sym typeface="Calibri"/>
            </a:endParaRPr>
          </a:p>
        </p:txBody>
      </p:sp>
      <p:sp>
        <p:nvSpPr>
          <p:cNvPr id="176" name="Google Shape;176;p22"/>
          <p:cNvSpPr/>
          <p:nvPr/>
        </p:nvSpPr>
        <p:spPr>
          <a:xfrm>
            <a:off x="480060" y="1131570"/>
            <a:ext cx="4080510" cy="3154680"/>
          </a:xfrm>
          <a:prstGeom prst="roundRect">
            <a:avLst>
              <a:gd fmla="val 2609" name="adj"/>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7" name="Google Shape;177;p22"/>
          <p:cNvSpPr/>
          <p:nvPr/>
        </p:nvSpPr>
        <p:spPr>
          <a:xfrm>
            <a:off x="685800" y="1337310"/>
            <a:ext cx="445770" cy="445770"/>
          </a:xfrm>
          <a:prstGeom prst="ellipse">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178" name="Google Shape;178;p22"/>
          <p:cNvPicPr preferRelativeResize="0"/>
          <p:nvPr/>
        </p:nvPicPr>
        <p:blipFill rotWithShape="1">
          <a:blip r:embed="rId4">
            <a:alphaModFix/>
          </a:blip>
          <a:srcRect b="0" l="0" r="0" t="0"/>
          <a:stretch/>
        </p:blipFill>
        <p:spPr>
          <a:xfrm>
            <a:off x="792784" y="1444295"/>
            <a:ext cx="231800" cy="231800"/>
          </a:xfrm>
          <a:prstGeom prst="rect">
            <a:avLst/>
          </a:prstGeom>
          <a:noFill/>
          <a:ln>
            <a:noFill/>
          </a:ln>
        </p:spPr>
      </p:pic>
      <p:sp>
        <p:nvSpPr>
          <p:cNvPr id="179" name="Google Shape;179;p22"/>
          <p:cNvSpPr/>
          <p:nvPr/>
        </p:nvSpPr>
        <p:spPr>
          <a:xfrm>
            <a:off x="1268730" y="1371600"/>
            <a:ext cx="315468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0392B"/>
              </a:buClr>
              <a:buSzPts val="1200"/>
              <a:buFont typeface="Calibri"/>
              <a:buNone/>
            </a:pPr>
            <a:r>
              <a:rPr b="1" lang="en" sz="1200">
                <a:solidFill>
                  <a:srgbClr val="C0392B"/>
                </a:solidFill>
                <a:latin typeface="Calibri"/>
                <a:ea typeface="Calibri"/>
                <a:cs typeface="Calibri"/>
                <a:sym typeface="Calibri"/>
              </a:rPr>
              <a:t>Attempt 1: move the threshold — failed</a:t>
            </a:r>
            <a:endParaRPr sz="1200">
              <a:solidFill>
                <a:schemeClr val="dk1"/>
              </a:solidFill>
              <a:latin typeface="Calibri"/>
              <a:ea typeface="Calibri"/>
              <a:cs typeface="Calibri"/>
              <a:sym typeface="Calibri"/>
            </a:endParaRPr>
          </a:p>
        </p:txBody>
      </p:sp>
      <p:sp>
        <p:nvSpPr>
          <p:cNvPr id="180" name="Google Shape;180;p22"/>
          <p:cNvSpPr/>
          <p:nvPr/>
        </p:nvSpPr>
        <p:spPr>
          <a:xfrm>
            <a:off x="685800" y="1885950"/>
            <a:ext cx="3634740" cy="7543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1000"/>
              <a:buFont typeface="Calibri"/>
              <a:buNone/>
            </a:pPr>
            <a:r>
              <a:rPr lang="en" sz="1000">
                <a:solidFill>
                  <a:srgbClr val="1F2933"/>
                </a:solidFill>
                <a:latin typeface="Calibri"/>
                <a:ea typeface="Calibri"/>
                <a:cs typeface="Calibri"/>
                <a:sym typeface="Calibri"/>
              </a:rPr>
              <a:t>PMR over-flagged “not accessible” (precision 0.55). We raised the cutoff from 0.5 to 0.65. Nothing changed.</a:t>
            </a:r>
            <a:endParaRPr sz="1000">
              <a:solidFill>
                <a:schemeClr val="dk1"/>
              </a:solidFill>
              <a:latin typeface="Calibri"/>
              <a:ea typeface="Calibri"/>
              <a:cs typeface="Calibri"/>
              <a:sym typeface="Calibri"/>
            </a:endParaRPr>
          </a:p>
        </p:txBody>
      </p:sp>
      <p:sp>
        <p:nvSpPr>
          <p:cNvPr id="181" name="Google Shape;181;p22"/>
          <p:cNvSpPr/>
          <p:nvPr/>
        </p:nvSpPr>
        <p:spPr>
          <a:xfrm>
            <a:off x="685800" y="2674620"/>
            <a:ext cx="3634740"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3000"/>
              <a:buFont typeface="Cambria"/>
              <a:buNone/>
            </a:pPr>
            <a:r>
              <a:rPr b="1" lang="en" sz="3000">
                <a:solidFill>
                  <a:srgbClr val="028090"/>
                </a:solidFill>
                <a:latin typeface="Cambria"/>
                <a:ea typeface="Cambria"/>
                <a:cs typeface="Cambria"/>
                <a:sym typeface="Cambria"/>
              </a:rPr>
              <a:t>14 / 14,455</a:t>
            </a:r>
            <a:endParaRPr sz="3000">
              <a:solidFill>
                <a:schemeClr val="dk1"/>
              </a:solidFill>
              <a:latin typeface="Calibri"/>
              <a:ea typeface="Calibri"/>
              <a:cs typeface="Calibri"/>
              <a:sym typeface="Calibri"/>
            </a:endParaRPr>
          </a:p>
        </p:txBody>
      </p:sp>
      <p:sp>
        <p:nvSpPr>
          <p:cNvPr id="182" name="Google Shape;182;p22"/>
          <p:cNvSpPr/>
          <p:nvPr/>
        </p:nvSpPr>
        <p:spPr>
          <a:xfrm>
            <a:off x="685800" y="3257550"/>
            <a:ext cx="3669030" cy="9601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6770"/>
              </a:buClr>
              <a:buSzPts val="900"/>
              <a:buFont typeface="Calibri"/>
              <a:buNone/>
            </a:pPr>
            <a:r>
              <a:rPr lang="en" sz="900">
                <a:solidFill>
                  <a:srgbClr val="5B6770"/>
                </a:solidFill>
                <a:latin typeface="Calibri"/>
                <a:ea typeface="Calibri"/>
                <a:cs typeface="Calibri"/>
                <a:sym typeface="Calibri"/>
              </a:rPr>
              <a:t>test predictions sat anywhere near the cutoff. Probabilities were pinned at 0 or 1 — the model wasn't hesitating, it was confidently wrong. A threshold can't fix confident mistakes.</a:t>
            </a:r>
            <a:endParaRPr sz="900">
              <a:solidFill>
                <a:schemeClr val="dk1"/>
              </a:solidFill>
              <a:latin typeface="Calibri"/>
              <a:ea typeface="Calibri"/>
              <a:cs typeface="Calibri"/>
              <a:sym typeface="Calibri"/>
            </a:endParaRPr>
          </a:p>
        </p:txBody>
      </p:sp>
      <p:sp>
        <p:nvSpPr>
          <p:cNvPr id="183" name="Google Shape;183;p22"/>
          <p:cNvSpPr/>
          <p:nvPr/>
        </p:nvSpPr>
        <p:spPr>
          <a:xfrm>
            <a:off x="4766310" y="1131570"/>
            <a:ext cx="4080510" cy="3154680"/>
          </a:xfrm>
          <a:prstGeom prst="roundRect">
            <a:avLst>
              <a:gd fmla="val 2609" name="adj"/>
            </a:avLst>
          </a:prstGeom>
          <a:solidFill>
            <a:srgbClr val="0A3A4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84" name="Google Shape;184;p22"/>
          <p:cNvSpPr/>
          <p:nvPr/>
        </p:nvSpPr>
        <p:spPr>
          <a:xfrm>
            <a:off x="4972050" y="1337310"/>
            <a:ext cx="445770" cy="445770"/>
          </a:xfrm>
          <a:prstGeom prst="ellipse">
            <a:avLst/>
          </a:prstGeom>
          <a:solidFill>
            <a:srgbClr val="02C39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185" name="Google Shape;185;p22"/>
          <p:cNvPicPr preferRelativeResize="0"/>
          <p:nvPr/>
        </p:nvPicPr>
        <p:blipFill rotWithShape="1">
          <a:blip r:embed="rId5">
            <a:alphaModFix/>
          </a:blip>
          <a:srcRect b="0" l="0" r="0" t="0"/>
          <a:stretch/>
        </p:blipFill>
        <p:spPr>
          <a:xfrm>
            <a:off x="5079035" y="1444295"/>
            <a:ext cx="231800" cy="231800"/>
          </a:xfrm>
          <a:prstGeom prst="rect">
            <a:avLst/>
          </a:prstGeom>
          <a:noFill/>
          <a:ln>
            <a:noFill/>
          </a:ln>
        </p:spPr>
      </p:pic>
      <p:sp>
        <p:nvSpPr>
          <p:cNvPr id="186" name="Google Shape;186;p22"/>
          <p:cNvSpPr/>
          <p:nvPr/>
        </p:nvSpPr>
        <p:spPr>
          <a:xfrm>
            <a:off x="5554980" y="1371600"/>
            <a:ext cx="315468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200"/>
              <a:buFont typeface="Calibri"/>
              <a:buNone/>
            </a:pPr>
            <a:r>
              <a:rPr b="1" lang="en" sz="1200">
                <a:solidFill>
                  <a:srgbClr val="02C39A"/>
                </a:solidFill>
                <a:latin typeface="Calibri"/>
                <a:ea typeface="Calibri"/>
                <a:cs typeface="Calibri"/>
                <a:sym typeface="Calibri"/>
              </a:rPr>
              <a:t>Attempt 2: fix the features — worked</a:t>
            </a:r>
            <a:endParaRPr sz="1200">
              <a:solidFill>
                <a:schemeClr val="dk1"/>
              </a:solidFill>
              <a:latin typeface="Calibri"/>
              <a:ea typeface="Calibri"/>
              <a:cs typeface="Calibri"/>
              <a:sym typeface="Calibri"/>
            </a:endParaRPr>
          </a:p>
        </p:txBody>
      </p:sp>
      <p:sp>
        <p:nvSpPr>
          <p:cNvPr id="187" name="Google Shape;187;p22"/>
          <p:cNvSpPr/>
          <p:nvPr/>
        </p:nvSpPr>
        <p:spPr>
          <a:xfrm>
            <a:off x="4972050" y="1885950"/>
            <a:ext cx="3634740" cy="7543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6F2F1"/>
              </a:buClr>
              <a:buSzPts val="1000"/>
              <a:buFont typeface="Calibri"/>
              <a:buNone/>
            </a:pPr>
            <a:r>
              <a:rPr lang="en" sz="1000">
                <a:solidFill>
                  <a:srgbClr val="E6F2F1"/>
                </a:solidFill>
                <a:latin typeface="Calibri"/>
                <a:ea typeface="Calibri"/>
                <a:cs typeface="Calibri"/>
                <a:sym typeface="Calibri"/>
              </a:rPr>
              <a:t>Our label rule = width + curb height. But the model only ever saw width — it was guessing the curb half blind.</a:t>
            </a:r>
            <a:endParaRPr sz="1000">
              <a:solidFill>
                <a:schemeClr val="dk1"/>
              </a:solidFill>
              <a:latin typeface="Calibri"/>
              <a:ea typeface="Calibri"/>
              <a:cs typeface="Calibri"/>
              <a:sym typeface="Calibri"/>
            </a:endParaRPr>
          </a:p>
        </p:txBody>
      </p:sp>
      <p:sp>
        <p:nvSpPr>
          <p:cNvPr id="188" name="Google Shape;188;p22"/>
          <p:cNvSpPr/>
          <p:nvPr/>
        </p:nvSpPr>
        <p:spPr>
          <a:xfrm>
            <a:off x="4972050" y="2708910"/>
            <a:ext cx="3634740" cy="8915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6F2F1"/>
              </a:buClr>
              <a:buSzPts val="1000"/>
              <a:buFont typeface="Calibri"/>
              <a:buNone/>
            </a:pPr>
            <a:r>
              <a:rPr lang="en" sz="1000">
                <a:solidFill>
                  <a:srgbClr val="E6F2F1"/>
                </a:solidFill>
                <a:latin typeface="Calibri"/>
                <a:ea typeface="Calibri"/>
                <a:cs typeface="Calibri"/>
                <a:sym typeface="Calibri"/>
              </a:rPr>
              <a:t>We added curb_height_max and a missing-value flag (74% of rows have no curb measurement — the missingness itself is information).</a:t>
            </a:r>
            <a:endParaRPr sz="1000">
              <a:solidFill>
                <a:schemeClr val="dk1"/>
              </a:solidFill>
              <a:latin typeface="Calibri"/>
              <a:ea typeface="Calibri"/>
              <a:cs typeface="Calibri"/>
              <a:sym typeface="Calibri"/>
            </a:endParaRPr>
          </a:p>
        </p:txBody>
      </p:sp>
      <p:sp>
        <p:nvSpPr>
          <p:cNvPr id="189" name="Google Shape;189;p22"/>
          <p:cNvSpPr/>
          <p:nvPr/>
        </p:nvSpPr>
        <p:spPr>
          <a:xfrm>
            <a:off x="4972050" y="3669030"/>
            <a:ext cx="363474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000"/>
              <a:buFont typeface="Calibri"/>
              <a:buNone/>
            </a:pPr>
            <a:r>
              <a:rPr i="1" lang="en" sz="1000">
                <a:solidFill>
                  <a:srgbClr val="02C39A"/>
                </a:solidFill>
                <a:latin typeface="Calibri"/>
                <a:ea typeface="Calibri"/>
                <a:cs typeface="Calibri"/>
                <a:sym typeface="Calibri"/>
              </a:rPr>
              <a:t>Lesson: check the probability distribution before reaching for a threshold.</a:t>
            </a:r>
            <a:endParaRPr sz="1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4" name="Shape 194"/>
        <p:cNvGrpSpPr/>
        <p:nvPr/>
      </p:nvGrpSpPr>
      <p:grpSpPr>
        <a:xfrm>
          <a:off x="0" y="0"/>
          <a:ext cx="0" cy="0"/>
          <a:chOff x="0" y="0"/>
          <a:chExt cx="0" cy="0"/>
        </a:xfrm>
      </p:grpSpPr>
      <p:sp>
        <p:nvSpPr>
          <p:cNvPr id="195" name="Google Shape;195;p23"/>
          <p:cNvSpPr/>
          <p:nvPr/>
        </p:nvSpPr>
        <p:spPr>
          <a:xfrm>
            <a:off x="480060" y="342900"/>
            <a:ext cx="822960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2600"/>
              <a:buFont typeface="Cambria"/>
              <a:buNone/>
            </a:pPr>
            <a:r>
              <a:rPr b="1" lang="en" sz="2600">
                <a:solidFill>
                  <a:srgbClr val="1F2933"/>
                </a:solidFill>
                <a:latin typeface="Cambria"/>
                <a:ea typeface="Cambria"/>
                <a:cs typeface="Cambria"/>
                <a:sym typeface="Cambria"/>
              </a:rPr>
              <a:t>Evaluation — Read the Numbers Honestly</a:t>
            </a:r>
            <a:endParaRPr sz="2600">
              <a:solidFill>
                <a:schemeClr val="dk1"/>
              </a:solidFill>
              <a:latin typeface="Calibri"/>
              <a:ea typeface="Calibri"/>
              <a:cs typeface="Calibri"/>
              <a:sym typeface="Calibri"/>
            </a:endParaRPr>
          </a:p>
        </p:txBody>
      </p:sp>
      <p:pic>
        <p:nvPicPr>
          <p:cNvPr id="196" name="Google Shape;196;p23"/>
          <p:cNvPicPr preferRelativeResize="0"/>
          <p:nvPr/>
        </p:nvPicPr>
        <p:blipFill rotWithShape="1">
          <a:blip r:embed="rId4">
            <a:alphaModFix/>
          </a:blip>
          <a:srcRect b="0" l="0" r="0" t="0"/>
          <a:stretch/>
        </p:blipFill>
        <p:spPr>
          <a:xfrm>
            <a:off x="480060" y="1097280"/>
            <a:ext cx="4320540" cy="3223260"/>
          </a:xfrm>
          <a:prstGeom prst="rect">
            <a:avLst/>
          </a:prstGeom>
          <a:noFill/>
          <a:ln>
            <a:noFill/>
          </a:ln>
        </p:spPr>
      </p:pic>
      <p:sp>
        <p:nvSpPr>
          <p:cNvPr id="197" name="Google Shape;197;p23"/>
          <p:cNvSpPr/>
          <p:nvPr/>
        </p:nvSpPr>
        <p:spPr>
          <a:xfrm>
            <a:off x="5074920" y="1165860"/>
            <a:ext cx="3634740" cy="315468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028090"/>
              </a:buClr>
              <a:buSzPts val="1400"/>
              <a:buFont typeface="Calibri"/>
              <a:buNone/>
            </a:pPr>
            <a:r>
              <a:rPr b="1" lang="en" sz="1400">
                <a:solidFill>
                  <a:srgbClr val="028090"/>
                </a:solidFill>
                <a:latin typeface="Calibri"/>
                <a:ea typeface="Calibri"/>
                <a:cs typeface="Calibri"/>
                <a:sym typeface="Calibri"/>
              </a:rPr>
              <a:t>PMR: 100% accuracy.</a:t>
            </a:r>
            <a:br>
              <a:rPr b="1" lang="en" sz="1400">
                <a:solidFill>
                  <a:srgbClr val="028090"/>
                </a:solidFill>
                <a:latin typeface="Calibri"/>
                <a:ea typeface="Calibri"/>
                <a:cs typeface="Calibri"/>
                <a:sym typeface="Calibri"/>
              </a:rPr>
            </a:br>
            <a:r>
              <a:rPr lang="en" sz="1100">
                <a:solidFill>
                  <a:srgbClr val="1F2933"/>
                </a:solidFill>
                <a:latin typeface="Calibri"/>
                <a:ea typeface="Calibri"/>
                <a:cs typeface="Calibri"/>
                <a:sym typeface="Calibri"/>
              </a:rPr>
              <a:t>Expected, not impressive. The two label inputs (width + curb height) now top the chart — the model recovers the rule we wrote. It proves the pipeline is consistent, nothing more.</a:t>
            </a:r>
            <a:br>
              <a:rPr lang="en" sz="1100">
                <a:solidFill>
                  <a:srgbClr val="1F2933"/>
                </a:solidFill>
                <a:latin typeface="Calibri"/>
                <a:ea typeface="Calibri"/>
                <a:cs typeface="Calibri"/>
                <a:sym typeface="Calibri"/>
              </a:rPr>
            </a:br>
            <a:br>
              <a:rPr lang="en" sz="1100">
                <a:solidFill>
                  <a:srgbClr val="1F2933"/>
                </a:solidFill>
                <a:latin typeface="Calibri"/>
                <a:ea typeface="Calibri"/>
                <a:cs typeface="Calibri"/>
                <a:sym typeface="Calibri"/>
              </a:rPr>
            </a:br>
            <a:r>
              <a:rPr b="1" lang="en" sz="1400">
                <a:solidFill>
                  <a:srgbClr val="028090"/>
                </a:solidFill>
                <a:latin typeface="Calibri"/>
                <a:ea typeface="Calibri"/>
                <a:cs typeface="Calibri"/>
                <a:sym typeface="Calibri"/>
              </a:rPr>
              <a:t>Housing: 85.0%.</a:t>
            </a:r>
            <a:br>
              <a:rPr b="1" lang="en" sz="1400">
                <a:solidFill>
                  <a:srgbClr val="028090"/>
                </a:solidFill>
                <a:latin typeface="Calibri"/>
                <a:ea typeface="Calibri"/>
                <a:cs typeface="Calibri"/>
                <a:sym typeface="Calibri"/>
              </a:rPr>
            </a:br>
            <a:r>
              <a:rPr lang="en" sz="1100">
                <a:solidFill>
                  <a:srgbClr val="1F2933"/>
                </a:solidFill>
                <a:latin typeface="Calibri"/>
                <a:ea typeface="Calibri"/>
                <a:cs typeface="Calibri"/>
                <a:sym typeface="Calibri"/>
              </a:rPr>
              <a:t>That's the majority-class rate, not skill. The honest conclusion stands: house-level features alone can't predict sidewalk condition.</a:t>
            </a:r>
            <a:endParaRPr sz="1100">
              <a:solidFill>
                <a:schemeClr val="dk1"/>
              </a:solidFill>
              <a:latin typeface="Calibri"/>
              <a:ea typeface="Calibri"/>
              <a:cs typeface="Calibri"/>
              <a:sym typeface="Calibri"/>
            </a:endParaRPr>
          </a:p>
        </p:txBody>
      </p:sp>
      <p:pic>
        <p:nvPicPr>
          <p:cNvPr id="198" name="Google Shape;198;p23"/>
          <p:cNvPicPr preferRelativeResize="0"/>
          <p:nvPr/>
        </p:nvPicPr>
        <p:blipFill>
          <a:blip r:embed="rId5">
            <a:alphaModFix/>
          </a:blip>
          <a:stretch>
            <a:fillRect/>
          </a:stretch>
        </p:blipFill>
        <p:spPr>
          <a:xfrm>
            <a:off x="353375" y="1097285"/>
            <a:ext cx="4409125" cy="3407040"/>
          </a:xfrm>
          <a:prstGeom prst="rect">
            <a:avLst/>
          </a:prstGeom>
          <a:noFill/>
          <a:ln>
            <a:noFill/>
          </a:ln>
        </p:spPr>
      </p:pic>
      <p:pic>
        <p:nvPicPr>
          <p:cNvPr id="199" name="Google Shape;199;p23"/>
          <p:cNvPicPr preferRelativeResize="0"/>
          <p:nvPr/>
        </p:nvPicPr>
        <p:blipFill>
          <a:blip r:embed="rId6">
            <a:alphaModFix/>
          </a:blip>
          <a:stretch>
            <a:fillRect/>
          </a:stretch>
        </p:blipFill>
        <p:spPr>
          <a:xfrm>
            <a:off x="5074921" y="1431275"/>
            <a:ext cx="3634725" cy="2808346"/>
          </a:xfrm>
          <a:prstGeom prst="rect">
            <a:avLst/>
          </a:prstGeom>
          <a:noFill/>
          <a:ln>
            <a:noFill/>
          </a:ln>
        </p:spPr>
      </p:pic>
      <p:pic>
        <p:nvPicPr>
          <p:cNvPr id="200" name="Google Shape;200;p23"/>
          <p:cNvPicPr preferRelativeResize="0"/>
          <p:nvPr/>
        </p:nvPicPr>
        <p:blipFill>
          <a:blip r:embed="rId7">
            <a:alphaModFix/>
          </a:blip>
          <a:stretch>
            <a:fillRect/>
          </a:stretch>
        </p:blipFill>
        <p:spPr>
          <a:xfrm>
            <a:off x="304800" y="1097275"/>
            <a:ext cx="4572000" cy="3543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3A42"/>
        </a:solidFill>
      </p:bgPr>
    </p:bg>
    <p:spTree>
      <p:nvGrpSpPr>
        <p:cNvPr id="205" name="Shape 205"/>
        <p:cNvGrpSpPr/>
        <p:nvPr/>
      </p:nvGrpSpPr>
      <p:grpSpPr>
        <a:xfrm>
          <a:off x="0" y="0"/>
          <a:ext cx="0" cy="0"/>
          <a:chOff x="0" y="0"/>
          <a:chExt cx="0" cy="0"/>
        </a:xfrm>
      </p:grpSpPr>
      <p:sp>
        <p:nvSpPr>
          <p:cNvPr id="206" name="Google Shape;206;p24"/>
          <p:cNvSpPr/>
          <p:nvPr/>
        </p:nvSpPr>
        <p:spPr>
          <a:xfrm>
            <a:off x="480060" y="342900"/>
            <a:ext cx="754380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3000"/>
              <a:buFont typeface="Cambria"/>
              <a:buNone/>
            </a:pPr>
            <a:r>
              <a:rPr b="1" lang="en" sz="3000">
                <a:solidFill>
                  <a:srgbClr val="FFFFFF"/>
                </a:solidFill>
                <a:latin typeface="Cambria"/>
                <a:ea typeface="Cambria"/>
                <a:cs typeface="Cambria"/>
                <a:sym typeface="Cambria"/>
              </a:rPr>
              <a:t>Live Demo</a:t>
            </a:r>
            <a:endParaRPr sz="3000">
              <a:solidFill>
                <a:schemeClr val="dk1"/>
              </a:solidFill>
              <a:latin typeface="Calibri"/>
              <a:ea typeface="Calibri"/>
              <a:cs typeface="Calibri"/>
              <a:sym typeface="Calibri"/>
            </a:endParaRPr>
          </a:p>
        </p:txBody>
      </p:sp>
      <p:sp>
        <p:nvSpPr>
          <p:cNvPr id="207" name="Google Shape;207;p24"/>
          <p:cNvSpPr/>
          <p:nvPr/>
        </p:nvSpPr>
        <p:spPr>
          <a:xfrm>
            <a:off x="480060" y="925830"/>
            <a:ext cx="754380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800"/>
              <a:buFont typeface="Calibri"/>
              <a:buNone/>
            </a:pPr>
            <a:r>
              <a:rPr b="1" lang="en" sz="1800">
                <a:solidFill>
                  <a:srgbClr val="02C39A"/>
                </a:solidFill>
                <a:latin typeface="Calibri"/>
                <a:ea typeface="Calibri"/>
                <a:cs typeface="Calibri"/>
                <a:sym typeface="Calibri"/>
              </a:rPr>
              <a:t>accessmap-13a.streamlit.app</a:t>
            </a:r>
            <a:endParaRPr sz="1800">
              <a:solidFill>
                <a:schemeClr val="dk1"/>
              </a:solidFill>
              <a:latin typeface="Calibri"/>
              <a:ea typeface="Calibri"/>
              <a:cs typeface="Calibri"/>
              <a:sym typeface="Calibri"/>
            </a:endParaRPr>
          </a:p>
        </p:txBody>
      </p:sp>
      <p:sp>
        <p:nvSpPr>
          <p:cNvPr id="208" name="Google Shape;208;p24"/>
          <p:cNvSpPr/>
          <p:nvPr/>
        </p:nvSpPr>
        <p:spPr>
          <a:xfrm>
            <a:off x="480060" y="1577340"/>
            <a:ext cx="2674620" cy="1988820"/>
          </a:xfrm>
          <a:prstGeom prst="roundRect">
            <a:avLst>
              <a:gd fmla="val 4138"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9" name="Google Shape;209;p24"/>
          <p:cNvSpPr/>
          <p:nvPr/>
        </p:nvSpPr>
        <p:spPr>
          <a:xfrm>
            <a:off x="685800" y="1783080"/>
            <a:ext cx="480060" cy="480060"/>
          </a:xfrm>
          <a:prstGeom prst="ellipse">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210" name="Google Shape;210;p24"/>
          <p:cNvPicPr preferRelativeResize="0"/>
          <p:nvPr/>
        </p:nvPicPr>
        <p:blipFill rotWithShape="1">
          <a:blip r:embed="rId3">
            <a:alphaModFix/>
          </a:blip>
          <a:srcRect b="0" l="0" r="0" t="0"/>
          <a:stretch/>
        </p:blipFill>
        <p:spPr>
          <a:xfrm>
            <a:off x="801014" y="1898294"/>
            <a:ext cx="249632" cy="249631"/>
          </a:xfrm>
          <a:prstGeom prst="rect">
            <a:avLst/>
          </a:prstGeom>
          <a:noFill/>
          <a:ln>
            <a:noFill/>
          </a:ln>
        </p:spPr>
      </p:pic>
      <p:sp>
        <p:nvSpPr>
          <p:cNvPr id="211" name="Google Shape;211;p24"/>
          <p:cNvSpPr/>
          <p:nvPr/>
        </p:nvSpPr>
        <p:spPr>
          <a:xfrm>
            <a:off x="1268730" y="1817370"/>
            <a:ext cx="185166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1200"/>
              <a:buFont typeface="Calibri"/>
              <a:buNone/>
            </a:pPr>
            <a:r>
              <a:rPr b="1" lang="en" sz="1200">
                <a:solidFill>
                  <a:srgbClr val="028090"/>
                </a:solidFill>
                <a:latin typeface="Calibri"/>
                <a:ea typeface="Calibri"/>
                <a:cs typeface="Calibri"/>
                <a:sym typeface="Calibri"/>
              </a:rPr>
              <a:t>Sidewalk Checker</a:t>
            </a:r>
            <a:endParaRPr sz="1200">
              <a:solidFill>
                <a:schemeClr val="dk1"/>
              </a:solidFill>
              <a:latin typeface="Calibri"/>
              <a:ea typeface="Calibri"/>
              <a:cs typeface="Calibri"/>
              <a:sym typeface="Calibri"/>
            </a:endParaRPr>
          </a:p>
        </p:txBody>
      </p:sp>
      <p:sp>
        <p:nvSpPr>
          <p:cNvPr id="212" name="Google Shape;212;p24"/>
          <p:cNvSpPr/>
          <p:nvPr/>
        </p:nvSpPr>
        <p:spPr>
          <a:xfrm>
            <a:off x="685800" y="2366010"/>
            <a:ext cx="2263140" cy="10972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900"/>
              <a:buFont typeface="Calibri"/>
              <a:buNone/>
            </a:pPr>
            <a:r>
              <a:rPr lang="en" sz="900">
                <a:solidFill>
                  <a:srgbClr val="1F2933"/>
                </a:solidFill>
                <a:latin typeface="Calibri"/>
                <a:ea typeface="Calibri"/>
                <a:cs typeface="Calibri"/>
                <a:sym typeface="Calibri"/>
              </a:rPr>
              <a:t>Enter width, curb height, crossing, length → accessible / not accessible + confidence</a:t>
            </a:r>
            <a:endParaRPr sz="900">
              <a:solidFill>
                <a:schemeClr val="dk1"/>
              </a:solidFill>
              <a:latin typeface="Calibri"/>
              <a:ea typeface="Calibri"/>
              <a:cs typeface="Calibri"/>
              <a:sym typeface="Calibri"/>
            </a:endParaRPr>
          </a:p>
        </p:txBody>
      </p:sp>
      <p:sp>
        <p:nvSpPr>
          <p:cNvPr id="213" name="Google Shape;213;p24"/>
          <p:cNvSpPr/>
          <p:nvPr/>
        </p:nvSpPr>
        <p:spPr>
          <a:xfrm>
            <a:off x="3326130" y="1577340"/>
            <a:ext cx="2674620" cy="1988820"/>
          </a:xfrm>
          <a:prstGeom prst="roundRect">
            <a:avLst>
              <a:gd fmla="val 4138"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4" name="Google Shape;214;p24"/>
          <p:cNvSpPr/>
          <p:nvPr/>
        </p:nvSpPr>
        <p:spPr>
          <a:xfrm>
            <a:off x="3531870" y="1783080"/>
            <a:ext cx="480060" cy="480060"/>
          </a:xfrm>
          <a:prstGeom prst="ellipse">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215" name="Google Shape;215;p24"/>
          <p:cNvPicPr preferRelativeResize="0"/>
          <p:nvPr/>
        </p:nvPicPr>
        <p:blipFill rotWithShape="1">
          <a:blip r:embed="rId4">
            <a:alphaModFix/>
          </a:blip>
          <a:srcRect b="0" l="0" r="0" t="0"/>
          <a:stretch/>
        </p:blipFill>
        <p:spPr>
          <a:xfrm>
            <a:off x="3647084" y="1898294"/>
            <a:ext cx="249632" cy="249631"/>
          </a:xfrm>
          <a:prstGeom prst="rect">
            <a:avLst/>
          </a:prstGeom>
          <a:noFill/>
          <a:ln>
            <a:noFill/>
          </a:ln>
        </p:spPr>
      </p:pic>
      <p:sp>
        <p:nvSpPr>
          <p:cNvPr id="216" name="Google Shape;216;p24"/>
          <p:cNvSpPr/>
          <p:nvPr/>
        </p:nvSpPr>
        <p:spPr>
          <a:xfrm>
            <a:off x="4114800" y="1817370"/>
            <a:ext cx="185166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1200"/>
              <a:buFont typeface="Calibri"/>
              <a:buNone/>
            </a:pPr>
            <a:r>
              <a:rPr b="1" lang="en" sz="1200">
                <a:solidFill>
                  <a:srgbClr val="028090"/>
                </a:solidFill>
                <a:latin typeface="Calibri"/>
                <a:ea typeface="Calibri"/>
                <a:cs typeface="Calibri"/>
                <a:sym typeface="Calibri"/>
              </a:rPr>
              <a:t>Address Search</a:t>
            </a:r>
            <a:endParaRPr sz="1200">
              <a:solidFill>
                <a:schemeClr val="dk1"/>
              </a:solidFill>
              <a:latin typeface="Calibri"/>
              <a:ea typeface="Calibri"/>
              <a:cs typeface="Calibri"/>
              <a:sym typeface="Calibri"/>
            </a:endParaRPr>
          </a:p>
        </p:txBody>
      </p:sp>
      <p:sp>
        <p:nvSpPr>
          <p:cNvPr id="217" name="Google Shape;217;p24"/>
          <p:cNvSpPr/>
          <p:nvPr/>
        </p:nvSpPr>
        <p:spPr>
          <a:xfrm>
            <a:off x="3531870" y="2366010"/>
            <a:ext cx="2263140" cy="10972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900"/>
              <a:buFont typeface="Calibri"/>
              <a:buNone/>
            </a:pPr>
            <a:r>
              <a:rPr lang="en" sz="900">
                <a:solidFill>
                  <a:srgbClr val="1F2933"/>
                </a:solidFill>
                <a:latin typeface="Calibri"/>
                <a:ea typeface="Calibri"/>
                <a:cs typeface="Calibri"/>
                <a:sym typeface="Calibri"/>
              </a:rPr>
              <a:t>Pick an address → FAISS returns similar addresses with sidewalk labels + distances</a:t>
            </a:r>
            <a:endParaRPr sz="900">
              <a:solidFill>
                <a:schemeClr val="dk1"/>
              </a:solidFill>
              <a:latin typeface="Calibri"/>
              <a:ea typeface="Calibri"/>
              <a:cs typeface="Calibri"/>
              <a:sym typeface="Calibri"/>
            </a:endParaRPr>
          </a:p>
        </p:txBody>
      </p:sp>
      <p:sp>
        <p:nvSpPr>
          <p:cNvPr id="218" name="Google Shape;218;p24"/>
          <p:cNvSpPr/>
          <p:nvPr/>
        </p:nvSpPr>
        <p:spPr>
          <a:xfrm>
            <a:off x="6172200" y="1577340"/>
            <a:ext cx="2674620" cy="1988820"/>
          </a:xfrm>
          <a:prstGeom prst="roundRect">
            <a:avLst>
              <a:gd fmla="val 4138" name="adj"/>
            </a:avLst>
          </a:pr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9" name="Google Shape;219;p24"/>
          <p:cNvSpPr/>
          <p:nvPr/>
        </p:nvSpPr>
        <p:spPr>
          <a:xfrm>
            <a:off x="6377940" y="1783080"/>
            <a:ext cx="480060" cy="480060"/>
          </a:xfrm>
          <a:prstGeom prst="ellipse">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220" name="Google Shape;220;p24"/>
          <p:cNvPicPr preferRelativeResize="0"/>
          <p:nvPr/>
        </p:nvPicPr>
        <p:blipFill rotWithShape="1">
          <a:blip r:embed="rId5">
            <a:alphaModFix/>
          </a:blip>
          <a:srcRect b="0" l="0" r="0" t="0"/>
          <a:stretch/>
        </p:blipFill>
        <p:spPr>
          <a:xfrm>
            <a:off x="6493154" y="1898294"/>
            <a:ext cx="249632" cy="249631"/>
          </a:xfrm>
          <a:prstGeom prst="rect">
            <a:avLst/>
          </a:prstGeom>
          <a:noFill/>
          <a:ln>
            <a:noFill/>
          </a:ln>
        </p:spPr>
      </p:pic>
      <p:sp>
        <p:nvSpPr>
          <p:cNvPr id="221" name="Google Shape;221;p24"/>
          <p:cNvSpPr/>
          <p:nvPr/>
        </p:nvSpPr>
        <p:spPr>
          <a:xfrm>
            <a:off x="6960870" y="1817370"/>
            <a:ext cx="185166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1200"/>
              <a:buFont typeface="Calibri"/>
              <a:buNone/>
            </a:pPr>
            <a:r>
              <a:rPr b="1" lang="en" sz="1200">
                <a:solidFill>
                  <a:srgbClr val="028090"/>
                </a:solidFill>
                <a:latin typeface="Calibri"/>
                <a:ea typeface="Calibri"/>
                <a:cs typeface="Calibri"/>
                <a:sym typeface="Calibri"/>
              </a:rPr>
              <a:t>About &amp; Limits</a:t>
            </a:r>
            <a:endParaRPr sz="1200">
              <a:solidFill>
                <a:schemeClr val="dk1"/>
              </a:solidFill>
              <a:latin typeface="Calibri"/>
              <a:ea typeface="Calibri"/>
              <a:cs typeface="Calibri"/>
              <a:sym typeface="Calibri"/>
            </a:endParaRPr>
          </a:p>
        </p:txBody>
      </p:sp>
      <p:sp>
        <p:nvSpPr>
          <p:cNvPr id="222" name="Google Shape;222;p24"/>
          <p:cNvSpPr/>
          <p:nvPr/>
        </p:nvSpPr>
        <p:spPr>
          <a:xfrm>
            <a:off x="6377940" y="2366010"/>
            <a:ext cx="2263140" cy="10972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900"/>
              <a:buFont typeface="Calibri"/>
              <a:buNone/>
            </a:pPr>
            <a:r>
              <a:rPr lang="en" sz="900">
                <a:solidFill>
                  <a:srgbClr val="1F2933"/>
                </a:solidFill>
                <a:latin typeface="Calibri"/>
                <a:ea typeface="Calibri"/>
                <a:cs typeface="Calibri"/>
                <a:sym typeface="Calibri"/>
              </a:rPr>
              <a:t>What the app does, what it refuses to do, and why — honesty as a feature</a:t>
            </a:r>
            <a:endParaRPr sz="900">
              <a:solidFill>
                <a:schemeClr val="dk1"/>
              </a:solidFill>
              <a:latin typeface="Calibri"/>
              <a:ea typeface="Calibri"/>
              <a:cs typeface="Calibri"/>
              <a:sym typeface="Calibri"/>
            </a:endParaRPr>
          </a:p>
        </p:txBody>
      </p:sp>
      <p:sp>
        <p:nvSpPr>
          <p:cNvPr id="223" name="Google Shape;223;p24"/>
          <p:cNvSpPr/>
          <p:nvPr/>
        </p:nvSpPr>
        <p:spPr>
          <a:xfrm>
            <a:off x="480060" y="3806190"/>
            <a:ext cx="8298180" cy="8229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100"/>
              <a:buFont typeface="Calibri"/>
              <a:buNone/>
            </a:pPr>
            <a:r>
              <a:rPr b="1" lang="en" sz="1100">
                <a:solidFill>
                  <a:srgbClr val="02C39A"/>
                </a:solidFill>
                <a:latin typeface="Calibri"/>
                <a:ea typeface="Calibri"/>
                <a:cs typeface="Calibri"/>
                <a:sym typeface="Calibri"/>
              </a:rPr>
              <a:t>One deployment decision we're proud of: </a:t>
            </a:r>
            <a:r>
              <a:rPr lang="en" sz="1100">
                <a:solidFill>
                  <a:srgbClr val="E6F2F1"/>
                </a:solidFill>
                <a:latin typeface="Calibri"/>
                <a:ea typeface="Calibri"/>
                <a:cs typeface="Calibri"/>
                <a:sym typeface="Calibri"/>
              </a:rPr>
              <a:t>the app does NOT predict sidewalk condition for US addresses. We tested that model — it has no signal — so the app reports the real crowd label instead of pretending to predict.</a:t>
            </a:r>
            <a:endParaRPr sz="11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7" name="Shape 227"/>
        <p:cNvGrpSpPr/>
        <p:nvPr/>
      </p:nvGrpSpPr>
      <p:grpSpPr>
        <a:xfrm>
          <a:off x="0" y="0"/>
          <a:ext cx="0" cy="0"/>
          <a:chOff x="0" y="0"/>
          <a:chExt cx="0" cy="0"/>
        </a:xfrm>
      </p:grpSpPr>
      <p:sp>
        <p:nvSpPr>
          <p:cNvPr id="228" name="Google Shape;228;p25"/>
          <p:cNvSpPr/>
          <p:nvPr/>
        </p:nvSpPr>
        <p:spPr>
          <a:xfrm>
            <a:off x="393310" y="256150"/>
            <a:ext cx="7543800" cy="5487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3000"/>
              <a:buFont typeface="Cambria"/>
              <a:buNone/>
            </a:pPr>
            <a:r>
              <a:rPr b="1" lang="en" sz="3000">
                <a:solidFill>
                  <a:srgbClr val="1F2933"/>
                </a:solidFill>
                <a:latin typeface="Cambria"/>
                <a:ea typeface="Cambria"/>
                <a:cs typeface="Cambria"/>
                <a:sym typeface="Cambria"/>
              </a:rPr>
              <a:t>Results, In Plain Language</a:t>
            </a:r>
            <a:endParaRPr sz="3000">
              <a:solidFill>
                <a:schemeClr val="dk1"/>
              </a:solidFill>
              <a:latin typeface="Calibri"/>
              <a:ea typeface="Calibri"/>
              <a:cs typeface="Calibri"/>
              <a:sym typeface="Calibri"/>
            </a:endParaRPr>
          </a:p>
        </p:txBody>
      </p:sp>
      <p:sp>
        <p:nvSpPr>
          <p:cNvPr id="229" name="Google Shape;229;p25"/>
          <p:cNvSpPr/>
          <p:nvPr/>
        </p:nvSpPr>
        <p:spPr>
          <a:xfrm>
            <a:off x="480060" y="1028700"/>
            <a:ext cx="4080510" cy="1697355"/>
          </a:xfrm>
          <a:prstGeom prst="roundRect">
            <a:avLst>
              <a:gd fmla="val 2449" name="adj"/>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0" name="Google Shape;230;p25"/>
          <p:cNvSpPr/>
          <p:nvPr/>
        </p:nvSpPr>
        <p:spPr>
          <a:xfrm>
            <a:off x="685800" y="1131570"/>
            <a:ext cx="3669030" cy="30861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A896"/>
              </a:buClr>
              <a:buSzPts val="1200"/>
              <a:buFont typeface="Calibri"/>
              <a:buNone/>
            </a:pPr>
            <a:r>
              <a:rPr b="1" lang="en" sz="1200">
                <a:solidFill>
                  <a:srgbClr val="00A896"/>
                </a:solidFill>
                <a:latin typeface="Calibri"/>
                <a:ea typeface="Calibri"/>
                <a:cs typeface="Calibri"/>
                <a:sym typeface="Calibri"/>
              </a:rPr>
              <a:t>What were the results?</a:t>
            </a:r>
            <a:endParaRPr sz="1200">
              <a:solidFill>
                <a:schemeClr val="dk1"/>
              </a:solidFill>
              <a:latin typeface="Calibri"/>
              <a:ea typeface="Calibri"/>
              <a:cs typeface="Calibri"/>
              <a:sym typeface="Calibri"/>
            </a:endParaRPr>
          </a:p>
        </p:txBody>
      </p:sp>
      <p:sp>
        <p:nvSpPr>
          <p:cNvPr id="231" name="Google Shape;231;p25"/>
          <p:cNvSpPr/>
          <p:nvPr/>
        </p:nvSpPr>
        <p:spPr>
          <a:xfrm>
            <a:off x="685800" y="1474470"/>
            <a:ext cx="3669030" cy="1148715"/>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F2933"/>
              </a:buClr>
              <a:buSzPts val="1000"/>
              <a:buFont typeface="Calibri"/>
              <a:buNone/>
            </a:pPr>
            <a:r>
              <a:rPr lang="en" sz="1000">
                <a:solidFill>
                  <a:srgbClr val="1F2933"/>
                </a:solidFill>
                <a:latin typeface="Calibri"/>
                <a:ea typeface="Calibri"/>
                <a:cs typeface="Calibri"/>
                <a:sym typeface="Calibri"/>
              </a:rPr>
              <a:t>PMR (Amsterdam): 100% accuracy after adding curb height. Housing (US): 85.0% vs. an 85.3% majority baseline once state was removed — recall on bad sidewalks just 0.01. Address search: FAISS retrieval works and ships in the live app.</a:t>
            </a:r>
            <a:endParaRPr sz="1000">
              <a:solidFill>
                <a:schemeClr val="dk1"/>
              </a:solidFill>
              <a:latin typeface="Calibri"/>
              <a:ea typeface="Calibri"/>
              <a:cs typeface="Calibri"/>
              <a:sym typeface="Calibri"/>
            </a:endParaRPr>
          </a:p>
        </p:txBody>
      </p:sp>
      <p:sp>
        <p:nvSpPr>
          <p:cNvPr id="232" name="Google Shape;232;p25"/>
          <p:cNvSpPr/>
          <p:nvPr/>
        </p:nvSpPr>
        <p:spPr>
          <a:xfrm>
            <a:off x="4766310" y="1028700"/>
            <a:ext cx="4080510" cy="1697355"/>
          </a:xfrm>
          <a:prstGeom prst="roundRect">
            <a:avLst>
              <a:gd fmla="val 2449" name="adj"/>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3" name="Google Shape;233;p25"/>
          <p:cNvSpPr/>
          <p:nvPr/>
        </p:nvSpPr>
        <p:spPr>
          <a:xfrm>
            <a:off x="4972050" y="1131570"/>
            <a:ext cx="3669030" cy="30861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A896"/>
              </a:buClr>
              <a:buSzPts val="1200"/>
              <a:buFont typeface="Calibri"/>
              <a:buNone/>
            </a:pPr>
            <a:r>
              <a:rPr b="1" lang="en" sz="1200">
                <a:solidFill>
                  <a:srgbClr val="00A896"/>
                </a:solidFill>
                <a:latin typeface="Calibri"/>
                <a:ea typeface="Calibri"/>
                <a:cs typeface="Calibri"/>
                <a:sym typeface="Calibri"/>
              </a:rPr>
              <a:t>What do the results mean?</a:t>
            </a:r>
            <a:endParaRPr sz="1200">
              <a:solidFill>
                <a:schemeClr val="dk1"/>
              </a:solidFill>
              <a:latin typeface="Calibri"/>
              <a:ea typeface="Calibri"/>
              <a:cs typeface="Calibri"/>
              <a:sym typeface="Calibri"/>
            </a:endParaRPr>
          </a:p>
        </p:txBody>
      </p:sp>
      <p:sp>
        <p:nvSpPr>
          <p:cNvPr id="234" name="Google Shape;234;p25"/>
          <p:cNvSpPr/>
          <p:nvPr/>
        </p:nvSpPr>
        <p:spPr>
          <a:xfrm>
            <a:off x="4972050" y="1474470"/>
            <a:ext cx="3669030" cy="1148715"/>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F2933"/>
              </a:buClr>
              <a:buSzPts val="1000"/>
              <a:buFont typeface="Calibri"/>
              <a:buNone/>
            </a:pPr>
            <a:r>
              <a:rPr lang="en" sz="1000">
                <a:solidFill>
                  <a:srgbClr val="1F2933"/>
                </a:solidFill>
                <a:latin typeface="Calibri"/>
                <a:ea typeface="Calibri"/>
                <a:cs typeface="Calibri"/>
                <a:sym typeface="Calibri"/>
              </a:rPr>
              <a:t>The PMR score means the model consistently recovers the width + curb rule we wrote — proof the pipeline works, not superhuman skill. The Housing tie with the baseline is an honest null result: house-level features alone can’t predict sidewalk condition.</a:t>
            </a:r>
            <a:endParaRPr sz="1000">
              <a:solidFill>
                <a:schemeClr val="dk1"/>
              </a:solidFill>
              <a:latin typeface="Calibri"/>
              <a:ea typeface="Calibri"/>
              <a:cs typeface="Calibri"/>
              <a:sym typeface="Calibri"/>
            </a:endParaRPr>
          </a:p>
        </p:txBody>
      </p:sp>
      <p:sp>
        <p:nvSpPr>
          <p:cNvPr id="235" name="Google Shape;235;p25"/>
          <p:cNvSpPr/>
          <p:nvPr/>
        </p:nvSpPr>
        <p:spPr>
          <a:xfrm>
            <a:off x="480060" y="2897505"/>
            <a:ext cx="4080510" cy="1697355"/>
          </a:xfrm>
          <a:prstGeom prst="roundRect">
            <a:avLst>
              <a:gd fmla="val 2449" name="adj"/>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6" name="Google Shape;236;p25"/>
          <p:cNvSpPr/>
          <p:nvPr/>
        </p:nvSpPr>
        <p:spPr>
          <a:xfrm>
            <a:off x="685800" y="3000375"/>
            <a:ext cx="3669030" cy="30861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A896"/>
              </a:buClr>
              <a:buSzPts val="1200"/>
              <a:buFont typeface="Calibri"/>
              <a:buNone/>
            </a:pPr>
            <a:r>
              <a:rPr b="1" lang="en" sz="1200">
                <a:solidFill>
                  <a:srgbClr val="00A896"/>
                </a:solidFill>
                <a:latin typeface="Calibri"/>
                <a:ea typeface="Calibri"/>
                <a:cs typeface="Calibri"/>
                <a:sym typeface="Calibri"/>
              </a:rPr>
              <a:t>How did we get them?</a:t>
            </a:r>
            <a:endParaRPr sz="1200">
              <a:solidFill>
                <a:schemeClr val="dk1"/>
              </a:solidFill>
              <a:latin typeface="Calibri"/>
              <a:ea typeface="Calibri"/>
              <a:cs typeface="Calibri"/>
              <a:sym typeface="Calibri"/>
            </a:endParaRPr>
          </a:p>
        </p:txBody>
      </p:sp>
      <p:sp>
        <p:nvSpPr>
          <p:cNvPr id="237" name="Google Shape;237;p25"/>
          <p:cNvSpPr/>
          <p:nvPr/>
        </p:nvSpPr>
        <p:spPr>
          <a:xfrm>
            <a:off x="685800" y="3343275"/>
            <a:ext cx="3669030" cy="1148715"/>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F2933"/>
              </a:buClr>
              <a:buSzPts val="1000"/>
              <a:buFont typeface="Calibri"/>
              <a:buNone/>
            </a:pPr>
            <a:r>
              <a:rPr lang="en" sz="1000">
                <a:solidFill>
                  <a:srgbClr val="1F2933"/>
                </a:solidFill>
                <a:latin typeface="Calibri"/>
                <a:ea typeface="Calibri"/>
                <a:cs typeface="Calibri"/>
                <a:sym typeface="Calibri"/>
              </a:rPr>
              <a:t>The same recipe on both datasets: clean, encode, train a Random Forest, score on a held-out 20% test set, then audit feature importance. That audit — not the accuracy score — is what exposed the state bias and the missing curb feature.</a:t>
            </a:r>
            <a:endParaRPr sz="1000">
              <a:solidFill>
                <a:schemeClr val="dk1"/>
              </a:solidFill>
              <a:latin typeface="Calibri"/>
              <a:ea typeface="Calibri"/>
              <a:cs typeface="Calibri"/>
              <a:sym typeface="Calibri"/>
            </a:endParaRPr>
          </a:p>
        </p:txBody>
      </p:sp>
      <p:sp>
        <p:nvSpPr>
          <p:cNvPr id="238" name="Google Shape;238;p25"/>
          <p:cNvSpPr/>
          <p:nvPr/>
        </p:nvSpPr>
        <p:spPr>
          <a:xfrm>
            <a:off x="4766310" y="2897505"/>
            <a:ext cx="4080510" cy="1697355"/>
          </a:xfrm>
          <a:prstGeom prst="roundRect">
            <a:avLst>
              <a:gd fmla="val 2449" name="adj"/>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39" name="Google Shape;239;p25"/>
          <p:cNvSpPr/>
          <p:nvPr/>
        </p:nvSpPr>
        <p:spPr>
          <a:xfrm>
            <a:off x="4972050" y="3000375"/>
            <a:ext cx="3669030" cy="30861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A896"/>
              </a:buClr>
              <a:buSzPts val="1200"/>
              <a:buFont typeface="Calibri"/>
              <a:buNone/>
            </a:pPr>
            <a:r>
              <a:rPr b="1" lang="en" sz="1200">
                <a:solidFill>
                  <a:srgbClr val="00A896"/>
                </a:solidFill>
                <a:latin typeface="Calibri"/>
                <a:ea typeface="Calibri"/>
                <a:cs typeface="Calibri"/>
                <a:sym typeface="Calibri"/>
              </a:rPr>
              <a:t>How accurate are they?</a:t>
            </a:r>
            <a:endParaRPr sz="1200">
              <a:solidFill>
                <a:schemeClr val="dk1"/>
              </a:solidFill>
              <a:latin typeface="Calibri"/>
              <a:ea typeface="Calibri"/>
              <a:cs typeface="Calibri"/>
              <a:sym typeface="Calibri"/>
            </a:endParaRPr>
          </a:p>
        </p:txBody>
      </p:sp>
      <p:sp>
        <p:nvSpPr>
          <p:cNvPr id="240" name="Google Shape;240;p25"/>
          <p:cNvSpPr/>
          <p:nvPr/>
        </p:nvSpPr>
        <p:spPr>
          <a:xfrm>
            <a:off x="4972050" y="3343275"/>
            <a:ext cx="3669030" cy="1148715"/>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F2933"/>
              </a:buClr>
              <a:buSzPts val="1000"/>
              <a:buFont typeface="Calibri"/>
              <a:buNone/>
            </a:pPr>
            <a:r>
              <a:rPr lang="en" sz="1000">
                <a:solidFill>
                  <a:srgbClr val="1F2933"/>
                </a:solidFill>
                <a:latin typeface="Calibri"/>
                <a:ea typeface="Calibri"/>
                <a:cs typeface="Calibri"/>
                <a:sym typeface="Calibri"/>
              </a:rPr>
              <a:t>PMR: 100% on 14,455 held-out segments — but scored against our own rule-based label; only 50 verified labels exist, too few to test on. Housing: no better than always guessing “ok.” We trust the audited pipeline more than any single number.</a:t>
            </a:r>
            <a:endParaRPr sz="1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3A42"/>
        </a:solidFill>
      </p:bgPr>
    </p:bg>
    <p:spTree>
      <p:nvGrpSpPr>
        <p:cNvPr id="244" name="Shape 244"/>
        <p:cNvGrpSpPr/>
        <p:nvPr/>
      </p:nvGrpSpPr>
      <p:grpSpPr>
        <a:xfrm>
          <a:off x="0" y="0"/>
          <a:ext cx="0" cy="0"/>
          <a:chOff x="0" y="0"/>
          <a:chExt cx="0" cy="0"/>
        </a:xfrm>
      </p:grpSpPr>
      <p:sp>
        <p:nvSpPr>
          <p:cNvPr id="245" name="Google Shape;245;p26"/>
          <p:cNvSpPr/>
          <p:nvPr/>
        </p:nvSpPr>
        <p:spPr>
          <a:xfrm>
            <a:off x="480060" y="377190"/>
            <a:ext cx="754380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700"/>
              <a:buFont typeface="Calibri"/>
              <a:buNone/>
            </a:pPr>
            <a:r>
              <a:rPr b="1" lang="en" sz="1700">
                <a:solidFill>
                  <a:srgbClr val="02C39A"/>
                </a:solidFill>
                <a:latin typeface="Calibri"/>
                <a:ea typeface="Calibri"/>
                <a:cs typeface="Calibri"/>
                <a:sym typeface="Calibri"/>
              </a:rPr>
              <a:t>Deployment</a:t>
            </a:r>
            <a:endParaRPr sz="1700">
              <a:solidFill>
                <a:schemeClr val="dk1"/>
              </a:solidFill>
              <a:latin typeface="Calibri"/>
              <a:ea typeface="Calibri"/>
              <a:cs typeface="Calibri"/>
              <a:sym typeface="Calibri"/>
            </a:endParaRPr>
          </a:p>
        </p:txBody>
      </p:sp>
      <p:sp>
        <p:nvSpPr>
          <p:cNvPr id="246" name="Google Shape;246;p26"/>
          <p:cNvSpPr/>
          <p:nvPr/>
        </p:nvSpPr>
        <p:spPr>
          <a:xfrm>
            <a:off x="480060" y="822960"/>
            <a:ext cx="8161020" cy="8915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100"/>
              <a:buFont typeface="Cambria"/>
              <a:buNone/>
            </a:pPr>
            <a:r>
              <a:rPr b="1" lang="en" sz="2100">
                <a:solidFill>
                  <a:srgbClr val="FFFFFF"/>
                </a:solidFill>
                <a:latin typeface="Cambria"/>
                <a:ea typeface="Cambria"/>
                <a:cs typeface="Cambria"/>
                <a:sym typeface="Cambria"/>
              </a:rPr>
              <a:t>Why is the app so simple — and how reliable is it?</a:t>
            </a:r>
            <a:endParaRPr sz="2100">
              <a:solidFill>
                <a:schemeClr val="dk1"/>
              </a:solidFill>
              <a:latin typeface="Calibri"/>
              <a:ea typeface="Calibri"/>
              <a:cs typeface="Calibri"/>
              <a:sym typeface="Calibri"/>
            </a:endParaRPr>
          </a:p>
        </p:txBody>
      </p:sp>
      <p:sp>
        <p:nvSpPr>
          <p:cNvPr id="247" name="Google Shape;247;p26"/>
          <p:cNvSpPr/>
          <p:nvPr/>
        </p:nvSpPr>
        <p:spPr>
          <a:xfrm>
            <a:off x="480060" y="1920240"/>
            <a:ext cx="4080510" cy="2400300"/>
          </a:xfrm>
          <a:prstGeom prst="roundRect">
            <a:avLst>
              <a:gd fmla="val 3429" name="adj"/>
            </a:avLst>
          </a:prstGeom>
          <a:solidFill>
            <a:srgbClr val="1248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8" name="Google Shape;248;p26"/>
          <p:cNvSpPr/>
          <p:nvPr/>
        </p:nvSpPr>
        <p:spPr>
          <a:xfrm>
            <a:off x="685800" y="2057400"/>
            <a:ext cx="363474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300"/>
              <a:buFont typeface="Calibri"/>
              <a:buNone/>
            </a:pPr>
            <a:r>
              <a:rPr b="1" lang="en" sz="1300">
                <a:solidFill>
                  <a:srgbClr val="02C39A"/>
                </a:solidFill>
                <a:latin typeface="Calibri"/>
                <a:ea typeface="Calibri"/>
                <a:cs typeface="Calibri"/>
                <a:sym typeface="Calibri"/>
              </a:rPr>
              <a:t>Why we keep the app simple…</a:t>
            </a:r>
            <a:endParaRPr sz="1300">
              <a:solidFill>
                <a:schemeClr val="dk1"/>
              </a:solidFill>
              <a:latin typeface="Calibri"/>
              <a:ea typeface="Calibri"/>
              <a:cs typeface="Calibri"/>
              <a:sym typeface="Calibri"/>
            </a:endParaRPr>
          </a:p>
        </p:txBody>
      </p:sp>
      <p:sp>
        <p:nvSpPr>
          <p:cNvPr id="249" name="Google Shape;249;p26"/>
          <p:cNvSpPr/>
          <p:nvPr/>
        </p:nvSpPr>
        <p:spPr>
          <a:xfrm>
            <a:off x="685800" y="2468880"/>
            <a:ext cx="3669030" cy="1714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E6F2F1"/>
              </a:buClr>
              <a:buSzPts val="1100"/>
              <a:buFont typeface="Calibri"/>
              <a:buNone/>
            </a:pPr>
            <a:r>
              <a:rPr lang="en" sz="1100">
                <a:solidFill>
                  <a:srgbClr val="E6F2F1"/>
                </a:solidFill>
                <a:latin typeface="Calibri"/>
                <a:ea typeface="Calibri"/>
                <a:cs typeface="Calibri"/>
                <a:sym typeface="Calibri"/>
              </a:rPr>
              <a:t>Every feature maps to a result we validated. We ship the two things that work — the PMR checker and the address search — and we refuse to ship US sidewalk prediction, because we tested that model and it has no signal. Fewer moving parts also means fewer failure points for the people who rely on the answer.</a:t>
            </a:r>
            <a:endParaRPr sz="1100">
              <a:solidFill>
                <a:schemeClr val="dk1"/>
              </a:solidFill>
              <a:latin typeface="Calibri"/>
              <a:ea typeface="Calibri"/>
              <a:cs typeface="Calibri"/>
              <a:sym typeface="Calibri"/>
            </a:endParaRPr>
          </a:p>
        </p:txBody>
      </p:sp>
      <p:sp>
        <p:nvSpPr>
          <p:cNvPr id="250" name="Google Shape;250;p26"/>
          <p:cNvSpPr/>
          <p:nvPr/>
        </p:nvSpPr>
        <p:spPr>
          <a:xfrm>
            <a:off x="4766310" y="1920240"/>
            <a:ext cx="4080510" cy="2400300"/>
          </a:xfrm>
          <a:prstGeom prst="roundRect">
            <a:avLst>
              <a:gd fmla="val 3429" name="adj"/>
            </a:avLst>
          </a:prstGeom>
          <a:solidFill>
            <a:srgbClr val="1248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1" name="Google Shape;251;p26"/>
          <p:cNvSpPr/>
          <p:nvPr/>
        </p:nvSpPr>
        <p:spPr>
          <a:xfrm>
            <a:off x="4972050" y="2057400"/>
            <a:ext cx="363474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300"/>
              <a:buFont typeface="Calibri"/>
              <a:buNone/>
            </a:pPr>
            <a:r>
              <a:rPr b="1" lang="en" sz="1300">
                <a:solidFill>
                  <a:srgbClr val="02C39A"/>
                </a:solidFill>
                <a:latin typeface="Calibri"/>
                <a:ea typeface="Calibri"/>
                <a:cs typeface="Calibri"/>
                <a:sym typeface="Calibri"/>
              </a:rPr>
              <a:t>How reliable is it…</a:t>
            </a:r>
            <a:endParaRPr sz="1300">
              <a:solidFill>
                <a:schemeClr val="dk1"/>
              </a:solidFill>
              <a:latin typeface="Calibri"/>
              <a:ea typeface="Calibri"/>
              <a:cs typeface="Calibri"/>
              <a:sym typeface="Calibri"/>
            </a:endParaRPr>
          </a:p>
        </p:txBody>
      </p:sp>
      <p:sp>
        <p:nvSpPr>
          <p:cNvPr id="252" name="Google Shape;252;p26"/>
          <p:cNvSpPr/>
          <p:nvPr/>
        </p:nvSpPr>
        <p:spPr>
          <a:xfrm>
            <a:off x="4972050" y="2468880"/>
            <a:ext cx="3669030" cy="1714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E6F2F1"/>
              </a:buClr>
              <a:buSzPts val="1100"/>
              <a:buFont typeface="Calibri"/>
              <a:buNone/>
            </a:pPr>
            <a:r>
              <a:rPr lang="en" sz="1100">
                <a:solidFill>
                  <a:srgbClr val="E6F2F1"/>
                </a:solidFill>
                <a:latin typeface="Calibri"/>
                <a:ea typeface="Calibri"/>
                <a:cs typeface="Calibri"/>
                <a:sym typeface="Calibri"/>
              </a:rPr>
              <a:t>Confidence now comes with an explanation: it’s the share of the forest’s trees voting for that label, shown with the factors that drove the call. Inputs are range-checked, missing curb heights use the same fill value as training, and every known limit is stated inside the app itself.</a:t>
            </a:r>
            <a:endParaRPr sz="11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7" name="Shape 257"/>
        <p:cNvGrpSpPr/>
        <p:nvPr/>
      </p:nvGrpSpPr>
      <p:grpSpPr>
        <a:xfrm>
          <a:off x="0" y="0"/>
          <a:ext cx="0" cy="0"/>
          <a:chOff x="0" y="0"/>
          <a:chExt cx="0" cy="0"/>
        </a:xfrm>
      </p:grpSpPr>
      <p:sp>
        <p:nvSpPr>
          <p:cNvPr id="258" name="Google Shape;258;p27"/>
          <p:cNvSpPr/>
          <p:nvPr/>
        </p:nvSpPr>
        <p:spPr>
          <a:xfrm>
            <a:off x="480060" y="342900"/>
            <a:ext cx="754380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3000"/>
              <a:buFont typeface="Cambria"/>
              <a:buNone/>
            </a:pPr>
            <a:r>
              <a:rPr b="1" lang="en" sz="3000">
                <a:solidFill>
                  <a:srgbClr val="1F2933"/>
                </a:solidFill>
                <a:latin typeface="Cambria"/>
                <a:ea typeface="Cambria"/>
                <a:cs typeface="Cambria"/>
                <a:sym typeface="Cambria"/>
              </a:rPr>
              <a:t>Impact — Both Sides</a:t>
            </a:r>
            <a:endParaRPr sz="3000">
              <a:solidFill>
                <a:schemeClr val="dk1"/>
              </a:solidFill>
              <a:latin typeface="Calibri"/>
              <a:ea typeface="Calibri"/>
              <a:cs typeface="Calibri"/>
              <a:sym typeface="Calibri"/>
            </a:endParaRPr>
          </a:p>
        </p:txBody>
      </p:sp>
      <p:sp>
        <p:nvSpPr>
          <p:cNvPr id="259" name="Google Shape;259;p27"/>
          <p:cNvSpPr/>
          <p:nvPr/>
        </p:nvSpPr>
        <p:spPr>
          <a:xfrm>
            <a:off x="480060" y="1165860"/>
            <a:ext cx="4080510" cy="3360420"/>
          </a:xfrm>
          <a:prstGeom prst="roundRect">
            <a:avLst>
              <a:gd fmla="val 2449" name="adj"/>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0" name="Google Shape;260;p27"/>
          <p:cNvSpPr/>
          <p:nvPr/>
        </p:nvSpPr>
        <p:spPr>
          <a:xfrm>
            <a:off x="685800" y="1371600"/>
            <a:ext cx="480060" cy="480060"/>
          </a:xfrm>
          <a:prstGeom prst="ellipse">
            <a:avLst/>
          </a:prstGeom>
          <a:solidFill>
            <a:srgbClr val="00A89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261" name="Google Shape;261;p27"/>
          <p:cNvPicPr preferRelativeResize="0"/>
          <p:nvPr/>
        </p:nvPicPr>
        <p:blipFill rotWithShape="1">
          <a:blip r:embed="rId4">
            <a:alphaModFix/>
          </a:blip>
          <a:srcRect b="0" l="0" r="0" t="0"/>
          <a:stretch/>
        </p:blipFill>
        <p:spPr>
          <a:xfrm>
            <a:off x="801014" y="1486814"/>
            <a:ext cx="249632" cy="249631"/>
          </a:xfrm>
          <a:prstGeom prst="rect">
            <a:avLst/>
          </a:prstGeom>
          <a:noFill/>
          <a:ln>
            <a:noFill/>
          </a:ln>
        </p:spPr>
      </p:pic>
      <p:sp>
        <p:nvSpPr>
          <p:cNvPr id="262" name="Google Shape;262;p27"/>
          <p:cNvSpPr/>
          <p:nvPr/>
        </p:nvSpPr>
        <p:spPr>
          <a:xfrm>
            <a:off x="1303020" y="1426464"/>
            <a:ext cx="2743200"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A896"/>
              </a:buClr>
              <a:buSzPts val="1500"/>
              <a:buFont typeface="Calibri"/>
              <a:buNone/>
            </a:pPr>
            <a:r>
              <a:rPr b="1" lang="en" sz="1500">
                <a:solidFill>
                  <a:srgbClr val="00A896"/>
                </a:solidFill>
                <a:latin typeface="Calibri"/>
                <a:ea typeface="Calibri"/>
                <a:cs typeface="Calibri"/>
                <a:sym typeface="Calibri"/>
              </a:rPr>
              <a:t>Positive</a:t>
            </a:r>
            <a:endParaRPr sz="1500">
              <a:solidFill>
                <a:schemeClr val="dk1"/>
              </a:solidFill>
              <a:latin typeface="Calibri"/>
              <a:ea typeface="Calibri"/>
              <a:cs typeface="Calibri"/>
              <a:sym typeface="Calibri"/>
            </a:endParaRPr>
          </a:p>
        </p:txBody>
      </p:sp>
      <p:sp>
        <p:nvSpPr>
          <p:cNvPr id="263" name="Google Shape;263;p27"/>
          <p:cNvSpPr/>
          <p:nvPr/>
        </p:nvSpPr>
        <p:spPr>
          <a:xfrm>
            <a:off x="685800" y="1954530"/>
            <a:ext cx="3669030" cy="2331720"/>
          </a:xfrm>
          <a:prstGeom prst="rect">
            <a:avLst/>
          </a:prstGeom>
          <a:noFill/>
          <a:ln>
            <a:noFill/>
          </a:ln>
        </p:spPr>
        <p:txBody>
          <a:bodyPr anchorCtr="0" anchor="ctr" bIns="34275" lIns="68575" spcFirstLastPara="1" rIns="68575" wrap="square" tIns="34275">
            <a:noAutofit/>
          </a:bodyPr>
          <a:lstStyle/>
          <a:p>
            <a:pPr indent="-260350" lvl="0" marL="254000" marR="0" rtl="0" algn="l">
              <a:spcBef>
                <a:spcPts val="0"/>
              </a:spcBef>
              <a:spcAft>
                <a:spcPts val="0"/>
              </a:spcAft>
              <a:buClr>
                <a:srgbClr val="1F2933"/>
              </a:buClr>
              <a:buSzPts val="1100"/>
              <a:buFont typeface="Calibri"/>
              <a:buChar char="•"/>
            </a:pPr>
            <a:r>
              <a:rPr lang="en" sz="1100">
                <a:solidFill>
                  <a:srgbClr val="1F2933"/>
                </a:solidFill>
                <a:latin typeface="Calibri"/>
                <a:ea typeface="Calibri"/>
                <a:cs typeface="Calibri"/>
                <a:sym typeface="Calibri"/>
              </a:rPr>
              <a:t>Wheelchair users and caregivers plan routes before leaving home</a:t>
            </a:r>
            <a:endParaRPr sz="1100">
              <a:solidFill>
                <a:schemeClr val="dk1"/>
              </a:solidFill>
              <a:latin typeface="Calibri"/>
              <a:ea typeface="Calibri"/>
              <a:cs typeface="Calibri"/>
              <a:sym typeface="Calibri"/>
            </a:endParaRPr>
          </a:p>
          <a:p>
            <a:pPr indent="-260350" lvl="0" marL="254000" marR="0" rtl="0" algn="l">
              <a:spcBef>
                <a:spcPts val="800"/>
              </a:spcBef>
              <a:spcAft>
                <a:spcPts val="0"/>
              </a:spcAft>
              <a:buClr>
                <a:srgbClr val="1F2933"/>
              </a:buClr>
              <a:buSzPts val="1100"/>
              <a:buFont typeface="Calibri"/>
              <a:buChar char="•"/>
            </a:pPr>
            <a:r>
              <a:rPr lang="en" sz="1100">
                <a:solidFill>
                  <a:srgbClr val="1F2933"/>
                </a:solidFill>
                <a:latin typeface="Calibri"/>
                <a:ea typeface="Calibri"/>
                <a:cs typeface="Calibri"/>
                <a:sym typeface="Calibri"/>
              </a:rPr>
              <a:t>Cities can find clusters of bad segments and prioritize repairs</a:t>
            </a:r>
            <a:endParaRPr sz="1100">
              <a:solidFill>
                <a:schemeClr val="dk1"/>
              </a:solidFill>
              <a:latin typeface="Calibri"/>
              <a:ea typeface="Calibri"/>
              <a:cs typeface="Calibri"/>
              <a:sym typeface="Calibri"/>
            </a:endParaRPr>
          </a:p>
          <a:p>
            <a:pPr indent="-260350" lvl="0" marL="254000" marR="0" rtl="0" algn="l">
              <a:spcBef>
                <a:spcPts val="800"/>
              </a:spcBef>
              <a:spcAft>
                <a:spcPts val="0"/>
              </a:spcAft>
              <a:buClr>
                <a:srgbClr val="1F2933"/>
              </a:buClr>
              <a:buSzPts val="1100"/>
              <a:buFont typeface="Calibri"/>
              <a:buChar char="•"/>
            </a:pPr>
            <a:r>
              <a:rPr lang="en" sz="1100">
                <a:solidFill>
                  <a:srgbClr val="1F2933"/>
                </a:solidFill>
                <a:latin typeface="Calibri"/>
                <a:ea typeface="Calibri"/>
                <a:cs typeface="Calibri"/>
                <a:sym typeface="Calibri"/>
              </a:rPr>
              <a:t>Accessibility becomes a data layer any routing app can adopt</a:t>
            </a:r>
            <a:endParaRPr sz="1100">
              <a:solidFill>
                <a:schemeClr val="dk1"/>
              </a:solidFill>
              <a:latin typeface="Calibri"/>
              <a:ea typeface="Calibri"/>
              <a:cs typeface="Calibri"/>
              <a:sym typeface="Calibri"/>
            </a:endParaRPr>
          </a:p>
        </p:txBody>
      </p:sp>
      <p:sp>
        <p:nvSpPr>
          <p:cNvPr id="264" name="Google Shape;264;p27"/>
          <p:cNvSpPr/>
          <p:nvPr/>
        </p:nvSpPr>
        <p:spPr>
          <a:xfrm>
            <a:off x="4766310" y="1165860"/>
            <a:ext cx="4080510" cy="3360420"/>
          </a:xfrm>
          <a:prstGeom prst="roundRect">
            <a:avLst>
              <a:gd fmla="val 2449" name="adj"/>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5" name="Google Shape;265;p27"/>
          <p:cNvSpPr/>
          <p:nvPr/>
        </p:nvSpPr>
        <p:spPr>
          <a:xfrm>
            <a:off x="4972050" y="1371600"/>
            <a:ext cx="480060" cy="480060"/>
          </a:xfrm>
          <a:prstGeom prst="ellipse">
            <a:avLst/>
          </a:prstGeom>
          <a:solidFill>
            <a:srgbClr val="C0392B"/>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266" name="Google Shape;266;p27"/>
          <p:cNvPicPr preferRelativeResize="0"/>
          <p:nvPr/>
        </p:nvPicPr>
        <p:blipFill rotWithShape="1">
          <a:blip r:embed="rId5">
            <a:alphaModFix/>
          </a:blip>
          <a:srcRect b="0" l="0" r="0" t="0"/>
          <a:stretch/>
        </p:blipFill>
        <p:spPr>
          <a:xfrm>
            <a:off x="5087264" y="1486814"/>
            <a:ext cx="249632" cy="249631"/>
          </a:xfrm>
          <a:prstGeom prst="rect">
            <a:avLst/>
          </a:prstGeom>
          <a:noFill/>
          <a:ln>
            <a:noFill/>
          </a:ln>
        </p:spPr>
      </p:pic>
      <p:sp>
        <p:nvSpPr>
          <p:cNvPr id="267" name="Google Shape;267;p27"/>
          <p:cNvSpPr/>
          <p:nvPr/>
        </p:nvSpPr>
        <p:spPr>
          <a:xfrm>
            <a:off x="5589270" y="1426464"/>
            <a:ext cx="2743200"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0392B"/>
              </a:buClr>
              <a:buSzPts val="1500"/>
              <a:buFont typeface="Calibri"/>
              <a:buNone/>
            </a:pPr>
            <a:r>
              <a:rPr b="1" lang="en" sz="1500">
                <a:solidFill>
                  <a:srgbClr val="C0392B"/>
                </a:solidFill>
                <a:latin typeface="Calibri"/>
                <a:ea typeface="Calibri"/>
                <a:cs typeface="Calibri"/>
                <a:sym typeface="Calibri"/>
              </a:rPr>
              <a:t>Negative / risks</a:t>
            </a:r>
            <a:endParaRPr sz="1500">
              <a:solidFill>
                <a:schemeClr val="dk1"/>
              </a:solidFill>
              <a:latin typeface="Calibri"/>
              <a:ea typeface="Calibri"/>
              <a:cs typeface="Calibri"/>
              <a:sym typeface="Calibri"/>
            </a:endParaRPr>
          </a:p>
        </p:txBody>
      </p:sp>
      <p:sp>
        <p:nvSpPr>
          <p:cNvPr id="268" name="Google Shape;268;p27"/>
          <p:cNvSpPr/>
          <p:nvPr/>
        </p:nvSpPr>
        <p:spPr>
          <a:xfrm>
            <a:off x="4972050" y="1954530"/>
            <a:ext cx="3669030" cy="2400300"/>
          </a:xfrm>
          <a:prstGeom prst="rect">
            <a:avLst/>
          </a:prstGeom>
          <a:noFill/>
          <a:ln>
            <a:noFill/>
          </a:ln>
        </p:spPr>
        <p:txBody>
          <a:bodyPr anchorCtr="0" anchor="ctr" bIns="34275" lIns="68575" spcFirstLastPara="1" rIns="68575" wrap="square" tIns="34275">
            <a:noAutofit/>
          </a:bodyPr>
          <a:lstStyle/>
          <a:p>
            <a:pPr indent="-260350" lvl="0" marL="254000" marR="0" rtl="0" algn="l">
              <a:spcBef>
                <a:spcPts val="0"/>
              </a:spcBef>
              <a:spcAft>
                <a:spcPts val="0"/>
              </a:spcAft>
              <a:buClr>
                <a:srgbClr val="1F2933"/>
              </a:buClr>
              <a:buSzPts val="1100"/>
              <a:buFont typeface="Calibri"/>
              <a:buChar char="•"/>
            </a:pPr>
            <a:r>
              <a:rPr lang="en" sz="1100">
                <a:solidFill>
                  <a:srgbClr val="1F2933"/>
                </a:solidFill>
                <a:latin typeface="Calibri"/>
                <a:ea typeface="Calibri"/>
                <a:cs typeface="Calibri"/>
                <a:sym typeface="Calibri"/>
              </a:rPr>
              <a:t>A biased model could systematically mislabel whole regions — exactly what our Housing model did before the fix</a:t>
            </a:r>
            <a:endParaRPr sz="1100">
              <a:solidFill>
                <a:schemeClr val="dk1"/>
              </a:solidFill>
              <a:latin typeface="Calibri"/>
              <a:ea typeface="Calibri"/>
              <a:cs typeface="Calibri"/>
              <a:sym typeface="Calibri"/>
            </a:endParaRPr>
          </a:p>
          <a:p>
            <a:pPr indent="-260350" lvl="0" marL="254000" marR="0" rtl="0" algn="l">
              <a:spcBef>
                <a:spcPts val="800"/>
              </a:spcBef>
              <a:spcAft>
                <a:spcPts val="0"/>
              </a:spcAft>
              <a:buClr>
                <a:srgbClr val="1F2933"/>
              </a:buClr>
              <a:buSzPts val="1100"/>
              <a:buFont typeface="Calibri"/>
              <a:buChar char="•"/>
            </a:pPr>
            <a:r>
              <a:rPr lang="en" sz="1100">
                <a:solidFill>
                  <a:srgbClr val="1F2933"/>
                </a:solidFill>
                <a:latin typeface="Calibri"/>
                <a:ea typeface="Calibri"/>
                <a:cs typeface="Calibri"/>
                <a:sym typeface="Calibri"/>
              </a:rPr>
              <a:t>False “accessible” labels are worse than no label: someone plans a trip they can't finish</a:t>
            </a:r>
            <a:endParaRPr sz="1100">
              <a:solidFill>
                <a:schemeClr val="dk1"/>
              </a:solidFill>
              <a:latin typeface="Calibri"/>
              <a:ea typeface="Calibri"/>
              <a:cs typeface="Calibri"/>
              <a:sym typeface="Calibri"/>
            </a:endParaRPr>
          </a:p>
          <a:p>
            <a:pPr indent="-260350" lvl="0" marL="254000" marR="0" rtl="0" algn="l">
              <a:spcBef>
                <a:spcPts val="800"/>
              </a:spcBef>
              <a:spcAft>
                <a:spcPts val="0"/>
              </a:spcAft>
              <a:buClr>
                <a:srgbClr val="1F2933"/>
              </a:buClr>
              <a:buSzPts val="1100"/>
              <a:buFont typeface="Calibri"/>
              <a:buChar char="•"/>
            </a:pPr>
            <a:r>
              <a:rPr lang="en" sz="1100">
                <a:solidFill>
                  <a:srgbClr val="1F2933"/>
                </a:solidFill>
                <a:latin typeface="Calibri"/>
                <a:ea typeface="Calibri"/>
                <a:cs typeface="Calibri"/>
                <a:sym typeface="Calibri"/>
              </a:rPr>
              <a:t>Rule-based labels (ours) can encode wrong assumptions if never validated against real users</a:t>
            </a:r>
            <a:endParaRPr sz="11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3A42"/>
        </a:solidFill>
      </p:bgPr>
    </p:bg>
    <p:spTree>
      <p:nvGrpSpPr>
        <p:cNvPr id="273" name="Shape 273"/>
        <p:cNvGrpSpPr/>
        <p:nvPr/>
      </p:nvGrpSpPr>
      <p:grpSpPr>
        <a:xfrm>
          <a:off x="0" y="0"/>
          <a:ext cx="0" cy="0"/>
          <a:chOff x="0" y="0"/>
          <a:chExt cx="0" cy="0"/>
        </a:xfrm>
      </p:grpSpPr>
      <p:sp>
        <p:nvSpPr>
          <p:cNvPr id="274" name="Google Shape;274;p28"/>
          <p:cNvSpPr/>
          <p:nvPr/>
        </p:nvSpPr>
        <p:spPr>
          <a:xfrm>
            <a:off x="480060" y="377190"/>
            <a:ext cx="754380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700"/>
              <a:buFont typeface="Calibri"/>
              <a:buNone/>
            </a:pPr>
            <a:r>
              <a:rPr b="1" lang="en" sz="1700">
                <a:solidFill>
                  <a:srgbClr val="02C39A"/>
                </a:solidFill>
                <a:latin typeface="Calibri"/>
                <a:ea typeface="Calibri"/>
                <a:cs typeface="Calibri"/>
                <a:sym typeface="Calibri"/>
              </a:rPr>
              <a:t>Essential Question</a:t>
            </a:r>
            <a:endParaRPr sz="1700">
              <a:solidFill>
                <a:schemeClr val="dk1"/>
              </a:solidFill>
              <a:latin typeface="Calibri"/>
              <a:ea typeface="Calibri"/>
              <a:cs typeface="Calibri"/>
              <a:sym typeface="Calibri"/>
            </a:endParaRPr>
          </a:p>
        </p:txBody>
      </p:sp>
      <p:sp>
        <p:nvSpPr>
          <p:cNvPr id="275" name="Google Shape;275;p28"/>
          <p:cNvSpPr/>
          <p:nvPr/>
        </p:nvSpPr>
        <p:spPr>
          <a:xfrm>
            <a:off x="480060" y="822960"/>
            <a:ext cx="8161020" cy="8915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100"/>
              <a:buFont typeface="Cambria"/>
              <a:buNone/>
            </a:pPr>
            <a:r>
              <a:rPr b="1" lang="en" sz="2100">
                <a:solidFill>
                  <a:srgbClr val="FFFFFF"/>
                </a:solidFill>
                <a:latin typeface="Cambria"/>
                <a:ea typeface="Cambria"/>
                <a:cs typeface="Cambria"/>
                <a:sym typeface="Cambria"/>
              </a:rPr>
              <a:t>How can the process of creating AI/ML solutions amplify or mitigate bias in our case?</a:t>
            </a:r>
            <a:endParaRPr sz="2100">
              <a:solidFill>
                <a:schemeClr val="dk1"/>
              </a:solidFill>
              <a:latin typeface="Calibri"/>
              <a:ea typeface="Calibri"/>
              <a:cs typeface="Calibri"/>
              <a:sym typeface="Calibri"/>
            </a:endParaRPr>
          </a:p>
        </p:txBody>
      </p:sp>
      <p:sp>
        <p:nvSpPr>
          <p:cNvPr id="276" name="Google Shape;276;p28"/>
          <p:cNvSpPr/>
          <p:nvPr/>
        </p:nvSpPr>
        <p:spPr>
          <a:xfrm>
            <a:off x="480060" y="1920240"/>
            <a:ext cx="4080510" cy="2400300"/>
          </a:xfrm>
          <a:prstGeom prst="roundRect">
            <a:avLst>
              <a:gd fmla="val 3429" name="adj"/>
            </a:avLst>
          </a:prstGeom>
          <a:solidFill>
            <a:srgbClr val="1248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7" name="Google Shape;277;p28"/>
          <p:cNvSpPr/>
          <p:nvPr/>
        </p:nvSpPr>
        <p:spPr>
          <a:xfrm>
            <a:off x="685800" y="2057400"/>
            <a:ext cx="363474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B4A8"/>
              </a:buClr>
              <a:buSzPts val="1300"/>
              <a:buFont typeface="Calibri"/>
              <a:buNone/>
            </a:pPr>
            <a:r>
              <a:rPr b="1" lang="en" sz="1300">
                <a:solidFill>
                  <a:srgbClr val="FFB4A8"/>
                </a:solidFill>
                <a:latin typeface="Calibri"/>
                <a:ea typeface="Calibri"/>
                <a:cs typeface="Calibri"/>
                <a:sym typeface="Calibri"/>
              </a:rPr>
              <a:t>It amplified bias when…</a:t>
            </a:r>
            <a:endParaRPr sz="1300">
              <a:solidFill>
                <a:schemeClr val="dk1"/>
              </a:solidFill>
              <a:latin typeface="Calibri"/>
              <a:ea typeface="Calibri"/>
              <a:cs typeface="Calibri"/>
              <a:sym typeface="Calibri"/>
            </a:endParaRPr>
          </a:p>
        </p:txBody>
      </p:sp>
      <p:sp>
        <p:nvSpPr>
          <p:cNvPr id="278" name="Google Shape;278;p28"/>
          <p:cNvSpPr/>
          <p:nvPr/>
        </p:nvSpPr>
        <p:spPr>
          <a:xfrm>
            <a:off x="685800" y="2468880"/>
            <a:ext cx="3669030" cy="17145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6F2F1"/>
              </a:buClr>
              <a:buSzPts val="1100"/>
              <a:buFont typeface="Calibri"/>
              <a:buNone/>
            </a:pPr>
            <a:r>
              <a:rPr lang="en" sz="1100">
                <a:solidFill>
                  <a:srgbClr val="E6F2F1"/>
                </a:solidFill>
                <a:latin typeface="Calibri"/>
                <a:ea typeface="Calibri"/>
                <a:cs typeface="Calibri"/>
                <a:sym typeface="Calibri"/>
              </a:rPr>
              <a:t>we let a geographic proxy (state) dominate training. The model looked like it was scoring house condition; it was really scoring ZIP codes. High feature importance made an unfair shortcut look like intelligence.</a:t>
            </a:r>
            <a:endParaRPr sz="1100">
              <a:solidFill>
                <a:schemeClr val="dk1"/>
              </a:solidFill>
              <a:latin typeface="Calibri"/>
              <a:ea typeface="Calibri"/>
              <a:cs typeface="Calibri"/>
              <a:sym typeface="Calibri"/>
            </a:endParaRPr>
          </a:p>
        </p:txBody>
      </p:sp>
      <p:sp>
        <p:nvSpPr>
          <p:cNvPr id="279" name="Google Shape;279;p28"/>
          <p:cNvSpPr/>
          <p:nvPr/>
        </p:nvSpPr>
        <p:spPr>
          <a:xfrm>
            <a:off x="4766310" y="1920240"/>
            <a:ext cx="4080510" cy="2400300"/>
          </a:xfrm>
          <a:prstGeom prst="roundRect">
            <a:avLst>
              <a:gd fmla="val 3429" name="adj"/>
            </a:avLst>
          </a:prstGeom>
          <a:solidFill>
            <a:srgbClr val="1248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0" name="Google Shape;280;p28"/>
          <p:cNvSpPr/>
          <p:nvPr/>
        </p:nvSpPr>
        <p:spPr>
          <a:xfrm>
            <a:off x="4972050" y="2057400"/>
            <a:ext cx="363474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300"/>
              <a:buFont typeface="Calibri"/>
              <a:buNone/>
            </a:pPr>
            <a:r>
              <a:rPr b="1" lang="en" sz="1300">
                <a:solidFill>
                  <a:srgbClr val="02C39A"/>
                </a:solidFill>
                <a:latin typeface="Calibri"/>
                <a:ea typeface="Calibri"/>
                <a:cs typeface="Calibri"/>
                <a:sym typeface="Calibri"/>
              </a:rPr>
              <a:t>It mitigated bias when…</a:t>
            </a:r>
            <a:endParaRPr sz="1300">
              <a:solidFill>
                <a:schemeClr val="dk1"/>
              </a:solidFill>
              <a:latin typeface="Calibri"/>
              <a:ea typeface="Calibri"/>
              <a:cs typeface="Calibri"/>
              <a:sym typeface="Calibri"/>
            </a:endParaRPr>
          </a:p>
        </p:txBody>
      </p:sp>
      <p:sp>
        <p:nvSpPr>
          <p:cNvPr id="281" name="Google Shape;281;p28"/>
          <p:cNvSpPr/>
          <p:nvPr/>
        </p:nvSpPr>
        <p:spPr>
          <a:xfrm>
            <a:off x="4972050" y="2468880"/>
            <a:ext cx="3669030" cy="17145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6F2F1"/>
              </a:buClr>
              <a:buSzPts val="1100"/>
              <a:buFont typeface="Calibri"/>
              <a:buNone/>
            </a:pPr>
            <a:r>
              <a:rPr lang="en" sz="1100">
                <a:solidFill>
                  <a:srgbClr val="E6F2F1"/>
                </a:solidFill>
                <a:latin typeface="Calibri"/>
                <a:ea typeface="Calibri"/>
                <a:cs typeface="Calibri"/>
                <a:sym typeface="Calibri"/>
              </a:rPr>
              <a:t>we audited feature importance, removed the proxy, retested, and reported the honest null result instead of a prettier number. The same ML process that created the bias also gave us the tools to catch it — if we chose to look.</a:t>
            </a:r>
            <a:endParaRPr sz="11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6" name="Shape 286"/>
        <p:cNvGrpSpPr/>
        <p:nvPr/>
      </p:nvGrpSpPr>
      <p:grpSpPr>
        <a:xfrm>
          <a:off x="0" y="0"/>
          <a:ext cx="0" cy="0"/>
          <a:chOff x="0" y="0"/>
          <a:chExt cx="0" cy="0"/>
        </a:xfrm>
      </p:grpSpPr>
      <p:sp>
        <p:nvSpPr>
          <p:cNvPr id="287" name="Google Shape;287;p29"/>
          <p:cNvSpPr/>
          <p:nvPr/>
        </p:nvSpPr>
        <p:spPr>
          <a:xfrm>
            <a:off x="480060" y="342900"/>
            <a:ext cx="7543800" cy="54864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3000"/>
              <a:buFont typeface="Cambria"/>
              <a:buNone/>
            </a:pPr>
            <a:r>
              <a:rPr b="1" lang="en" sz="3000">
                <a:solidFill>
                  <a:srgbClr val="1F2933"/>
                </a:solidFill>
                <a:latin typeface="Cambria"/>
                <a:ea typeface="Cambria"/>
                <a:cs typeface="Cambria"/>
                <a:sym typeface="Cambria"/>
              </a:rPr>
              <a:t>Next Steps</a:t>
            </a:r>
            <a:endParaRPr sz="3000">
              <a:solidFill>
                <a:schemeClr val="dk1"/>
              </a:solidFill>
              <a:latin typeface="Calibri"/>
              <a:ea typeface="Calibri"/>
              <a:cs typeface="Calibri"/>
              <a:sym typeface="Calibri"/>
            </a:endParaRPr>
          </a:p>
        </p:txBody>
      </p:sp>
      <p:sp>
        <p:nvSpPr>
          <p:cNvPr id="288" name="Google Shape;288;p29"/>
          <p:cNvSpPr/>
          <p:nvPr/>
        </p:nvSpPr>
        <p:spPr>
          <a:xfrm>
            <a:off x="480060" y="1165860"/>
            <a:ext cx="493776" cy="493776"/>
          </a:xfrm>
          <a:prstGeom prst="ellipse">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289" name="Google Shape;289;p29"/>
          <p:cNvPicPr preferRelativeResize="0"/>
          <p:nvPr/>
        </p:nvPicPr>
        <p:blipFill rotWithShape="1">
          <a:blip r:embed="rId4">
            <a:alphaModFix/>
          </a:blip>
          <a:srcRect b="0" l="0" r="0" t="0"/>
          <a:stretch/>
        </p:blipFill>
        <p:spPr>
          <a:xfrm>
            <a:off x="598566" y="1284366"/>
            <a:ext cx="256763" cy="256763"/>
          </a:xfrm>
          <a:prstGeom prst="rect">
            <a:avLst/>
          </a:prstGeom>
          <a:noFill/>
          <a:ln>
            <a:noFill/>
          </a:ln>
        </p:spPr>
      </p:pic>
      <p:sp>
        <p:nvSpPr>
          <p:cNvPr id="290" name="Google Shape;290;p29"/>
          <p:cNvSpPr/>
          <p:nvPr/>
        </p:nvSpPr>
        <p:spPr>
          <a:xfrm>
            <a:off x="1165860" y="1131570"/>
            <a:ext cx="4389120" cy="30861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1200"/>
              <a:buFont typeface="Calibri"/>
              <a:buNone/>
            </a:pPr>
            <a:r>
              <a:rPr b="1" lang="en" sz="1200">
                <a:solidFill>
                  <a:srgbClr val="1F2933"/>
                </a:solidFill>
                <a:latin typeface="Calibri"/>
                <a:ea typeface="Calibri"/>
                <a:cs typeface="Calibri"/>
                <a:sym typeface="Calibri"/>
              </a:rPr>
              <a:t>Rule-free PMR experiment</a:t>
            </a:r>
            <a:endParaRPr sz="1200">
              <a:solidFill>
                <a:schemeClr val="dk1"/>
              </a:solidFill>
              <a:latin typeface="Calibri"/>
              <a:ea typeface="Calibri"/>
              <a:cs typeface="Calibri"/>
              <a:sym typeface="Calibri"/>
            </a:endParaRPr>
          </a:p>
        </p:txBody>
      </p:sp>
      <p:sp>
        <p:nvSpPr>
          <p:cNvPr id="291" name="Google Shape;291;p29"/>
          <p:cNvSpPr/>
          <p:nvPr/>
        </p:nvSpPr>
        <p:spPr>
          <a:xfrm>
            <a:off x="1165860" y="1426464"/>
            <a:ext cx="6446520"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6770"/>
              </a:buClr>
              <a:buSzPts val="900"/>
              <a:buFont typeface="Calibri"/>
              <a:buNone/>
            </a:pPr>
            <a:r>
              <a:rPr b="1" lang="en" sz="900">
                <a:solidFill>
                  <a:schemeClr val="dk2"/>
                </a:solidFill>
                <a:latin typeface="Calibri"/>
                <a:ea typeface="Calibri"/>
                <a:cs typeface="Calibri"/>
                <a:sym typeface="Calibri"/>
              </a:rPr>
              <a:t>Retrain on only features outside the label rule (crossing, length, width_fill): can accessibility be guessed without measuring? The one test where the model can show real skill.</a:t>
            </a:r>
            <a:endParaRPr b="1" sz="900">
              <a:solidFill>
                <a:schemeClr val="dk2"/>
              </a:solidFill>
              <a:latin typeface="Calibri"/>
              <a:ea typeface="Calibri"/>
              <a:cs typeface="Calibri"/>
              <a:sym typeface="Calibri"/>
            </a:endParaRPr>
          </a:p>
        </p:txBody>
      </p:sp>
      <p:sp>
        <p:nvSpPr>
          <p:cNvPr id="292" name="Google Shape;292;p29"/>
          <p:cNvSpPr/>
          <p:nvPr/>
        </p:nvSpPr>
        <p:spPr>
          <a:xfrm>
            <a:off x="7783830" y="1179576"/>
            <a:ext cx="925830" cy="342900"/>
          </a:xfrm>
          <a:prstGeom prst="roundRect">
            <a:avLst>
              <a:gd fmla="val 20000" name="adj"/>
            </a:avLst>
          </a:prstGeom>
          <a:solidFill>
            <a:srgbClr val="02809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3" name="Google Shape;293;p29"/>
          <p:cNvSpPr/>
          <p:nvPr/>
        </p:nvSpPr>
        <p:spPr>
          <a:xfrm>
            <a:off x="7783830" y="1179576"/>
            <a:ext cx="92583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Week 13</a:t>
            </a:r>
            <a:endParaRPr sz="900">
              <a:solidFill>
                <a:schemeClr val="dk1"/>
              </a:solidFill>
              <a:latin typeface="Calibri"/>
              <a:ea typeface="Calibri"/>
              <a:cs typeface="Calibri"/>
              <a:sym typeface="Calibri"/>
            </a:endParaRPr>
          </a:p>
        </p:txBody>
      </p:sp>
      <p:sp>
        <p:nvSpPr>
          <p:cNvPr id="294" name="Google Shape;294;p29"/>
          <p:cNvSpPr/>
          <p:nvPr/>
        </p:nvSpPr>
        <p:spPr>
          <a:xfrm>
            <a:off x="480060" y="2071116"/>
            <a:ext cx="493776" cy="493776"/>
          </a:xfrm>
          <a:prstGeom prst="ellipse">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295" name="Google Shape;295;p29"/>
          <p:cNvPicPr preferRelativeResize="0"/>
          <p:nvPr/>
        </p:nvPicPr>
        <p:blipFill rotWithShape="1">
          <a:blip r:embed="rId5">
            <a:alphaModFix/>
          </a:blip>
          <a:srcRect b="0" l="0" r="0" t="0"/>
          <a:stretch/>
        </p:blipFill>
        <p:spPr>
          <a:xfrm>
            <a:off x="598566" y="2189622"/>
            <a:ext cx="256763" cy="256763"/>
          </a:xfrm>
          <a:prstGeom prst="rect">
            <a:avLst/>
          </a:prstGeom>
          <a:noFill/>
          <a:ln>
            <a:noFill/>
          </a:ln>
        </p:spPr>
      </p:pic>
      <p:sp>
        <p:nvSpPr>
          <p:cNvPr id="296" name="Google Shape;296;p29"/>
          <p:cNvSpPr/>
          <p:nvPr/>
        </p:nvSpPr>
        <p:spPr>
          <a:xfrm>
            <a:off x="1165860" y="2036826"/>
            <a:ext cx="4389120" cy="30861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1200"/>
              <a:buFont typeface="Calibri"/>
              <a:buNone/>
            </a:pPr>
            <a:r>
              <a:rPr b="1" lang="en" sz="1200">
                <a:solidFill>
                  <a:srgbClr val="1F2933"/>
                </a:solidFill>
                <a:latin typeface="Calibri"/>
                <a:ea typeface="Calibri"/>
                <a:cs typeface="Calibri"/>
                <a:sym typeface="Calibri"/>
              </a:rPr>
              <a:t>Validate the label</a:t>
            </a:r>
            <a:endParaRPr sz="1200">
              <a:solidFill>
                <a:schemeClr val="dk1"/>
              </a:solidFill>
              <a:latin typeface="Calibri"/>
              <a:ea typeface="Calibri"/>
              <a:cs typeface="Calibri"/>
              <a:sym typeface="Calibri"/>
            </a:endParaRPr>
          </a:p>
        </p:txBody>
      </p:sp>
      <p:sp>
        <p:nvSpPr>
          <p:cNvPr id="297" name="Google Shape;297;p29"/>
          <p:cNvSpPr/>
          <p:nvPr/>
        </p:nvSpPr>
        <p:spPr>
          <a:xfrm>
            <a:off x="1165860" y="2331720"/>
            <a:ext cx="6446520"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6770"/>
              </a:buClr>
              <a:buSzPts val="900"/>
              <a:buFont typeface="Calibri"/>
              <a:buNone/>
            </a:pPr>
            <a:r>
              <a:rPr b="1" lang="en" sz="900">
                <a:solidFill>
                  <a:schemeClr val="dk2"/>
                </a:solidFill>
                <a:latin typeface="Calibri"/>
                <a:ea typeface="Calibri"/>
                <a:cs typeface="Calibri"/>
                <a:sym typeface="Calibri"/>
              </a:rPr>
              <a:t>Compare our width/curb rule against the 50 verified accessibility labels; report agreement.</a:t>
            </a:r>
            <a:endParaRPr b="1" sz="900">
              <a:solidFill>
                <a:schemeClr val="dk2"/>
              </a:solidFill>
              <a:latin typeface="Calibri"/>
              <a:ea typeface="Calibri"/>
              <a:cs typeface="Calibri"/>
              <a:sym typeface="Calibri"/>
            </a:endParaRPr>
          </a:p>
        </p:txBody>
      </p:sp>
      <p:sp>
        <p:nvSpPr>
          <p:cNvPr id="298" name="Google Shape;298;p29"/>
          <p:cNvSpPr/>
          <p:nvPr/>
        </p:nvSpPr>
        <p:spPr>
          <a:xfrm>
            <a:off x="7783830" y="2084832"/>
            <a:ext cx="925830" cy="342900"/>
          </a:xfrm>
          <a:prstGeom prst="roundRect">
            <a:avLst>
              <a:gd fmla="val 20000" name="adj"/>
            </a:avLst>
          </a:prstGeom>
          <a:solidFill>
            <a:srgbClr val="02809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9" name="Google Shape;299;p29"/>
          <p:cNvSpPr/>
          <p:nvPr/>
        </p:nvSpPr>
        <p:spPr>
          <a:xfrm>
            <a:off x="7783830" y="2084832"/>
            <a:ext cx="92583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Week 13</a:t>
            </a:r>
            <a:endParaRPr sz="900">
              <a:solidFill>
                <a:schemeClr val="dk1"/>
              </a:solidFill>
              <a:latin typeface="Calibri"/>
              <a:ea typeface="Calibri"/>
              <a:cs typeface="Calibri"/>
              <a:sym typeface="Calibri"/>
            </a:endParaRPr>
          </a:p>
        </p:txBody>
      </p:sp>
      <p:sp>
        <p:nvSpPr>
          <p:cNvPr id="300" name="Google Shape;300;p29"/>
          <p:cNvSpPr/>
          <p:nvPr/>
        </p:nvSpPr>
        <p:spPr>
          <a:xfrm>
            <a:off x="480060" y="2976372"/>
            <a:ext cx="493776" cy="493776"/>
          </a:xfrm>
          <a:prstGeom prst="ellipse">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301" name="Google Shape;301;p29"/>
          <p:cNvPicPr preferRelativeResize="0"/>
          <p:nvPr/>
        </p:nvPicPr>
        <p:blipFill rotWithShape="1">
          <a:blip r:embed="rId6">
            <a:alphaModFix/>
          </a:blip>
          <a:srcRect b="0" l="0" r="0" t="0"/>
          <a:stretch/>
        </p:blipFill>
        <p:spPr>
          <a:xfrm>
            <a:off x="598566" y="3094878"/>
            <a:ext cx="256763" cy="256763"/>
          </a:xfrm>
          <a:prstGeom prst="rect">
            <a:avLst/>
          </a:prstGeom>
          <a:noFill/>
          <a:ln>
            <a:noFill/>
          </a:ln>
        </p:spPr>
      </p:pic>
      <p:sp>
        <p:nvSpPr>
          <p:cNvPr id="302" name="Google Shape;302;p29"/>
          <p:cNvSpPr/>
          <p:nvPr/>
        </p:nvSpPr>
        <p:spPr>
          <a:xfrm>
            <a:off x="1165860" y="2942082"/>
            <a:ext cx="4389120" cy="30861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1200"/>
              <a:buFont typeface="Calibri"/>
              <a:buNone/>
            </a:pPr>
            <a:r>
              <a:rPr b="1" lang="en" sz="1200">
                <a:solidFill>
                  <a:srgbClr val="1F2933"/>
                </a:solidFill>
                <a:latin typeface="Calibri"/>
                <a:ea typeface="Calibri"/>
                <a:cs typeface="Calibri"/>
                <a:sym typeface="Calibri"/>
              </a:rPr>
              <a:t>Location-aware retrieval</a:t>
            </a:r>
            <a:endParaRPr sz="1200">
              <a:solidFill>
                <a:schemeClr val="dk1"/>
              </a:solidFill>
              <a:latin typeface="Calibri"/>
              <a:ea typeface="Calibri"/>
              <a:cs typeface="Calibri"/>
              <a:sym typeface="Calibri"/>
            </a:endParaRPr>
          </a:p>
        </p:txBody>
      </p:sp>
      <p:sp>
        <p:nvSpPr>
          <p:cNvPr id="303" name="Google Shape;303;p29"/>
          <p:cNvSpPr/>
          <p:nvPr/>
        </p:nvSpPr>
        <p:spPr>
          <a:xfrm>
            <a:off x="1165860" y="3236976"/>
            <a:ext cx="6446520"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6770"/>
              </a:buClr>
              <a:buSzPts val="900"/>
              <a:buFont typeface="Calibri"/>
              <a:buNone/>
            </a:pPr>
            <a:r>
              <a:rPr b="1" lang="en" sz="900">
                <a:solidFill>
                  <a:schemeClr val="dk2"/>
                </a:solidFill>
                <a:latin typeface="Calibri"/>
                <a:ea typeface="Calibri"/>
                <a:cs typeface="Calibri"/>
                <a:sym typeface="Calibri"/>
              </a:rPr>
              <a:t>Add coordinates to the PMR index so retrieval ranks within tied groups instead of returning exact ties.</a:t>
            </a:r>
            <a:endParaRPr b="1" sz="900">
              <a:solidFill>
                <a:schemeClr val="dk2"/>
              </a:solidFill>
              <a:latin typeface="Calibri"/>
              <a:ea typeface="Calibri"/>
              <a:cs typeface="Calibri"/>
              <a:sym typeface="Calibri"/>
            </a:endParaRPr>
          </a:p>
        </p:txBody>
      </p:sp>
      <p:sp>
        <p:nvSpPr>
          <p:cNvPr id="304" name="Google Shape;304;p29"/>
          <p:cNvSpPr/>
          <p:nvPr/>
        </p:nvSpPr>
        <p:spPr>
          <a:xfrm>
            <a:off x="7783830" y="2990088"/>
            <a:ext cx="925830" cy="342900"/>
          </a:xfrm>
          <a:prstGeom prst="roundRect">
            <a:avLst>
              <a:gd fmla="val 20000" name="adj"/>
            </a:avLst>
          </a:prstGeom>
          <a:solidFill>
            <a:srgbClr val="02809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5" name="Google Shape;305;p29"/>
          <p:cNvSpPr/>
          <p:nvPr/>
        </p:nvSpPr>
        <p:spPr>
          <a:xfrm>
            <a:off x="7783830" y="2990088"/>
            <a:ext cx="92583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Week 14</a:t>
            </a:r>
            <a:endParaRPr sz="900">
              <a:solidFill>
                <a:schemeClr val="dk1"/>
              </a:solidFill>
              <a:latin typeface="Calibri"/>
              <a:ea typeface="Calibri"/>
              <a:cs typeface="Calibri"/>
              <a:sym typeface="Calibri"/>
            </a:endParaRPr>
          </a:p>
        </p:txBody>
      </p:sp>
      <p:sp>
        <p:nvSpPr>
          <p:cNvPr id="306" name="Google Shape;306;p29"/>
          <p:cNvSpPr/>
          <p:nvPr/>
        </p:nvSpPr>
        <p:spPr>
          <a:xfrm>
            <a:off x="480060" y="3881628"/>
            <a:ext cx="493776" cy="493776"/>
          </a:xfrm>
          <a:prstGeom prst="ellipse">
            <a:avLst/>
          </a:prstGeom>
          <a:solidFill>
            <a:srgbClr val="F4FAF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307" name="Google Shape;307;p29"/>
          <p:cNvPicPr preferRelativeResize="0"/>
          <p:nvPr/>
        </p:nvPicPr>
        <p:blipFill rotWithShape="1">
          <a:blip r:embed="rId7">
            <a:alphaModFix/>
          </a:blip>
          <a:srcRect b="0" l="0" r="0" t="0"/>
          <a:stretch/>
        </p:blipFill>
        <p:spPr>
          <a:xfrm>
            <a:off x="598566" y="4000134"/>
            <a:ext cx="256763" cy="256763"/>
          </a:xfrm>
          <a:prstGeom prst="rect">
            <a:avLst/>
          </a:prstGeom>
          <a:noFill/>
          <a:ln>
            <a:noFill/>
          </a:ln>
        </p:spPr>
      </p:pic>
      <p:sp>
        <p:nvSpPr>
          <p:cNvPr id="308" name="Google Shape;308;p29"/>
          <p:cNvSpPr/>
          <p:nvPr/>
        </p:nvSpPr>
        <p:spPr>
          <a:xfrm>
            <a:off x="1165860" y="3847338"/>
            <a:ext cx="4389120" cy="30861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F2933"/>
              </a:buClr>
              <a:buSzPts val="1200"/>
              <a:buFont typeface="Calibri"/>
              <a:buNone/>
            </a:pPr>
            <a:r>
              <a:rPr b="1" lang="en" sz="1200">
                <a:solidFill>
                  <a:srgbClr val="1F2933"/>
                </a:solidFill>
                <a:latin typeface="Calibri"/>
                <a:ea typeface="Calibri"/>
                <a:cs typeface="Calibri"/>
                <a:sym typeface="Calibri"/>
              </a:rPr>
              <a:t>Individual roadmaps</a:t>
            </a:r>
            <a:endParaRPr sz="1200">
              <a:solidFill>
                <a:schemeClr val="dk1"/>
              </a:solidFill>
              <a:latin typeface="Calibri"/>
              <a:ea typeface="Calibri"/>
              <a:cs typeface="Calibri"/>
              <a:sym typeface="Calibri"/>
            </a:endParaRPr>
          </a:p>
        </p:txBody>
      </p:sp>
      <p:sp>
        <p:nvSpPr>
          <p:cNvPr id="309" name="Google Shape;309;p29"/>
          <p:cNvSpPr/>
          <p:nvPr/>
        </p:nvSpPr>
        <p:spPr>
          <a:xfrm>
            <a:off x="1165860" y="4142232"/>
            <a:ext cx="6446520"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B6770"/>
              </a:buClr>
              <a:buSzPts val="900"/>
              <a:buFont typeface="Calibri"/>
              <a:buNone/>
            </a:pPr>
            <a:r>
              <a:rPr b="1" lang="en" sz="900">
                <a:solidFill>
                  <a:schemeClr val="dk2"/>
                </a:solidFill>
                <a:latin typeface="Calibri"/>
                <a:ea typeface="Calibri"/>
                <a:cs typeface="Calibri"/>
                <a:sym typeface="Calibri"/>
              </a:rPr>
              <a:t>Each member continues per their My AI Roadmap; repo stays public as a portfolio piece.</a:t>
            </a:r>
            <a:endParaRPr b="1" sz="900">
              <a:solidFill>
                <a:schemeClr val="dk2"/>
              </a:solidFill>
              <a:latin typeface="Calibri"/>
              <a:ea typeface="Calibri"/>
              <a:cs typeface="Calibri"/>
              <a:sym typeface="Calibri"/>
            </a:endParaRPr>
          </a:p>
        </p:txBody>
      </p:sp>
      <p:sp>
        <p:nvSpPr>
          <p:cNvPr id="310" name="Google Shape;310;p29"/>
          <p:cNvSpPr/>
          <p:nvPr/>
        </p:nvSpPr>
        <p:spPr>
          <a:xfrm>
            <a:off x="7783830" y="3895344"/>
            <a:ext cx="925830" cy="342900"/>
          </a:xfrm>
          <a:prstGeom prst="roundRect">
            <a:avLst>
              <a:gd fmla="val 20000" name="adj"/>
            </a:avLst>
          </a:prstGeom>
          <a:solidFill>
            <a:srgbClr val="02809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1" name="Google Shape;311;p29"/>
          <p:cNvSpPr/>
          <p:nvPr/>
        </p:nvSpPr>
        <p:spPr>
          <a:xfrm>
            <a:off x="7783830" y="3895344"/>
            <a:ext cx="92583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Ongoing</a:t>
            </a:r>
            <a:endParaRPr sz="9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3A42"/>
        </a:solidFill>
      </p:bgPr>
    </p:bg>
    <p:spTree>
      <p:nvGrpSpPr>
        <p:cNvPr id="316" name="Shape 316"/>
        <p:cNvGrpSpPr/>
        <p:nvPr/>
      </p:nvGrpSpPr>
      <p:grpSpPr>
        <a:xfrm>
          <a:off x="0" y="0"/>
          <a:ext cx="0" cy="0"/>
          <a:chOff x="0" y="0"/>
          <a:chExt cx="0" cy="0"/>
        </a:xfrm>
      </p:grpSpPr>
      <p:sp>
        <p:nvSpPr>
          <p:cNvPr id="317" name="Google Shape;317;p30"/>
          <p:cNvSpPr/>
          <p:nvPr/>
        </p:nvSpPr>
        <p:spPr>
          <a:xfrm>
            <a:off x="480060" y="342900"/>
            <a:ext cx="754380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700"/>
              <a:buFont typeface="Cambria"/>
              <a:buNone/>
            </a:pPr>
            <a:r>
              <a:rPr b="1" lang="en" sz="2700">
                <a:solidFill>
                  <a:srgbClr val="FFFFFF"/>
                </a:solidFill>
                <a:latin typeface="Cambria"/>
                <a:ea typeface="Cambria"/>
                <a:cs typeface="Cambria"/>
                <a:sym typeface="Cambria"/>
              </a:rPr>
              <a:t>Citations &amp; Sources</a:t>
            </a:r>
            <a:endParaRPr sz="2700">
              <a:solidFill>
                <a:schemeClr val="dk1"/>
              </a:solidFill>
              <a:latin typeface="Calibri"/>
              <a:ea typeface="Calibri"/>
              <a:cs typeface="Calibri"/>
              <a:sym typeface="Calibri"/>
            </a:endParaRPr>
          </a:p>
        </p:txBody>
      </p:sp>
      <p:sp>
        <p:nvSpPr>
          <p:cNvPr id="318" name="Google Shape;318;p30"/>
          <p:cNvSpPr/>
          <p:nvPr/>
        </p:nvSpPr>
        <p:spPr>
          <a:xfrm>
            <a:off x="480060" y="1028700"/>
            <a:ext cx="34290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200"/>
              <a:buFont typeface="Calibri"/>
              <a:buNone/>
            </a:pPr>
            <a:r>
              <a:rPr b="1" lang="en" sz="1200">
                <a:solidFill>
                  <a:srgbClr val="02C39A"/>
                </a:solidFill>
                <a:latin typeface="Calibri"/>
                <a:ea typeface="Calibri"/>
                <a:cs typeface="Calibri"/>
                <a:sym typeface="Calibri"/>
              </a:rPr>
              <a:t>Data sources</a:t>
            </a:r>
            <a:endParaRPr sz="1200">
              <a:solidFill>
                <a:schemeClr val="dk1"/>
              </a:solidFill>
              <a:latin typeface="Calibri"/>
              <a:ea typeface="Calibri"/>
              <a:cs typeface="Calibri"/>
              <a:sym typeface="Calibri"/>
            </a:endParaRPr>
          </a:p>
        </p:txBody>
      </p:sp>
      <p:sp>
        <p:nvSpPr>
          <p:cNvPr id="319" name="Google Shape;319;p30"/>
          <p:cNvSpPr/>
          <p:nvPr/>
        </p:nvSpPr>
        <p:spPr>
          <a:xfrm>
            <a:off x="480060" y="1371600"/>
            <a:ext cx="8229600" cy="822960"/>
          </a:xfrm>
          <a:prstGeom prst="rect">
            <a:avLst/>
          </a:prstGeom>
          <a:noFill/>
          <a:ln>
            <a:noFill/>
          </a:ln>
        </p:spPr>
        <p:txBody>
          <a:bodyPr anchorCtr="0" anchor="ctr" bIns="34275" lIns="68575" spcFirstLastPara="1" rIns="68575" wrap="square" tIns="34275">
            <a:noAutofit/>
          </a:bodyPr>
          <a:lstStyle/>
          <a:p>
            <a:pPr indent="-254000" lvl="0" marL="254000" marR="0" rtl="0" algn="l">
              <a:spcBef>
                <a:spcPts val="0"/>
              </a:spcBef>
              <a:spcAft>
                <a:spcPts val="0"/>
              </a:spcAft>
              <a:buClr>
                <a:srgbClr val="E6F2F1"/>
              </a:buClr>
              <a:buSzPts val="1000"/>
              <a:buFont typeface="Calibri"/>
              <a:buChar char="•"/>
            </a:pPr>
            <a:r>
              <a:rPr lang="en" sz="1000">
                <a:solidFill>
                  <a:srgbClr val="E6F2F1"/>
                </a:solidFill>
                <a:latin typeface="Calibri"/>
                <a:ea typeface="Calibri"/>
                <a:cs typeface="Calibri"/>
                <a:sym typeface="Calibri"/>
              </a:rPr>
              <a:t>City of Amsterdam Open Data — PMR sidewalk accessibility dataset (72,274 segments)</a:t>
            </a:r>
            <a:endParaRPr sz="1000">
              <a:solidFill>
                <a:schemeClr val="dk1"/>
              </a:solidFill>
              <a:latin typeface="Calibri"/>
              <a:ea typeface="Calibri"/>
              <a:cs typeface="Calibri"/>
              <a:sym typeface="Calibri"/>
            </a:endParaRPr>
          </a:p>
          <a:p>
            <a:pPr indent="-254000" lvl="0" marL="254000" marR="0" rtl="0" algn="l">
              <a:spcBef>
                <a:spcPts val="500"/>
              </a:spcBef>
              <a:spcAft>
                <a:spcPts val="0"/>
              </a:spcAft>
              <a:buClr>
                <a:srgbClr val="E6F2F1"/>
              </a:buClr>
              <a:buSzPts val="1000"/>
              <a:buFont typeface="Calibri"/>
              <a:buChar char="•"/>
            </a:pPr>
            <a:r>
              <a:rPr lang="en" sz="1000">
                <a:solidFill>
                  <a:srgbClr val="E6F2F1"/>
                </a:solidFill>
                <a:latin typeface="Calibri"/>
                <a:ea typeface="Calibri"/>
                <a:cs typeface="Calibri"/>
                <a:sym typeface="Calibri"/>
              </a:rPr>
              <a:t>CrowdFlower / Figure Eight “Data for Everyone” — Housing: Wheelchairs dataset (10,104 crowd-labeled US addresses)</a:t>
            </a:r>
            <a:endParaRPr sz="1000">
              <a:solidFill>
                <a:schemeClr val="dk1"/>
              </a:solidFill>
              <a:latin typeface="Calibri"/>
              <a:ea typeface="Calibri"/>
              <a:cs typeface="Calibri"/>
              <a:sym typeface="Calibri"/>
            </a:endParaRPr>
          </a:p>
        </p:txBody>
      </p:sp>
      <p:sp>
        <p:nvSpPr>
          <p:cNvPr id="320" name="Google Shape;320;p30"/>
          <p:cNvSpPr/>
          <p:nvPr/>
        </p:nvSpPr>
        <p:spPr>
          <a:xfrm>
            <a:off x="480060" y="2228850"/>
            <a:ext cx="41148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200"/>
              <a:buFont typeface="Calibri"/>
              <a:buNone/>
            </a:pPr>
            <a:r>
              <a:rPr b="1" lang="en" sz="1200">
                <a:solidFill>
                  <a:srgbClr val="02C39A"/>
                </a:solidFill>
                <a:latin typeface="Calibri"/>
                <a:ea typeface="Calibri"/>
                <a:cs typeface="Calibri"/>
                <a:sym typeface="Calibri"/>
              </a:rPr>
              <a:t>Related work &amp; methods</a:t>
            </a:r>
            <a:endParaRPr sz="1200">
              <a:solidFill>
                <a:schemeClr val="dk1"/>
              </a:solidFill>
              <a:latin typeface="Calibri"/>
              <a:ea typeface="Calibri"/>
              <a:cs typeface="Calibri"/>
              <a:sym typeface="Calibri"/>
            </a:endParaRPr>
          </a:p>
        </p:txBody>
      </p:sp>
      <p:sp>
        <p:nvSpPr>
          <p:cNvPr id="321" name="Google Shape;321;p30"/>
          <p:cNvSpPr/>
          <p:nvPr/>
        </p:nvSpPr>
        <p:spPr>
          <a:xfrm>
            <a:off x="480060" y="2571750"/>
            <a:ext cx="8229600" cy="1577340"/>
          </a:xfrm>
          <a:prstGeom prst="rect">
            <a:avLst/>
          </a:prstGeom>
          <a:noFill/>
          <a:ln>
            <a:noFill/>
          </a:ln>
        </p:spPr>
        <p:txBody>
          <a:bodyPr anchorCtr="0" anchor="ctr" bIns="34275" lIns="68575" spcFirstLastPara="1" rIns="68575" wrap="square" tIns="34275">
            <a:noAutofit/>
          </a:bodyPr>
          <a:lstStyle/>
          <a:p>
            <a:pPr indent="-254000" lvl="0" marL="254000" marR="0" rtl="0" algn="l">
              <a:spcBef>
                <a:spcPts val="0"/>
              </a:spcBef>
              <a:spcAft>
                <a:spcPts val="0"/>
              </a:spcAft>
              <a:buClr>
                <a:srgbClr val="E6F2F1"/>
              </a:buClr>
              <a:buSzPts val="1000"/>
              <a:buFont typeface="Calibri"/>
              <a:buChar char="•"/>
            </a:pPr>
            <a:r>
              <a:rPr lang="en" sz="1000">
                <a:solidFill>
                  <a:srgbClr val="E6F2F1"/>
                </a:solidFill>
                <a:latin typeface="Calibri"/>
                <a:ea typeface="Calibri"/>
                <a:cs typeface="Calibri"/>
                <a:sym typeface="Calibri"/>
              </a:rPr>
              <a:t>Breiman, L. (2001). Random Forests. Machine Learning, 45(1).</a:t>
            </a:r>
            <a:endParaRPr sz="1000">
              <a:solidFill>
                <a:schemeClr val="dk1"/>
              </a:solidFill>
              <a:latin typeface="Calibri"/>
              <a:ea typeface="Calibri"/>
              <a:cs typeface="Calibri"/>
              <a:sym typeface="Calibri"/>
            </a:endParaRPr>
          </a:p>
          <a:p>
            <a:pPr indent="-254000" lvl="0" marL="254000" marR="0" rtl="0" algn="l">
              <a:spcBef>
                <a:spcPts val="500"/>
              </a:spcBef>
              <a:spcAft>
                <a:spcPts val="0"/>
              </a:spcAft>
              <a:buClr>
                <a:srgbClr val="E6F2F1"/>
              </a:buClr>
              <a:buSzPts val="1000"/>
              <a:buFont typeface="Calibri"/>
              <a:buChar char="•"/>
            </a:pPr>
            <a:r>
              <a:rPr lang="en" sz="1000">
                <a:solidFill>
                  <a:srgbClr val="E6F2F1"/>
                </a:solidFill>
                <a:latin typeface="Calibri"/>
                <a:ea typeface="Calibri"/>
                <a:cs typeface="Calibri"/>
                <a:sym typeface="Calibri"/>
              </a:rPr>
              <a:t>Johnson, J., Douze, M., &amp; Jégou, H. (2019). Billion-scale similarity search with GPUs. IEEE Transactions on Big Data. (FAISS)</a:t>
            </a:r>
            <a:endParaRPr sz="1000">
              <a:solidFill>
                <a:schemeClr val="dk1"/>
              </a:solidFill>
              <a:latin typeface="Calibri"/>
              <a:ea typeface="Calibri"/>
              <a:cs typeface="Calibri"/>
              <a:sym typeface="Calibri"/>
            </a:endParaRPr>
          </a:p>
          <a:p>
            <a:pPr indent="-254000" lvl="0" marL="254000" marR="0" rtl="0" algn="l">
              <a:spcBef>
                <a:spcPts val="500"/>
              </a:spcBef>
              <a:spcAft>
                <a:spcPts val="0"/>
              </a:spcAft>
              <a:buClr>
                <a:srgbClr val="E6F2F1"/>
              </a:buClr>
              <a:buSzPts val="1000"/>
              <a:buFont typeface="Calibri"/>
              <a:buChar char="•"/>
            </a:pPr>
            <a:r>
              <a:rPr lang="en" sz="1000">
                <a:solidFill>
                  <a:srgbClr val="E6F2F1"/>
                </a:solidFill>
                <a:latin typeface="Calibri"/>
                <a:ea typeface="Calibri"/>
                <a:cs typeface="Calibri"/>
                <a:sym typeface="Calibri"/>
              </a:rPr>
              <a:t>Warner, B., et al. (2024). Smarter, Better, Faster, Longer: A Modern Bidirectional Encoder. (ModernBERT)</a:t>
            </a:r>
            <a:endParaRPr sz="1000">
              <a:solidFill>
                <a:schemeClr val="dk1"/>
              </a:solidFill>
              <a:latin typeface="Calibri"/>
              <a:ea typeface="Calibri"/>
              <a:cs typeface="Calibri"/>
              <a:sym typeface="Calibri"/>
            </a:endParaRPr>
          </a:p>
          <a:p>
            <a:pPr indent="-254000" lvl="0" marL="254000" marR="0" rtl="0" algn="l">
              <a:spcBef>
                <a:spcPts val="500"/>
              </a:spcBef>
              <a:spcAft>
                <a:spcPts val="0"/>
              </a:spcAft>
              <a:buClr>
                <a:srgbClr val="E6F2F1"/>
              </a:buClr>
              <a:buSzPts val="1000"/>
              <a:buFont typeface="Calibri"/>
              <a:buChar char="•"/>
            </a:pPr>
            <a:r>
              <a:rPr lang="en" sz="1000">
                <a:solidFill>
                  <a:srgbClr val="E6F2F1"/>
                </a:solidFill>
                <a:latin typeface="Calibri"/>
                <a:ea typeface="Calibri"/>
                <a:cs typeface="Calibri"/>
                <a:sym typeface="Calibri"/>
              </a:rPr>
              <a:t>Mehrabi, N., et al. (2021). A Survey on Bias and Fairness in Machine Learning. ACM Computing Surveys.</a:t>
            </a:r>
            <a:endParaRPr sz="1000">
              <a:solidFill>
                <a:schemeClr val="dk1"/>
              </a:solidFill>
              <a:latin typeface="Calibri"/>
              <a:ea typeface="Calibri"/>
              <a:cs typeface="Calibri"/>
              <a:sym typeface="Calibri"/>
            </a:endParaRPr>
          </a:p>
          <a:p>
            <a:pPr indent="-254000" lvl="0" marL="254000" marR="0" rtl="0" algn="l">
              <a:spcBef>
                <a:spcPts val="500"/>
              </a:spcBef>
              <a:spcAft>
                <a:spcPts val="0"/>
              </a:spcAft>
              <a:buClr>
                <a:srgbClr val="E6F2F1"/>
              </a:buClr>
              <a:buSzPts val="1000"/>
              <a:buFont typeface="Calibri"/>
              <a:buChar char="•"/>
            </a:pPr>
            <a:r>
              <a:rPr lang="en" sz="1000">
                <a:solidFill>
                  <a:srgbClr val="E6F2F1"/>
                </a:solidFill>
                <a:latin typeface="Calibri"/>
                <a:ea typeface="Calibri"/>
                <a:cs typeface="Calibri"/>
                <a:sym typeface="Calibri"/>
              </a:rPr>
              <a:t>Saha, M., et al. (2019). Project Sidewalk: A Web-based Crowdsourcing Tool for Collecting Sidewalk Accessibility Data at Scale. ACM CHI.</a:t>
            </a:r>
            <a:endParaRPr sz="1000">
              <a:solidFill>
                <a:schemeClr val="dk1"/>
              </a:solidFill>
              <a:latin typeface="Calibri"/>
              <a:ea typeface="Calibri"/>
              <a:cs typeface="Calibri"/>
              <a:sym typeface="Calibri"/>
            </a:endParaRPr>
          </a:p>
        </p:txBody>
      </p:sp>
      <p:sp>
        <p:nvSpPr>
          <p:cNvPr id="322" name="Google Shape;322;p30"/>
          <p:cNvSpPr/>
          <p:nvPr/>
        </p:nvSpPr>
        <p:spPr>
          <a:xfrm>
            <a:off x="480060" y="4423410"/>
            <a:ext cx="829818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FB8B6"/>
              </a:buClr>
              <a:buSzPts val="1200"/>
              <a:buFont typeface="Calibri"/>
              <a:buNone/>
            </a:pPr>
            <a:r>
              <a:rPr lang="en" sz="1200">
                <a:solidFill>
                  <a:srgbClr val="9FB8B6"/>
                </a:solidFill>
                <a:latin typeface="Calibri"/>
                <a:ea typeface="Calibri"/>
                <a:cs typeface="Calibri"/>
                <a:sym typeface="Calibri"/>
              </a:rPr>
              <a:t>Live app:  </a:t>
            </a:r>
            <a:r>
              <a:rPr b="1" lang="en" sz="1200">
                <a:solidFill>
                  <a:srgbClr val="02C39A"/>
                </a:solidFill>
                <a:latin typeface="Calibri"/>
                <a:ea typeface="Calibri"/>
                <a:cs typeface="Calibri"/>
                <a:sym typeface="Calibri"/>
              </a:rPr>
              <a:t>accessmap-13a.streamlit.app</a:t>
            </a:r>
            <a:r>
              <a:rPr lang="en" sz="1200">
                <a:solidFill>
                  <a:srgbClr val="9FB8B6"/>
                </a:solidFill>
                <a:latin typeface="Calibri"/>
                <a:ea typeface="Calibri"/>
                <a:cs typeface="Calibri"/>
                <a:sym typeface="Calibri"/>
              </a:rPr>
              <a:t>       Code + docs:  </a:t>
            </a:r>
            <a:r>
              <a:rPr b="1" lang="en" sz="1200">
                <a:solidFill>
                  <a:srgbClr val="02C39A"/>
                </a:solidFill>
                <a:latin typeface="Calibri"/>
                <a:ea typeface="Calibri"/>
                <a:cs typeface="Calibri"/>
                <a:sym typeface="Calibri"/>
              </a:rPr>
              <a:t>github.com/zhang-systems/ai4all-accessmap</a:t>
            </a:r>
            <a:endParaRPr sz="1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3A42"/>
        </a:solidFill>
      </p:bgPr>
    </p:bg>
    <p:spTree>
      <p:nvGrpSpPr>
        <p:cNvPr id="327" name="Shape 327"/>
        <p:cNvGrpSpPr/>
        <p:nvPr/>
      </p:nvGrpSpPr>
      <p:grpSpPr>
        <a:xfrm>
          <a:off x="0" y="0"/>
          <a:ext cx="0" cy="0"/>
          <a:chOff x="0" y="0"/>
          <a:chExt cx="0" cy="0"/>
        </a:xfrm>
      </p:grpSpPr>
      <p:sp>
        <p:nvSpPr>
          <p:cNvPr id="328" name="Google Shape;328;p31"/>
          <p:cNvSpPr/>
          <p:nvPr/>
        </p:nvSpPr>
        <p:spPr>
          <a:xfrm>
            <a:off x="4046220" y="1028700"/>
            <a:ext cx="1028700" cy="1028700"/>
          </a:xfrm>
          <a:prstGeom prst="ellipse">
            <a:avLst/>
          </a:prstGeom>
          <a:solidFill>
            <a:srgbClr val="02809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preencoded.png" id="329" name="Google Shape;329;p31"/>
          <p:cNvPicPr preferRelativeResize="0"/>
          <p:nvPr/>
        </p:nvPicPr>
        <p:blipFill rotWithShape="1">
          <a:blip r:embed="rId3">
            <a:alphaModFix/>
          </a:blip>
          <a:srcRect b="0" l="0" r="0" t="0"/>
          <a:stretch/>
        </p:blipFill>
        <p:spPr>
          <a:xfrm>
            <a:off x="4293108" y="1275588"/>
            <a:ext cx="534924" cy="534924"/>
          </a:xfrm>
          <a:prstGeom prst="rect">
            <a:avLst/>
          </a:prstGeom>
          <a:noFill/>
          <a:ln>
            <a:noFill/>
          </a:ln>
        </p:spPr>
      </p:pic>
      <p:sp>
        <p:nvSpPr>
          <p:cNvPr id="330" name="Google Shape;330;p31"/>
          <p:cNvSpPr/>
          <p:nvPr/>
        </p:nvSpPr>
        <p:spPr>
          <a:xfrm>
            <a:off x="480060" y="2263140"/>
            <a:ext cx="8161020" cy="7543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4100"/>
              <a:buFont typeface="Cambria"/>
              <a:buNone/>
            </a:pPr>
            <a:r>
              <a:rPr b="1" lang="en" sz="4100">
                <a:solidFill>
                  <a:srgbClr val="FFFFFF"/>
                </a:solidFill>
                <a:latin typeface="Cambria"/>
                <a:ea typeface="Cambria"/>
                <a:cs typeface="Cambria"/>
                <a:sym typeface="Cambria"/>
              </a:rPr>
              <a:t>Thank You!</a:t>
            </a:r>
            <a:endParaRPr sz="4100">
              <a:solidFill>
                <a:schemeClr val="dk1"/>
              </a:solidFill>
              <a:latin typeface="Calibri"/>
              <a:ea typeface="Calibri"/>
              <a:cs typeface="Calibri"/>
              <a:sym typeface="Calibri"/>
            </a:endParaRPr>
          </a:p>
        </p:txBody>
      </p:sp>
      <p:sp>
        <p:nvSpPr>
          <p:cNvPr id="331" name="Google Shape;331;p31"/>
          <p:cNvSpPr/>
          <p:nvPr/>
        </p:nvSpPr>
        <p:spPr>
          <a:xfrm>
            <a:off x="480060" y="3086100"/>
            <a:ext cx="8161020" cy="4114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2C39A"/>
              </a:buClr>
              <a:buSzPts val="1500"/>
              <a:buFont typeface="Calibri"/>
              <a:buNone/>
            </a:pPr>
            <a:r>
              <a:rPr i="1" lang="en" sz="1500">
                <a:solidFill>
                  <a:srgbClr val="02C39A"/>
                </a:solidFill>
                <a:latin typeface="Calibri"/>
                <a:ea typeface="Calibri"/>
                <a:cs typeface="Calibri"/>
                <a:sym typeface="Calibri"/>
              </a:rPr>
              <a:t>Questions? Try the app yourself while we talk.</a:t>
            </a:r>
            <a:endParaRPr sz="1500">
              <a:solidFill>
                <a:schemeClr val="dk1"/>
              </a:solidFill>
              <a:latin typeface="Calibri"/>
              <a:ea typeface="Calibri"/>
              <a:cs typeface="Calibri"/>
              <a:sym typeface="Calibri"/>
            </a:endParaRPr>
          </a:p>
        </p:txBody>
      </p:sp>
      <p:sp>
        <p:nvSpPr>
          <p:cNvPr id="332" name="Google Shape;332;p31"/>
          <p:cNvSpPr/>
          <p:nvPr/>
        </p:nvSpPr>
        <p:spPr>
          <a:xfrm>
            <a:off x="480060" y="3771900"/>
            <a:ext cx="816102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2C39A"/>
              </a:buClr>
              <a:buSzPts val="1200"/>
              <a:buFont typeface="Calibri"/>
              <a:buNone/>
            </a:pPr>
            <a:r>
              <a:rPr b="1" lang="en" sz="1200">
                <a:solidFill>
                  <a:srgbClr val="02C39A"/>
                </a:solidFill>
                <a:latin typeface="Calibri"/>
                <a:ea typeface="Calibri"/>
                <a:cs typeface="Calibri"/>
                <a:sym typeface="Calibri"/>
              </a:rPr>
              <a:t>accessmap-13a.streamlit.app</a:t>
            </a:r>
            <a:r>
              <a:rPr lang="en" sz="1200">
                <a:solidFill>
                  <a:srgbClr val="9FB8B6"/>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333" name="Google Shape;333;p31"/>
          <p:cNvSpPr/>
          <p:nvPr/>
        </p:nvSpPr>
        <p:spPr>
          <a:xfrm>
            <a:off x="480060" y="4217670"/>
            <a:ext cx="8161020" cy="2743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9FB8B6"/>
              </a:buClr>
              <a:buSzPts val="1000"/>
              <a:buFont typeface="Calibri"/>
              <a:buNone/>
            </a:pPr>
            <a:r>
              <a:rPr lang="en" sz="1000">
                <a:solidFill>
                  <a:srgbClr val="9FB8B6"/>
                </a:solidFill>
                <a:latin typeface="Calibri"/>
                <a:ea typeface="Calibri"/>
                <a:cs typeface="Calibri"/>
                <a:sym typeface="Calibri"/>
              </a:rPr>
              <a:t>Group 13A — AI4ALL Ignite Summer 2026</a:t>
            </a:r>
            <a:endParaRPr sz="1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